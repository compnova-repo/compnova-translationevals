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mCoxlIlN4b/EJ3w2nfUimnO1g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f49cf63cc2_0_28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f49cf63cc2_0_28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g3f49cf63cc2_0_28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3f49cf63cc2_0_3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g3f49cf63cc2_0_31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 name="Google Shape;36;g3f49cf63cc2_0_31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4a47ca9f1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g3f4a47ca9f1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g3f4a47ca9f1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4a122c435_0_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g3f4a122c435_0_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g3f4a122c435_0_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49cf63cc2_0_39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f49cf63cc2_0_39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g3f49cf63cc2_0_39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49cf63cc2_0_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f49cf63cc2_0_7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3f49cf63cc2_0_7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4a47ca9f1_1_1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f4a47ca9f1_1_1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Change colors to be the same</a:t>
            </a:r>
            <a:endParaRPr/>
          </a:p>
        </p:txBody>
      </p:sp>
      <p:sp>
        <p:nvSpPr>
          <p:cNvPr id="173" name="Google Shape;173;g3f4a47ca9f1_1_1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4a47ca9f1_1_2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f4a47ca9f1_1_21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f4a47ca9f1_1_21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4a47ca9f1_1_2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f4a47ca9f1_1_24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f4a47ca9f1_1_24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4a47ca9f1_1_2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f4a47ca9f1_1_26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f4a47ca9f1_1_26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4a47ca9f1_1_29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3f4a47ca9f1_1_29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Add “Good”, “Bad” on the right blank</a:t>
            </a:r>
            <a:endParaRPr/>
          </a:p>
        </p:txBody>
      </p:sp>
      <p:sp>
        <p:nvSpPr>
          <p:cNvPr id="281" name="Google Shape;281;g3f4a47ca9f1_1_29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f4a47ca9f1_1_3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f4a47ca9f1_1_32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Make it consistent, add sentiment to top etc.</a:t>
            </a:r>
            <a:endParaRPr/>
          </a:p>
        </p:txBody>
      </p:sp>
      <p:sp>
        <p:nvSpPr>
          <p:cNvPr id="313" name="Google Shape;313;g3f4a47ca9f1_1_32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f4a47ca9f1_1_3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f4a47ca9f1_1_34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f4a47ca9f1_1_34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4a47ca9f1_1_3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f4a47ca9f1_1_36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Add to the bottom left and right portions that these are the potential features we can add after discussion</a:t>
            </a:r>
            <a:endParaRPr/>
          </a:p>
        </p:txBody>
      </p:sp>
      <p:sp>
        <p:nvSpPr>
          <p:cNvPr id="350" name="Google Shape;350;g3f4a47ca9f1_1_36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f4a47ca9f1_1_4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3f4a47ca9f1_1_42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g3f4a47ca9f1_1_42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4a47ca9f1_1_4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f4a47ca9f1_1_45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g3f4a47ca9f1_1_45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f4a47ca9f1_1_48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g3f4a47ca9f1_1_48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Say we don’t look at content we are forking. Mention past elements, (these are features in this etc.). </a:t>
            </a:r>
            <a:endParaRPr/>
          </a:p>
        </p:txBody>
      </p:sp>
      <p:sp>
        <p:nvSpPr>
          <p:cNvPr id="461" name="Google Shape;461;g3f4a47ca9f1_1_48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f4a47ca9f1_1_49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3f4a47ca9f1_1_49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How do we deploy solutions</a:t>
            </a:r>
            <a:endParaRPr/>
          </a:p>
        </p:txBody>
      </p:sp>
      <p:sp>
        <p:nvSpPr>
          <p:cNvPr id="476" name="Google Shape;476;g3f4a47ca9f1_1_49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f4a47ca9f1_1_5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g3f4a47ca9f1_1_5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g3f4a47ca9f1_1_5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f4a47ca9f1_1_5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g3f4a47ca9f1_1_53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a quick list and </a:t>
            </a:r>
            <a:r>
              <a:rPr lang="en-IN"/>
              <a:t>brief</a:t>
            </a:r>
            <a:r>
              <a:rPr lang="en-IN"/>
              <a:t> </a:t>
            </a:r>
            <a:r>
              <a:rPr lang="en-IN"/>
              <a:t>description</a:t>
            </a:r>
            <a:r>
              <a:rPr lang="en-IN"/>
              <a:t> of some papers referenced, not extensive and a lot more sources on </a:t>
            </a:r>
            <a:r>
              <a:rPr lang="en-IN"/>
              <a:t>brainstorming</a:t>
            </a:r>
            <a:r>
              <a:rPr lang="en-IN"/>
              <a:t> doc</a:t>
            </a:r>
            <a:endParaRPr/>
          </a:p>
        </p:txBody>
      </p:sp>
      <p:sp>
        <p:nvSpPr>
          <p:cNvPr id="514" name="Google Shape;514;g3f4a47ca9f1_1_53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fab3e3dc8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fab3e3dc8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g3fab3e3dc8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hyperlink" Target="http://drive.google.com/file/d/1BHLznEidRT9QLPaljUmGHcQK_SWBHUG0/view" TargetMode="External"/><Relationship Id="rId6" Type="http://schemas.openxmlformats.org/officeDocument/2006/relationships/image" Target="../media/image1.png"/><Relationship Id="rId7" Type="http://schemas.openxmlformats.org/officeDocument/2006/relationships/hyperlink" Target="http://drive.google.com/file/d/1eiHUA7K4QVVkuLimeB3ZSl1f8wAIYtu1/view"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4.png"/><Relationship Id="rId10" Type="http://schemas.openxmlformats.org/officeDocument/2006/relationships/image" Target="../media/image30.png"/><Relationship Id="rId9"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32.png"/><Relationship Id="rId7" Type="http://schemas.openxmlformats.org/officeDocument/2006/relationships/image" Target="../media/image28.png"/><Relationship Id="rId8"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29.png"/><Relationship Id="rId5"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hyperlink" Target="https://direct.mit.edu/coli/article/44/3/393/1598/A-Structured-Review-of-the-Validity-of-BLEU" TargetMode="External"/><Relationship Id="rId11" Type="http://schemas.openxmlformats.org/officeDocument/2006/relationships/hyperlink" Target="https://www.cs.utep.edu/topi/" TargetMode="External"/><Relationship Id="rId10" Type="http://schemas.openxmlformats.org/officeDocument/2006/relationships/hyperlink" Target="https://dl.acm.org/doi/10.1145/3709026.3709092" TargetMode="External"/><Relationship Id="rId12" Type="http://schemas.openxmlformats.org/officeDocument/2006/relationships/hyperlink" Target="https://arxiv.org/html/2606.15266v1" TargetMode="External"/><Relationship Id="rId9" Type="http://schemas.openxmlformats.org/officeDocument/2006/relationships/hyperlink" Target="https://www.nature.com/articles/s44401-026-00080-5" TargetMode="External"/><Relationship Id="rId5" Type="http://schemas.openxmlformats.org/officeDocument/2006/relationships/hyperlink" Target="https://arxiv.org/abs/2403.14118" TargetMode="External"/><Relationship Id="rId6" Type="http://schemas.openxmlformats.org/officeDocument/2006/relationships/hyperlink" Target="https://translated.com/mt-quality-evaluation-in-the-age-of-llm-based-mt" TargetMode="External"/><Relationship Id="rId7" Type="http://schemas.openxmlformats.org/officeDocument/2006/relationships/hyperlink" Target="https://www.sciencedirect.com/science/article/pii/S0885230824001347" TargetMode="External"/><Relationship Id="rId8" Type="http://schemas.openxmlformats.org/officeDocument/2006/relationships/hyperlink" Target="https://arxiv.org/abs/2503.0479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logo.png" id="16" name="Google Shape;16;g3f49cf63cc2_0_289"/>
          <p:cNvPicPr preferRelativeResize="0"/>
          <p:nvPr/>
        </p:nvPicPr>
        <p:blipFill rotWithShape="1">
          <a:blip r:embed="rId3">
            <a:alphaModFix/>
          </a:blip>
          <a:srcRect b="0" l="0" r="0" t="0"/>
          <a:stretch/>
        </p:blipFill>
        <p:spPr>
          <a:xfrm>
            <a:off x="548640" y="512064"/>
            <a:ext cx="1828800" cy="428625"/>
          </a:xfrm>
          <a:prstGeom prst="rect">
            <a:avLst/>
          </a:prstGeom>
          <a:noFill/>
          <a:ln>
            <a:noFill/>
          </a:ln>
        </p:spPr>
      </p:pic>
      <p:sp>
        <p:nvSpPr>
          <p:cNvPr id="17" name="Google Shape;17;g3f49cf63cc2_0_289"/>
          <p:cNvSpPr/>
          <p:nvPr/>
        </p:nvSpPr>
        <p:spPr>
          <a:xfrm>
            <a:off x="548640" y="1734065"/>
            <a:ext cx="7559100" cy="1950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A2333"/>
              </a:buClr>
              <a:buSzPts val="3600"/>
              <a:buFont typeface="Trebuchet MS"/>
              <a:buNone/>
            </a:pPr>
            <a:r>
              <a:rPr b="1" i="0" lang="en-IN" sz="3600" u="none" cap="none" strike="noStrike">
                <a:solidFill>
                  <a:srgbClr val="1A2333"/>
                </a:solidFill>
                <a:latin typeface="Trebuchet MS"/>
                <a:ea typeface="Trebuchet MS"/>
                <a:cs typeface="Trebuchet MS"/>
                <a:sym typeface="Trebuchet MS"/>
              </a:rPr>
              <a:t>Helping T-Mobile build the most</a:t>
            </a:r>
            <a:endParaRPr b="0" i="0" sz="3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3600"/>
              <a:buFont typeface="Trebuchet MS"/>
              <a:buNone/>
            </a:pPr>
            <a:r>
              <a:rPr b="1" i="0" lang="en-IN" sz="3600" u="none" cap="none" strike="noStrike">
                <a:solidFill>
                  <a:srgbClr val="1A2333"/>
                </a:solidFill>
                <a:latin typeface="Trebuchet MS"/>
                <a:ea typeface="Trebuchet MS"/>
                <a:cs typeface="Trebuchet MS"/>
                <a:sym typeface="Trebuchet MS"/>
              </a:rPr>
              <a:t>trusted Live Translation experience.</a:t>
            </a:r>
            <a:endParaRPr b="0" i="0" sz="3600" u="none" cap="none" strike="noStrike">
              <a:solidFill>
                <a:schemeClr val="dk1"/>
              </a:solidFill>
              <a:latin typeface="Calibri"/>
              <a:ea typeface="Calibri"/>
              <a:cs typeface="Calibri"/>
              <a:sym typeface="Calibri"/>
            </a:endParaRPr>
          </a:p>
        </p:txBody>
      </p:sp>
      <p:sp>
        <p:nvSpPr>
          <p:cNvPr id="18" name="Google Shape;18;g3f49cf63cc2_0_289"/>
          <p:cNvSpPr/>
          <p:nvPr/>
        </p:nvSpPr>
        <p:spPr>
          <a:xfrm>
            <a:off x="548640" y="3806705"/>
            <a:ext cx="7193100" cy="97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800"/>
              <a:buFont typeface="Arial"/>
              <a:buNone/>
            </a:pPr>
            <a:r>
              <a:rPr b="0" i="0" lang="en-IN" sz="1800" u="none" cap="none" strike="noStrike">
                <a:solidFill>
                  <a:srgbClr val="5A6575"/>
                </a:solidFill>
                <a:latin typeface="Arial"/>
                <a:ea typeface="Arial"/>
                <a:cs typeface="Arial"/>
                <a:sym typeface="Arial"/>
              </a:rPr>
              <a:t>We measure the quality of every translated call, so your team always knows how Live Translation is really performing.</a:t>
            </a:r>
            <a:endParaRPr b="0" i="0" sz="1800" u="none" cap="none" strike="noStrike">
              <a:solidFill>
                <a:schemeClr val="dk1"/>
              </a:solidFill>
              <a:latin typeface="Calibri"/>
              <a:ea typeface="Calibri"/>
              <a:cs typeface="Calibri"/>
              <a:sym typeface="Calibri"/>
            </a:endParaRPr>
          </a:p>
        </p:txBody>
      </p:sp>
      <p:sp>
        <p:nvSpPr>
          <p:cNvPr id="19" name="Google Shape;19;g3f49cf63cc2_0_289"/>
          <p:cNvSpPr/>
          <p:nvPr/>
        </p:nvSpPr>
        <p:spPr>
          <a:xfrm>
            <a:off x="548640" y="5001521"/>
            <a:ext cx="69495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816F"/>
              </a:buClr>
              <a:buSzPts val="1600"/>
              <a:buFont typeface="Arial"/>
              <a:buNone/>
            </a:pPr>
            <a:r>
              <a:rPr b="1" i="0" lang="en-IN" sz="1600" u="none" cap="none" strike="noStrike">
                <a:solidFill>
                  <a:srgbClr val="12816F"/>
                </a:solidFill>
                <a:latin typeface="Arial"/>
                <a:ea typeface="Arial"/>
                <a:cs typeface="Arial"/>
                <a:sym typeface="Arial"/>
              </a:rPr>
              <a:t>CompNova  •  Translation Quality Intelligence</a:t>
            </a:r>
            <a:endParaRPr b="0" i="0" sz="1600" u="none" cap="none" strike="noStrike">
              <a:solidFill>
                <a:schemeClr val="dk1"/>
              </a:solidFill>
              <a:latin typeface="Calibri"/>
              <a:ea typeface="Calibri"/>
              <a:cs typeface="Calibri"/>
              <a:sym typeface="Calibri"/>
            </a:endParaRPr>
          </a:p>
        </p:txBody>
      </p:sp>
      <p:sp>
        <p:nvSpPr>
          <p:cNvPr id="20" name="Google Shape;20;g3f49cf63cc2_0_289"/>
          <p:cNvSpPr/>
          <p:nvPr/>
        </p:nvSpPr>
        <p:spPr>
          <a:xfrm>
            <a:off x="8351520" y="5029200"/>
            <a:ext cx="414300" cy="1828800"/>
          </a:xfrm>
          <a:prstGeom prst="roundRect">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g3f49cf63cc2_0_289"/>
          <p:cNvSpPr/>
          <p:nvPr/>
        </p:nvSpPr>
        <p:spPr>
          <a:xfrm>
            <a:off x="8351520" y="4468368"/>
            <a:ext cx="414300" cy="414300"/>
          </a:xfrm>
          <a:prstGeom prst="ellipse">
            <a:avLst/>
          </a:prstGeom>
          <a:solidFill>
            <a:srgbClr val="1C2E6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49cf63cc2_0_289"/>
          <p:cNvSpPr/>
          <p:nvPr/>
        </p:nvSpPr>
        <p:spPr>
          <a:xfrm>
            <a:off x="9022080" y="3688080"/>
            <a:ext cx="414300" cy="3170100"/>
          </a:xfrm>
          <a:prstGeom prst="roundRect">
            <a:avLst>
              <a:gd fmla="val 50000" name="adj"/>
            </a:avLst>
          </a:prstGeom>
          <a:solidFill>
            <a:srgbClr val="1C2E6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g3f49cf63cc2_0_289"/>
          <p:cNvSpPr/>
          <p:nvPr/>
        </p:nvSpPr>
        <p:spPr>
          <a:xfrm>
            <a:off x="9022080" y="3127248"/>
            <a:ext cx="414300" cy="414300"/>
          </a:xfrm>
          <a:prstGeom prst="ellipse">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g3f49cf63cc2_0_289"/>
          <p:cNvSpPr/>
          <p:nvPr/>
        </p:nvSpPr>
        <p:spPr>
          <a:xfrm>
            <a:off x="9692640" y="4419600"/>
            <a:ext cx="414300" cy="2438400"/>
          </a:xfrm>
          <a:prstGeom prst="roundRect">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g3f49cf63cc2_0_289"/>
          <p:cNvSpPr/>
          <p:nvPr/>
        </p:nvSpPr>
        <p:spPr>
          <a:xfrm>
            <a:off x="9692640" y="3858768"/>
            <a:ext cx="414300" cy="414300"/>
          </a:xfrm>
          <a:prstGeom prst="ellipse">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g3f49cf63cc2_0_289"/>
          <p:cNvSpPr/>
          <p:nvPr/>
        </p:nvSpPr>
        <p:spPr>
          <a:xfrm>
            <a:off x="10363200" y="2834640"/>
            <a:ext cx="414300" cy="4023300"/>
          </a:xfrm>
          <a:prstGeom prst="roundRect">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g3f49cf63cc2_0_289"/>
          <p:cNvSpPr/>
          <p:nvPr/>
        </p:nvSpPr>
        <p:spPr>
          <a:xfrm>
            <a:off x="10363200" y="2273808"/>
            <a:ext cx="414300" cy="414300"/>
          </a:xfrm>
          <a:prstGeom prst="ellipse">
            <a:avLst/>
          </a:prstGeom>
          <a:solidFill>
            <a:srgbClr val="1C2E6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g3f49cf63cc2_0_289"/>
          <p:cNvSpPr/>
          <p:nvPr/>
        </p:nvSpPr>
        <p:spPr>
          <a:xfrm>
            <a:off x="11033760" y="3931920"/>
            <a:ext cx="414300" cy="2925900"/>
          </a:xfrm>
          <a:prstGeom prst="roundRect">
            <a:avLst>
              <a:gd fmla="val 50000" name="adj"/>
            </a:avLst>
          </a:prstGeom>
          <a:solidFill>
            <a:srgbClr val="1C2E6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g3f49cf63cc2_0_289"/>
          <p:cNvSpPr/>
          <p:nvPr/>
        </p:nvSpPr>
        <p:spPr>
          <a:xfrm>
            <a:off x="11033760" y="3371088"/>
            <a:ext cx="414300" cy="414300"/>
          </a:xfrm>
          <a:prstGeom prst="ellipse">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g3f49cf63cc2_0_289"/>
          <p:cNvSpPr/>
          <p:nvPr/>
        </p:nvSpPr>
        <p:spPr>
          <a:xfrm>
            <a:off x="11704320" y="4785360"/>
            <a:ext cx="414300" cy="2072700"/>
          </a:xfrm>
          <a:prstGeom prst="roundRect">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f49cf63cc2_0_289"/>
          <p:cNvSpPr/>
          <p:nvPr/>
        </p:nvSpPr>
        <p:spPr>
          <a:xfrm>
            <a:off x="11704320" y="4224528"/>
            <a:ext cx="414300" cy="414300"/>
          </a:xfrm>
          <a:prstGeom prst="ellipse">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g3f49cf63cc2_0_289"/>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pic>
        <p:nvPicPr>
          <p:cNvPr descr="logo.png" id="38" name="Google Shape;38;g3f49cf63cc2_0_312"/>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39" name="Google Shape;39;g3f49cf63cc2_0_312"/>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2800"/>
              <a:buFont typeface="Trebuchet MS"/>
              <a:buNone/>
            </a:pPr>
            <a:r>
              <a:rPr b="1" i="0" lang="en-IN" sz="2800" u="none" cap="none" strike="noStrike">
                <a:solidFill>
                  <a:srgbClr val="1A2333"/>
                </a:solidFill>
                <a:latin typeface="Trebuchet MS"/>
                <a:ea typeface="Trebuchet MS"/>
                <a:cs typeface="Trebuchet MS"/>
                <a:sym typeface="Trebuchet MS"/>
              </a:rPr>
              <a:t>Live Translation is a big deal. The next question is even bigger.</a:t>
            </a:r>
            <a:endParaRPr b="0" i="0" sz="2800" u="none" cap="none" strike="noStrike">
              <a:solidFill>
                <a:schemeClr val="dk1"/>
              </a:solidFill>
              <a:latin typeface="Calibri"/>
              <a:ea typeface="Calibri"/>
              <a:cs typeface="Calibri"/>
              <a:sym typeface="Calibri"/>
            </a:endParaRPr>
          </a:p>
        </p:txBody>
      </p:sp>
      <p:sp>
        <p:nvSpPr>
          <p:cNvPr id="40" name="Google Shape;40;g3f49cf63cc2_0_312"/>
          <p:cNvSpPr/>
          <p:nvPr/>
        </p:nvSpPr>
        <p:spPr>
          <a:xfrm>
            <a:off x="670560" y="1706880"/>
            <a:ext cx="5303700" cy="4267200"/>
          </a:xfrm>
          <a:prstGeom prst="roundRect">
            <a:avLst>
              <a:gd fmla="val 3429" name="adj"/>
            </a:avLst>
          </a:prstGeom>
          <a:solidFill>
            <a:srgbClr val="E9F6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f49cf63cc2_0_312"/>
          <p:cNvSpPr/>
          <p:nvPr/>
        </p:nvSpPr>
        <p:spPr>
          <a:xfrm>
            <a:off x="975360" y="1926336"/>
            <a:ext cx="47547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900"/>
              <a:buFont typeface="Trebuchet MS"/>
              <a:buNone/>
            </a:pPr>
            <a:r>
              <a:rPr b="1" i="0" lang="en-IN" sz="1900" u="none" cap="none" strike="noStrike">
                <a:solidFill>
                  <a:srgbClr val="1C2E60"/>
                </a:solidFill>
                <a:latin typeface="Trebuchet MS"/>
                <a:ea typeface="Trebuchet MS"/>
                <a:cs typeface="Trebuchet MS"/>
                <a:sym typeface="Trebuchet MS"/>
              </a:rPr>
              <a:t>What you built</a:t>
            </a:r>
            <a:endParaRPr b="0" i="0" sz="1900" u="none" cap="none" strike="noStrike">
              <a:solidFill>
                <a:schemeClr val="dk1"/>
              </a:solidFill>
              <a:latin typeface="Calibri"/>
              <a:ea typeface="Calibri"/>
              <a:cs typeface="Calibri"/>
              <a:sym typeface="Calibri"/>
            </a:endParaRPr>
          </a:p>
        </p:txBody>
      </p:sp>
      <p:sp>
        <p:nvSpPr>
          <p:cNvPr id="42" name="Google Shape;42;g3f49cf63cc2_0_312"/>
          <p:cNvSpPr/>
          <p:nvPr/>
        </p:nvSpPr>
        <p:spPr>
          <a:xfrm>
            <a:off x="999744" y="2438400"/>
            <a:ext cx="365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A893"/>
              </a:buClr>
              <a:buSzPts val="1900"/>
              <a:buFont typeface="Calibri"/>
              <a:buNone/>
            </a:pPr>
            <a:r>
              <a:rPr b="1" i="0" lang="en-IN" sz="1900" u="none" cap="none" strike="noStrike">
                <a:solidFill>
                  <a:srgbClr val="1FA89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3" name="Google Shape;43;g3f49cf63cc2_0_312"/>
          <p:cNvSpPr/>
          <p:nvPr/>
        </p:nvSpPr>
        <p:spPr>
          <a:xfrm>
            <a:off x="1402080" y="2386542"/>
            <a:ext cx="43893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1500"/>
              <a:buFont typeface="Arial"/>
              <a:buNone/>
            </a:pPr>
            <a:r>
              <a:rPr b="0" i="0" lang="en-IN" sz="1500" u="none" cap="none" strike="noStrike">
                <a:solidFill>
                  <a:srgbClr val="1A2333"/>
                </a:solidFill>
                <a:latin typeface="Arial"/>
                <a:ea typeface="Arial"/>
                <a:cs typeface="Arial"/>
                <a:sym typeface="Arial"/>
              </a:rPr>
              <a:t>Real-time translation, built right into the network</a:t>
            </a:r>
            <a:endParaRPr b="0" i="0" sz="1500" u="none" cap="none" strike="noStrike">
              <a:solidFill>
                <a:schemeClr val="dk1"/>
              </a:solidFill>
              <a:latin typeface="Calibri"/>
              <a:ea typeface="Calibri"/>
              <a:cs typeface="Calibri"/>
              <a:sym typeface="Calibri"/>
            </a:endParaRPr>
          </a:p>
        </p:txBody>
      </p:sp>
      <p:sp>
        <p:nvSpPr>
          <p:cNvPr id="44" name="Google Shape;44;g3f49cf63cc2_0_312"/>
          <p:cNvSpPr/>
          <p:nvPr/>
        </p:nvSpPr>
        <p:spPr>
          <a:xfrm>
            <a:off x="999744" y="3194304"/>
            <a:ext cx="365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A893"/>
              </a:buClr>
              <a:buSzPts val="1900"/>
              <a:buFont typeface="Calibri"/>
              <a:buNone/>
            </a:pPr>
            <a:r>
              <a:rPr b="1" i="0" lang="en-IN" sz="1900" u="none" cap="none" strike="noStrike">
                <a:solidFill>
                  <a:srgbClr val="1FA89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5" name="Google Shape;45;g3f49cf63cc2_0_312"/>
          <p:cNvSpPr/>
          <p:nvPr/>
        </p:nvSpPr>
        <p:spPr>
          <a:xfrm>
            <a:off x="1383755" y="4434709"/>
            <a:ext cx="43893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1500"/>
              <a:buFont typeface="Arial"/>
              <a:buNone/>
            </a:pPr>
            <a:r>
              <a:rPr lang="en-IN" sz="1500">
                <a:solidFill>
                  <a:srgbClr val="1A2333"/>
                </a:solidFill>
              </a:rPr>
              <a:t>Open </a:t>
            </a:r>
            <a:r>
              <a:rPr lang="en-IN" sz="1500">
                <a:solidFill>
                  <a:srgbClr val="1A2333"/>
                </a:solidFill>
              </a:rPr>
              <a:t>architecture</a:t>
            </a:r>
            <a:r>
              <a:rPr lang="en-IN" sz="1500">
                <a:solidFill>
                  <a:srgbClr val="1A2333"/>
                </a:solidFill>
              </a:rPr>
              <a:t> supporting multiple AI infrastructures</a:t>
            </a:r>
            <a:endParaRPr b="0" i="0" sz="1500" u="none" cap="none" strike="noStrike">
              <a:solidFill>
                <a:schemeClr val="dk1"/>
              </a:solidFill>
              <a:latin typeface="Calibri"/>
              <a:ea typeface="Calibri"/>
              <a:cs typeface="Calibri"/>
              <a:sym typeface="Calibri"/>
            </a:endParaRPr>
          </a:p>
        </p:txBody>
      </p:sp>
      <p:sp>
        <p:nvSpPr>
          <p:cNvPr id="46" name="Google Shape;46;g3f49cf63cc2_0_312"/>
          <p:cNvSpPr/>
          <p:nvPr/>
        </p:nvSpPr>
        <p:spPr>
          <a:xfrm>
            <a:off x="999744" y="3950208"/>
            <a:ext cx="365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A893"/>
              </a:buClr>
              <a:buSzPts val="1900"/>
              <a:buFont typeface="Calibri"/>
              <a:buNone/>
            </a:pPr>
            <a:r>
              <a:rPr b="1" i="0" lang="en-IN" sz="1900" u="none" cap="none" strike="noStrike">
                <a:solidFill>
                  <a:srgbClr val="1FA89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7" name="Google Shape;47;g3f49cf63cc2_0_312"/>
          <p:cNvSpPr/>
          <p:nvPr/>
        </p:nvSpPr>
        <p:spPr>
          <a:xfrm>
            <a:off x="1420380" y="3040263"/>
            <a:ext cx="43893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1500"/>
              <a:buFont typeface="Arial"/>
              <a:buNone/>
            </a:pPr>
            <a:r>
              <a:rPr b="0" i="0" lang="en-IN" sz="1500" u="none" cap="none" strike="noStrike">
                <a:solidFill>
                  <a:srgbClr val="1A2333"/>
                </a:solidFill>
                <a:latin typeface="Arial"/>
                <a:ea typeface="Arial"/>
                <a:cs typeface="Arial"/>
                <a:sym typeface="Arial"/>
              </a:rPr>
              <a:t>50+ languages</a:t>
            </a:r>
            <a:endParaRPr b="0" i="0" sz="1500" u="none" cap="none" strike="noStrike">
              <a:solidFill>
                <a:schemeClr val="dk1"/>
              </a:solidFill>
              <a:latin typeface="Calibri"/>
              <a:ea typeface="Calibri"/>
              <a:cs typeface="Calibri"/>
              <a:sym typeface="Calibri"/>
            </a:endParaRPr>
          </a:p>
        </p:txBody>
      </p:sp>
      <p:sp>
        <p:nvSpPr>
          <p:cNvPr id="48" name="Google Shape;48;g3f49cf63cc2_0_312"/>
          <p:cNvSpPr/>
          <p:nvPr/>
        </p:nvSpPr>
        <p:spPr>
          <a:xfrm>
            <a:off x="999744" y="4706112"/>
            <a:ext cx="365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A893"/>
              </a:buClr>
              <a:buSzPts val="1900"/>
              <a:buFont typeface="Calibri"/>
              <a:buNone/>
            </a:pPr>
            <a:r>
              <a:rPr b="1" i="0" lang="en-IN" sz="1900" u="none" cap="none" strike="noStrike">
                <a:solidFill>
                  <a:srgbClr val="1FA89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9" name="Google Shape;49;g3f49cf63cc2_0_312"/>
          <p:cNvSpPr/>
          <p:nvPr/>
        </p:nvSpPr>
        <p:spPr>
          <a:xfrm>
            <a:off x="1420380" y="3812954"/>
            <a:ext cx="43893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1500"/>
              <a:buFont typeface="Arial"/>
              <a:buNone/>
            </a:pPr>
            <a:r>
              <a:rPr lang="en-IN" sz="1500">
                <a:solidFill>
                  <a:srgbClr val="1A2333"/>
                </a:solidFill>
              </a:rPr>
              <a:t>NVIDIA AI-RAN, GPU for faster processing</a:t>
            </a:r>
            <a:endParaRPr sz="1500">
              <a:solidFill>
                <a:srgbClr val="1A2333"/>
              </a:solidFill>
            </a:endParaRPr>
          </a:p>
          <a:p>
            <a:pPr indent="0" lvl="0" marL="0" marR="0" rtl="0" algn="l">
              <a:lnSpc>
                <a:spcPct val="100000"/>
              </a:lnSpc>
              <a:spcBef>
                <a:spcPts val="0"/>
              </a:spcBef>
              <a:spcAft>
                <a:spcPts val="0"/>
              </a:spcAft>
              <a:buClr>
                <a:srgbClr val="1A2333"/>
              </a:buClr>
              <a:buSzPts val="1500"/>
              <a:buFont typeface="Arial"/>
              <a:buNone/>
            </a:pPr>
            <a:r>
              <a:t/>
            </a:r>
            <a:endParaRPr sz="1500">
              <a:solidFill>
                <a:srgbClr val="1A2333"/>
              </a:solidFill>
            </a:endParaRPr>
          </a:p>
        </p:txBody>
      </p:sp>
      <p:sp>
        <p:nvSpPr>
          <p:cNvPr id="50" name="Google Shape;50;g3f49cf63cc2_0_312"/>
          <p:cNvSpPr/>
          <p:nvPr/>
        </p:nvSpPr>
        <p:spPr>
          <a:xfrm>
            <a:off x="6217920" y="1706880"/>
            <a:ext cx="5303700" cy="4267200"/>
          </a:xfrm>
          <a:prstGeom prst="roundRect">
            <a:avLst>
              <a:gd fmla="val 3429" name="adj"/>
            </a:avLst>
          </a:prstGeom>
          <a:solidFill>
            <a:srgbClr val="1C2E6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3f49cf63cc2_0_312"/>
          <p:cNvSpPr/>
          <p:nvPr/>
        </p:nvSpPr>
        <p:spPr>
          <a:xfrm>
            <a:off x="6522720" y="1926336"/>
            <a:ext cx="47547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D8CC"/>
              </a:buClr>
              <a:buSzPts val="1900"/>
              <a:buFont typeface="Trebuchet MS"/>
              <a:buNone/>
            </a:pPr>
            <a:r>
              <a:rPr b="1" i="0" lang="en-IN" sz="1900" u="none" cap="none" strike="noStrike">
                <a:solidFill>
                  <a:srgbClr val="8FD8CC"/>
                </a:solidFill>
                <a:latin typeface="Trebuchet MS"/>
                <a:ea typeface="Trebuchet MS"/>
                <a:cs typeface="Trebuchet MS"/>
                <a:sym typeface="Trebuchet MS"/>
              </a:rPr>
              <a:t>The question that comes next</a:t>
            </a:r>
            <a:endParaRPr b="0" i="0" sz="1900" u="none" cap="none" strike="noStrike">
              <a:solidFill>
                <a:schemeClr val="dk1"/>
              </a:solidFill>
              <a:latin typeface="Calibri"/>
              <a:ea typeface="Calibri"/>
              <a:cs typeface="Calibri"/>
              <a:sym typeface="Calibri"/>
            </a:endParaRPr>
          </a:p>
        </p:txBody>
      </p:sp>
      <p:sp>
        <p:nvSpPr>
          <p:cNvPr id="52" name="Google Shape;52;g3f49cf63cc2_0_312"/>
          <p:cNvSpPr/>
          <p:nvPr/>
        </p:nvSpPr>
        <p:spPr>
          <a:xfrm>
            <a:off x="6522720" y="2377440"/>
            <a:ext cx="46941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Trebuchet MS"/>
              <a:buNone/>
            </a:pPr>
            <a:r>
              <a:rPr b="1" i="0" lang="en-IN" sz="1900" u="none" cap="none" strike="noStrike">
                <a:solidFill>
                  <a:srgbClr val="FFFFFF"/>
                </a:solidFill>
                <a:latin typeface="Trebuchet MS"/>
                <a:ea typeface="Trebuchet MS"/>
                <a:cs typeface="Trebuchet MS"/>
                <a:sym typeface="Trebuchet MS"/>
              </a:rPr>
              <a:t>How do you know each translated conversation actually worked?</a:t>
            </a:r>
            <a:endParaRPr b="0" i="0" sz="1900" u="none" cap="none" strike="noStrike">
              <a:solidFill>
                <a:schemeClr val="dk1"/>
              </a:solidFill>
              <a:latin typeface="Calibri"/>
              <a:ea typeface="Calibri"/>
              <a:cs typeface="Calibri"/>
              <a:sym typeface="Calibri"/>
            </a:endParaRPr>
          </a:p>
        </p:txBody>
      </p:sp>
      <p:sp>
        <p:nvSpPr>
          <p:cNvPr id="53" name="Google Shape;53;g3f49cf63cc2_0_312"/>
          <p:cNvSpPr/>
          <p:nvPr/>
        </p:nvSpPr>
        <p:spPr>
          <a:xfrm>
            <a:off x="6522720" y="3474720"/>
            <a:ext cx="46941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FE8F7"/>
              </a:buClr>
              <a:buSzPts val="1500"/>
              <a:buFont typeface="Arial"/>
              <a:buNone/>
            </a:pPr>
            <a:r>
              <a:rPr b="0" i="0" lang="en-IN" sz="1500" u="none" cap="none" strike="noStrike">
                <a:solidFill>
                  <a:srgbClr val="DFE8F7"/>
                </a:solidFill>
                <a:latin typeface="Arial"/>
                <a:ea typeface="Arial"/>
                <a:cs typeface="Arial"/>
                <a:sym typeface="Arial"/>
              </a:rPr>
              <a:t>•  Was the meaning preserved?</a:t>
            </a:r>
            <a:endParaRPr b="0" i="0" sz="1500" u="none" cap="none" strike="noStrike">
              <a:solidFill>
                <a:schemeClr val="dk1"/>
              </a:solidFill>
              <a:latin typeface="Calibri"/>
              <a:ea typeface="Calibri"/>
              <a:cs typeface="Calibri"/>
              <a:sym typeface="Calibri"/>
            </a:endParaRPr>
          </a:p>
        </p:txBody>
      </p:sp>
      <p:sp>
        <p:nvSpPr>
          <p:cNvPr id="54" name="Google Shape;54;g3f49cf63cc2_0_312"/>
          <p:cNvSpPr/>
          <p:nvPr/>
        </p:nvSpPr>
        <p:spPr>
          <a:xfrm>
            <a:off x="6522720" y="4011168"/>
            <a:ext cx="46941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FE8F7"/>
              </a:buClr>
              <a:buSzPts val="1500"/>
              <a:buFont typeface="Arial"/>
              <a:buNone/>
            </a:pPr>
            <a:r>
              <a:rPr b="0" i="0" lang="en-IN" sz="1500" u="none" cap="none" strike="noStrike">
                <a:solidFill>
                  <a:srgbClr val="DFE8F7"/>
                </a:solidFill>
                <a:latin typeface="Arial"/>
                <a:ea typeface="Arial"/>
                <a:cs typeface="Arial"/>
                <a:sym typeface="Arial"/>
              </a:rPr>
              <a:t>•  Did the customer's emotion come through?</a:t>
            </a:r>
            <a:endParaRPr b="0" i="0" sz="1500" u="none" cap="none" strike="noStrike">
              <a:solidFill>
                <a:schemeClr val="dk1"/>
              </a:solidFill>
              <a:latin typeface="Calibri"/>
              <a:ea typeface="Calibri"/>
              <a:cs typeface="Calibri"/>
              <a:sym typeface="Calibri"/>
            </a:endParaRPr>
          </a:p>
        </p:txBody>
      </p:sp>
      <p:sp>
        <p:nvSpPr>
          <p:cNvPr id="55" name="Google Shape;55;g3f49cf63cc2_0_312"/>
          <p:cNvSpPr/>
          <p:nvPr/>
        </p:nvSpPr>
        <p:spPr>
          <a:xfrm>
            <a:off x="6522720" y="4547616"/>
            <a:ext cx="46941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FE8F7"/>
              </a:buClr>
              <a:buSzPts val="1500"/>
              <a:buFont typeface="Arial"/>
              <a:buNone/>
            </a:pPr>
            <a:r>
              <a:rPr b="0" i="0" lang="en-IN" sz="1500" u="none" cap="none" strike="noStrike">
                <a:solidFill>
                  <a:srgbClr val="DFE8F7"/>
                </a:solidFill>
                <a:latin typeface="Arial"/>
                <a:ea typeface="Arial"/>
                <a:cs typeface="Arial"/>
                <a:sym typeface="Arial"/>
              </a:rPr>
              <a:t>•  Which language pairs are struggling?</a:t>
            </a:r>
            <a:endParaRPr b="0" i="0" sz="1500" u="none" cap="none" strike="noStrike">
              <a:solidFill>
                <a:schemeClr val="dk1"/>
              </a:solidFill>
              <a:latin typeface="Calibri"/>
              <a:ea typeface="Calibri"/>
              <a:cs typeface="Calibri"/>
              <a:sym typeface="Calibri"/>
            </a:endParaRPr>
          </a:p>
        </p:txBody>
      </p:sp>
      <p:sp>
        <p:nvSpPr>
          <p:cNvPr id="56" name="Google Shape;56;g3f49cf63cc2_0_312"/>
          <p:cNvSpPr/>
          <p:nvPr/>
        </p:nvSpPr>
        <p:spPr>
          <a:xfrm>
            <a:off x="6522720" y="5084064"/>
            <a:ext cx="46941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FE8F7"/>
              </a:buClr>
              <a:buSzPts val="1500"/>
              <a:buFont typeface="Arial"/>
              <a:buNone/>
            </a:pPr>
            <a:r>
              <a:rPr b="0" i="0" lang="en-IN" sz="1500" u="none" cap="none" strike="noStrike">
                <a:solidFill>
                  <a:srgbClr val="DFE8F7"/>
                </a:solidFill>
                <a:latin typeface="Arial"/>
                <a:ea typeface="Arial"/>
                <a:cs typeface="Arial"/>
                <a:sym typeface="Arial"/>
              </a:rPr>
              <a:t>•  Did the last model update make things better or worse?</a:t>
            </a:r>
            <a:endParaRPr b="0" i="0" sz="1500" u="none" cap="none" strike="noStrike">
              <a:solidFill>
                <a:schemeClr val="dk1"/>
              </a:solidFill>
              <a:latin typeface="Calibri"/>
              <a:ea typeface="Calibri"/>
              <a:cs typeface="Calibri"/>
              <a:sym typeface="Calibri"/>
            </a:endParaRPr>
          </a:p>
        </p:txBody>
      </p:sp>
      <p:sp>
        <p:nvSpPr>
          <p:cNvPr id="57" name="Google Shape;57;g3f49cf63cc2_0_312"/>
          <p:cNvSpPr/>
          <p:nvPr/>
        </p:nvSpPr>
        <p:spPr>
          <a:xfrm>
            <a:off x="670560" y="6120384"/>
            <a:ext cx="10850700" cy="341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816F"/>
              </a:buClr>
              <a:buSzPts val="1500"/>
              <a:buFont typeface="Arial"/>
              <a:buNone/>
            </a:pPr>
            <a:r>
              <a:rPr b="1" i="0" lang="en-IN" sz="1500" u="none" cap="none" strike="noStrike">
                <a:solidFill>
                  <a:srgbClr val="12816F"/>
                </a:solidFill>
                <a:latin typeface="Arial"/>
                <a:ea typeface="Arial"/>
                <a:cs typeface="Arial"/>
                <a:sym typeface="Arial"/>
              </a:rPr>
              <a:t>As the beta grows, these become product questions, not research questions.</a:t>
            </a:r>
            <a:endParaRPr b="0" i="0" sz="1500" u="none" cap="none" strike="noStrike">
              <a:solidFill>
                <a:schemeClr val="dk1"/>
              </a:solidFill>
              <a:latin typeface="Calibri"/>
              <a:ea typeface="Calibri"/>
              <a:cs typeface="Calibri"/>
              <a:sym typeface="Calibri"/>
            </a:endParaRPr>
          </a:p>
        </p:txBody>
      </p:sp>
      <p:sp>
        <p:nvSpPr>
          <p:cNvPr id="58" name="Google Shape;58;g3f49cf63cc2_0_312"/>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E60"/>
        </a:solidFill>
      </p:bgPr>
    </p:bg>
    <p:spTree>
      <p:nvGrpSpPr>
        <p:cNvPr id="63" name="Shape 63"/>
        <p:cNvGrpSpPr/>
        <p:nvPr/>
      </p:nvGrpSpPr>
      <p:grpSpPr>
        <a:xfrm>
          <a:off x="0" y="0"/>
          <a:ext cx="0" cy="0"/>
          <a:chOff x="0" y="0"/>
          <a:chExt cx="0" cy="0"/>
        </a:xfrm>
      </p:grpSpPr>
      <p:sp>
        <p:nvSpPr>
          <p:cNvPr id="64" name="Google Shape;64;g3f4a47ca9f1_0_0"/>
          <p:cNvSpPr/>
          <p:nvPr/>
        </p:nvSpPr>
        <p:spPr>
          <a:xfrm>
            <a:off x="8764030" y="-1488790"/>
            <a:ext cx="4145100" cy="4145100"/>
          </a:xfrm>
          <a:prstGeom prst="ellipse">
            <a:avLst/>
          </a:prstGeom>
          <a:solidFill>
            <a:srgbClr val="14214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 name="Google Shape;65;g3f4a47ca9f1_0_0"/>
          <p:cNvSpPr/>
          <p:nvPr/>
        </p:nvSpPr>
        <p:spPr>
          <a:xfrm>
            <a:off x="853440" y="1025615"/>
            <a:ext cx="10485300" cy="1646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FFFFFF"/>
              </a:buClr>
              <a:buSzPts val="4300"/>
              <a:buFont typeface="Trebuchet MS"/>
              <a:buNone/>
            </a:pPr>
            <a:r>
              <a:rPr b="1" i="0" lang="en-IN" sz="4300" u="none" cap="none" strike="noStrike">
                <a:solidFill>
                  <a:srgbClr val="FFFFFF"/>
                </a:solidFill>
                <a:latin typeface="Trebuchet MS"/>
                <a:ea typeface="Trebuchet MS"/>
                <a:cs typeface="Trebuchet MS"/>
                <a:sym typeface="Trebuchet MS"/>
              </a:rPr>
              <a:t>Live translation ships.</a:t>
            </a:r>
            <a:endParaRPr b="0" i="0" sz="43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4300"/>
              <a:buFont typeface="Trebuchet MS"/>
              <a:buNone/>
            </a:pPr>
            <a:r>
              <a:rPr b="1" i="0" lang="en-IN" sz="4300" u="none" cap="none" strike="noStrike">
                <a:solidFill>
                  <a:srgbClr val="FFFFFF"/>
                </a:solidFill>
                <a:latin typeface="Trebuchet MS"/>
                <a:ea typeface="Trebuchet MS"/>
                <a:cs typeface="Trebuchet MS"/>
                <a:sym typeface="Trebuchet MS"/>
              </a:rPr>
              <a:t>Quality control doesn't.</a:t>
            </a:r>
            <a:endParaRPr b="0" i="0" sz="4300" u="none" cap="none" strike="noStrike">
              <a:solidFill>
                <a:schemeClr val="dk1"/>
              </a:solidFill>
              <a:latin typeface="Calibri"/>
              <a:ea typeface="Calibri"/>
              <a:cs typeface="Calibri"/>
              <a:sym typeface="Calibri"/>
            </a:endParaRPr>
          </a:p>
        </p:txBody>
      </p:sp>
      <p:sp>
        <p:nvSpPr>
          <p:cNvPr id="66" name="Google Shape;66;g3f4a47ca9f1_0_0"/>
          <p:cNvSpPr/>
          <p:nvPr/>
        </p:nvSpPr>
        <p:spPr>
          <a:xfrm>
            <a:off x="853440" y="3073871"/>
            <a:ext cx="85200" cy="6339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 name="Google Shape;67;g3f4a47ca9f1_0_0"/>
          <p:cNvSpPr/>
          <p:nvPr/>
        </p:nvSpPr>
        <p:spPr>
          <a:xfrm>
            <a:off x="1158240" y="3037295"/>
            <a:ext cx="243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8CC"/>
              </a:buClr>
              <a:buSzPts val="2000"/>
              <a:buFont typeface="Trebuchet MS"/>
              <a:buNone/>
            </a:pPr>
            <a:r>
              <a:rPr b="1" i="0" lang="en-IN" sz="2000" u="none" cap="none" strike="noStrike">
                <a:solidFill>
                  <a:srgbClr val="8FD8CC"/>
                </a:solidFill>
                <a:latin typeface="Trebuchet MS"/>
                <a:ea typeface="Trebuchet MS"/>
                <a:cs typeface="Trebuchet MS"/>
                <a:sym typeface="Trebuchet MS"/>
              </a:rPr>
              <a:t>The risk</a:t>
            </a:r>
            <a:endParaRPr b="0" i="0" sz="2000" u="none" cap="none" strike="noStrike">
              <a:solidFill>
                <a:schemeClr val="dk1"/>
              </a:solidFill>
              <a:latin typeface="Calibri"/>
              <a:ea typeface="Calibri"/>
              <a:cs typeface="Calibri"/>
              <a:sym typeface="Calibri"/>
            </a:endParaRPr>
          </a:p>
        </p:txBody>
      </p:sp>
      <p:sp>
        <p:nvSpPr>
          <p:cNvPr id="68" name="Google Shape;68;g3f4a47ca9f1_0_0"/>
          <p:cNvSpPr/>
          <p:nvPr/>
        </p:nvSpPr>
        <p:spPr>
          <a:xfrm>
            <a:off x="3535680" y="3061679"/>
            <a:ext cx="7924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700"/>
              <a:buFont typeface="Arial"/>
              <a:buNone/>
            </a:pPr>
            <a:r>
              <a:rPr b="0" i="0" lang="en-IN" sz="1700" u="none" cap="none" strike="noStrike">
                <a:solidFill>
                  <a:srgbClr val="DFE8F7"/>
                </a:solidFill>
                <a:latin typeface="Arial"/>
                <a:ea typeface="Arial"/>
                <a:cs typeface="Arial"/>
                <a:sym typeface="Arial"/>
              </a:rPr>
              <a:t>A call can be word-accurate and still lose the customer's anger, fear, or warmth.</a:t>
            </a:r>
            <a:endParaRPr b="0" i="0" sz="1700" u="none" cap="none" strike="noStrike">
              <a:solidFill>
                <a:schemeClr val="dk1"/>
              </a:solidFill>
              <a:latin typeface="Calibri"/>
              <a:ea typeface="Calibri"/>
              <a:cs typeface="Calibri"/>
              <a:sym typeface="Calibri"/>
            </a:endParaRPr>
          </a:p>
        </p:txBody>
      </p:sp>
      <p:sp>
        <p:nvSpPr>
          <p:cNvPr id="69" name="Google Shape;69;g3f4a47ca9f1_0_0"/>
          <p:cNvSpPr/>
          <p:nvPr/>
        </p:nvSpPr>
        <p:spPr>
          <a:xfrm>
            <a:off x="853440" y="3951695"/>
            <a:ext cx="85200" cy="6339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 name="Google Shape;70;g3f4a47ca9f1_0_0"/>
          <p:cNvSpPr/>
          <p:nvPr/>
        </p:nvSpPr>
        <p:spPr>
          <a:xfrm>
            <a:off x="1158240" y="3915119"/>
            <a:ext cx="243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8CC"/>
              </a:buClr>
              <a:buSzPts val="2000"/>
              <a:buFont typeface="Trebuchet MS"/>
              <a:buNone/>
            </a:pPr>
            <a:r>
              <a:rPr b="1" i="0" lang="en-IN" sz="2000" u="none" cap="none" strike="noStrike">
                <a:solidFill>
                  <a:srgbClr val="8FD8CC"/>
                </a:solidFill>
                <a:latin typeface="Trebuchet MS"/>
                <a:ea typeface="Trebuchet MS"/>
                <a:cs typeface="Trebuchet MS"/>
                <a:sym typeface="Trebuchet MS"/>
              </a:rPr>
              <a:t>The product</a:t>
            </a:r>
            <a:endParaRPr b="0" i="0" sz="2000" u="none" cap="none" strike="noStrike">
              <a:solidFill>
                <a:schemeClr val="dk1"/>
              </a:solidFill>
              <a:latin typeface="Calibri"/>
              <a:ea typeface="Calibri"/>
              <a:cs typeface="Calibri"/>
              <a:sym typeface="Calibri"/>
            </a:endParaRPr>
          </a:p>
        </p:txBody>
      </p:sp>
      <p:sp>
        <p:nvSpPr>
          <p:cNvPr id="71" name="Google Shape;71;g3f4a47ca9f1_0_0"/>
          <p:cNvSpPr/>
          <p:nvPr/>
        </p:nvSpPr>
        <p:spPr>
          <a:xfrm>
            <a:off x="3535680" y="3939503"/>
            <a:ext cx="7924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700"/>
              <a:buFont typeface="Arial"/>
              <a:buNone/>
            </a:pPr>
            <a:r>
              <a:rPr b="0" i="0" lang="en-IN" sz="1700" u="none" cap="none" strike="noStrike">
                <a:solidFill>
                  <a:srgbClr val="DFE8F7"/>
                </a:solidFill>
                <a:latin typeface="Arial"/>
                <a:ea typeface="Arial"/>
                <a:cs typeface="Arial"/>
                <a:sym typeface="Arial"/>
              </a:rPr>
              <a:t>We fork the audio and grade every translated call: accuracy, meaning, sentiment, emotion.</a:t>
            </a:r>
            <a:endParaRPr b="0" i="0" sz="1700" u="none" cap="none" strike="noStrike">
              <a:solidFill>
                <a:schemeClr val="dk1"/>
              </a:solidFill>
              <a:latin typeface="Calibri"/>
              <a:ea typeface="Calibri"/>
              <a:cs typeface="Calibri"/>
              <a:sym typeface="Calibri"/>
            </a:endParaRPr>
          </a:p>
        </p:txBody>
      </p:sp>
      <p:sp>
        <p:nvSpPr>
          <p:cNvPr id="72" name="Google Shape;72;g3f4a47ca9f1_0_0"/>
          <p:cNvSpPr/>
          <p:nvPr/>
        </p:nvSpPr>
        <p:spPr>
          <a:xfrm>
            <a:off x="853440" y="4829519"/>
            <a:ext cx="85200" cy="6339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 name="Google Shape;73;g3f4a47ca9f1_0_0"/>
          <p:cNvSpPr/>
          <p:nvPr/>
        </p:nvSpPr>
        <p:spPr>
          <a:xfrm>
            <a:off x="1158240" y="4792943"/>
            <a:ext cx="243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8CC"/>
              </a:buClr>
              <a:buSzPts val="2000"/>
              <a:buFont typeface="Trebuchet MS"/>
              <a:buNone/>
            </a:pPr>
            <a:r>
              <a:rPr b="1" i="0" lang="en-IN" sz="2000" u="none" cap="none" strike="noStrike">
                <a:solidFill>
                  <a:srgbClr val="8FD8CC"/>
                </a:solidFill>
                <a:latin typeface="Trebuchet MS"/>
                <a:ea typeface="Trebuchet MS"/>
                <a:cs typeface="Trebuchet MS"/>
                <a:sym typeface="Trebuchet MS"/>
              </a:rPr>
              <a:t>The outcome</a:t>
            </a:r>
            <a:endParaRPr b="0" i="0" sz="2000" u="none" cap="none" strike="noStrike">
              <a:solidFill>
                <a:schemeClr val="dk1"/>
              </a:solidFill>
              <a:latin typeface="Calibri"/>
              <a:ea typeface="Calibri"/>
              <a:cs typeface="Calibri"/>
              <a:sym typeface="Calibri"/>
            </a:endParaRPr>
          </a:p>
        </p:txBody>
      </p:sp>
      <p:sp>
        <p:nvSpPr>
          <p:cNvPr id="74" name="Google Shape;74;g3f4a47ca9f1_0_0"/>
          <p:cNvSpPr/>
          <p:nvPr/>
        </p:nvSpPr>
        <p:spPr>
          <a:xfrm>
            <a:off x="3535680" y="4817327"/>
            <a:ext cx="79248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700"/>
              <a:buFont typeface="Arial"/>
              <a:buNone/>
            </a:pPr>
            <a:r>
              <a:rPr b="0" i="0" lang="en-IN" sz="1700" u="none" cap="none" strike="noStrike">
                <a:solidFill>
                  <a:srgbClr val="DFE8F7"/>
                </a:solidFill>
                <a:latin typeface="Arial"/>
                <a:ea typeface="Arial"/>
                <a:cs typeface="Arial"/>
                <a:sym typeface="Arial"/>
              </a:rPr>
              <a:t>Report cards, live flags, dashboards. You see what customers actually heard.</a:t>
            </a:r>
            <a:endParaRPr b="0" i="0" sz="1700" u="none" cap="none" strike="noStrike">
              <a:solidFill>
                <a:schemeClr val="dk1"/>
              </a:solidFill>
              <a:latin typeface="Calibri"/>
              <a:ea typeface="Calibri"/>
              <a:cs typeface="Calibri"/>
              <a:sym typeface="Calibri"/>
            </a:endParaRPr>
          </a:p>
        </p:txBody>
      </p:sp>
      <p:sp>
        <p:nvSpPr>
          <p:cNvPr id="75" name="Google Shape;75;g3f4a47ca9f1_0_0"/>
          <p:cNvSpPr/>
          <p:nvPr/>
        </p:nvSpPr>
        <p:spPr>
          <a:xfrm>
            <a:off x="853440" y="5780495"/>
            <a:ext cx="10485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6EF"/>
              </a:buClr>
              <a:buSzPts val="1600"/>
              <a:buFont typeface="Arial"/>
              <a:buNone/>
            </a:pPr>
            <a:r>
              <a:rPr b="0" i="1" lang="en-IN" sz="1600" u="none" cap="none" strike="noStrike">
                <a:solidFill>
                  <a:srgbClr val="C9D6EF"/>
                </a:solidFill>
                <a:latin typeface="Arial"/>
                <a:ea typeface="Arial"/>
                <a:cs typeface="Arial"/>
                <a:sym typeface="Arial"/>
              </a:rPr>
              <a:t>No new translation model. No rip and replace.</a:t>
            </a:r>
            <a:endParaRPr b="0" i="0" sz="1600" u="none" cap="none" strike="noStrike">
              <a:solidFill>
                <a:schemeClr val="dk1"/>
              </a:solidFill>
              <a:latin typeface="Calibri"/>
              <a:ea typeface="Calibri"/>
              <a:cs typeface="Calibri"/>
              <a:sym typeface="Calibri"/>
            </a:endParaRPr>
          </a:p>
        </p:txBody>
      </p:sp>
      <p:sp>
        <p:nvSpPr>
          <p:cNvPr id="76" name="Google Shape;76;g3f4a47ca9f1_0_0"/>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3C9"/>
              </a:buClr>
              <a:buSzPts val="1100"/>
              <a:buFont typeface="Arial"/>
              <a:buNone/>
            </a:pPr>
            <a:r>
              <a:rPr b="0" i="0" lang="en-IN" sz="1100" u="none" cap="none" strike="noStrike">
                <a:solidFill>
                  <a:srgbClr val="8FA3C9"/>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pic>
        <p:nvPicPr>
          <p:cNvPr descr="logo.png" id="82" name="Google Shape;82;g3f4a122c435_0_8"/>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83" name="Google Shape;83;g3f4a122c435_0_8"/>
          <p:cNvSpPr/>
          <p:nvPr/>
        </p:nvSpPr>
        <p:spPr>
          <a:xfrm>
            <a:off x="548640" y="853440"/>
            <a:ext cx="110949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3200"/>
              <a:buFont typeface="Trebuchet MS"/>
              <a:buNone/>
            </a:pPr>
            <a:r>
              <a:rPr b="1" i="0" lang="en-IN" sz="3200" u="none" cap="none" strike="noStrike">
                <a:solidFill>
                  <a:srgbClr val="1A2333"/>
                </a:solidFill>
                <a:latin typeface="Trebuchet MS"/>
                <a:ea typeface="Trebuchet MS"/>
                <a:cs typeface="Trebuchet MS"/>
                <a:sym typeface="Trebuchet MS"/>
              </a:rPr>
              <a:t>Fork. Transcribe. Grade. Report.</a:t>
            </a:r>
            <a:endParaRPr b="0" i="0" sz="3200" u="none" cap="none" strike="noStrike">
              <a:solidFill>
                <a:schemeClr val="dk1"/>
              </a:solidFill>
              <a:latin typeface="Calibri"/>
              <a:ea typeface="Calibri"/>
              <a:cs typeface="Calibri"/>
              <a:sym typeface="Calibri"/>
            </a:endParaRPr>
          </a:p>
        </p:txBody>
      </p:sp>
      <p:sp>
        <p:nvSpPr>
          <p:cNvPr id="84" name="Google Shape;84;g3f4a122c435_0_8"/>
          <p:cNvSpPr/>
          <p:nvPr/>
        </p:nvSpPr>
        <p:spPr>
          <a:xfrm>
            <a:off x="670560" y="1584960"/>
            <a:ext cx="2584800" cy="1158300"/>
          </a:xfrm>
          <a:prstGeom prst="roundRect">
            <a:avLst>
              <a:gd fmla="val 10526" name="adj"/>
            </a:avLst>
          </a:prstGeom>
          <a:solidFill>
            <a:srgbClr val="E9F6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f4a122c435_0_8"/>
          <p:cNvSpPr/>
          <p:nvPr/>
        </p:nvSpPr>
        <p:spPr>
          <a:xfrm>
            <a:off x="841248" y="1755648"/>
            <a:ext cx="438900" cy="438900"/>
          </a:xfrm>
          <a:prstGeom prst="ellipse">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6" name="Google Shape;86;g3f4a122c435_0_8"/>
          <p:cNvPicPr preferRelativeResize="0"/>
          <p:nvPr/>
        </p:nvPicPr>
        <p:blipFill rotWithShape="1">
          <a:blip r:embed="rId4">
            <a:alphaModFix/>
          </a:blip>
          <a:srcRect b="0" l="0" r="0" t="0"/>
          <a:stretch/>
        </p:blipFill>
        <p:spPr>
          <a:xfrm>
            <a:off x="950976" y="1865376"/>
            <a:ext cx="219456" cy="219456"/>
          </a:xfrm>
          <a:prstGeom prst="rect">
            <a:avLst/>
          </a:prstGeom>
          <a:noFill/>
          <a:ln>
            <a:noFill/>
          </a:ln>
        </p:spPr>
      </p:pic>
      <p:sp>
        <p:nvSpPr>
          <p:cNvPr id="87" name="Google Shape;87;g3f4a122c435_0_8"/>
          <p:cNvSpPr/>
          <p:nvPr/>
        </p:nvSpPr>
        <p:spPr>
          <a:xfrm>
            <a:off x="1377696" y="1706880"/>
            <a:ext cx="18288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700"/>
              <a:buFont typeface="Trebuchet MS"/>
              <a:buNone/>
            </a:pPr>
            <a:r>
              <a:rPr b="1" i="0" lang="en-IN" sz="1700" u="none" cap="none" strike="noStrike">
                <a:solidFill>
                  <a:srgbClr val="1C2E60"/>
                </a:solidFill>
                <a:latin typeface="Trebuchet MS"/>
                <a:ea typeface="Trebuchet MS"/>
                <a:cs typeface="Trebuchet MS"/>
                <a:sym typeface="Trebuchet MS"/>
              </a:rPr>
              <a:t>1. Fork</a:t>
            </a:r>
            <a:endParaRPr b="0" i="0" sz="1700" u="none" cap="none" strike="noStrike">
              <a:solidFill>
                <a:schemeClr val="dk1"/>
              </a:solidFill>
              <a:latin typeface="Calibri"/>
              <a:ea typeface="Calibri"/>
              <a:cs typeface="Calibri"/>
              <a:sym typeface="Calibri"/>
            </a:endParaRPr>
          </a:p>
        </p:txBody>
      </p:sp>
      <p:sp>
        <p:nvSpPr>
          <p:cNvPr id="88" name="Google Shape;88;g3f4a122c435_0_8"/>
          <p:cNvSpPr/>
          <p:nvPr/>
        </p:nvSpPr>
        <p:spPr>
          <a:xfrm>
            <a:off x="841248" y="2218944"/>
            <a:ext cx="22677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300"/>
              <a:buFont typeface="Arial"/>
              <a:buNone/>
            </a:pPr>
            <a:r>
              <a:rPr b="0" i="0" lang="en-IN" sz="1300" u="none" cap="none" strike="noStrike">
                <a:solidFill>
                  <a:srgbClr val="5A6575"/>
                </a:solidFill>
                <a:latin typeface="Arial"/>
                <a:ea typeface="Arial"/>
                <a:cs typeface="Arial"/>
                <a:sym typeface="Arial"/>
              </a:rPr>
              <a:t>Copy both audio streams</a:t>
            </a:r>
            <a:endParaRPr b="0" i="0" sz="1300" u="none" cap="none" strike="noStrike">
              <a:solidFill>
                <a:schemeClr val="dk1"/>
              </a:solidFill>
              <a:latin typeface="Calibri"/>
              <a:ea typeface="Calibri"/>
              <a:cs typeface="Calibri"/>
              <a:sym typeface="Calibri"/>
            </a:endParaRPr>
          </a:p>
        </p:txBody>
      </p:sp>
      <p:sp>
        <p:nvSpPr>
          <p:cNvPr id="89" name="Google Shape;89;g3f4a122c435_0_8"/>
          <p:cNvSpPr/>
          <p:nvPr/>
        </p:nvSpPr>
        <p:spPr>
          <a:xfrm>
            <a:off x="3230880" y="1975104"/>
            <a:ext cx="243900" cy="316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90" name="Google Shape;90;g3f4a122c435_0_8"/>
          <p:cNvSpPr/>
          <p:nvPr/>
        </p:nvSpPr>
        <p:spPr>
          <a:xfrm>
            <a:off x="3425952" y="1584960"/>
            <a:ext cx="2584800" cy="1158300"/>
          </a:xfrm>
          <a:prstGeom prst="roundRect">
            <a:avLst>
              <a:gd fmla="val 10526" name="adj"/>
            </a:avLst>
          </a:prstGeom>
          <a:solidFill>
            <a:srgbClr val="E9F6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3f4a122c435_0_8"/>
          <p:cNvSpPr/>
          <p:nvPr/>
        </p:nvSpPr>
        <p:spPr>
          <a:xfrm>
            <a:off x="3596640" y="1755648"/>
            <a:ext cx="438900" cy="438900"/>
          </a:xfrm>
          <a:prstGeom prst="ellipse">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 name="Google Shape;92;g3f4a122c435_0_8"/>
          <p:cNvPicPr preferRelativeResize="0"/>
          <p:nvPr/>
        </p:nvPicPr>
        <p:blipFill rotWithShape="1">
          <a:blip r:embed="rId5">
            <a:alphaModFix/>
          </a:blip>
          <a:srcRect b="0" l="0" r="0" t="0"/>
          <a:stretch/>
        </p:blipFill>
        <p:spPr>
          <a:xfrm>
            <a:off x="3706368" y="1865376"/>
            <a:ext cx="219456" cy="219456"/>
          </a:xfrm>
          <a:prstGeom prst="rect">
            <a:avLst/>
          </a:prstGeom>
          <a:noFill/>
          <a:ln>
            <a:noFill/>
          </a:ln>
        </p:spPr>
      </p:pic>
      <p:sp>
        <p:nvSpPr>
          <p:cNvPr id="93" name="Google Shape;93;g3f4a122c435_0_8"/>
          <p:cNvSpPr/>
          <p:nvPr/>
        </p:nvSpPr>
        <p:spPr>
          <a:xfrm>
            <a:off x="4133088" y="1706880"/>
            <a:ext cx="18288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700"/>
              <a:buFont typeface="Trebuchet MS"/>
              <a:buNone/>
            </a:pPr>
            <a:r>
              <a:rPr b="1" i="0" lang="en-IN" sz="1700" u="none" cap="none" strike="noStrike">
                <a:solidFill>
                  <a:srgbClr val="1C2E60"/>
                </a:solidFill>
                <a:latin typeface="Trebuchet MS"/>
                <a:ea typeface="Trebuchet MS"/>
                <a:cs typeface="Trebuchet MS"/>
                <a:sym typeface="Trebuchet MS"/>
              </a:rPr>
              <a:t>2. Transcribe</a:t>
            </a:r>
            <a:endParaRPr b="0" i="0" sz="1700" u="none" cap="none" strike="noStrike">
              <a:solidFill>
                <a:schemeClr val="dk1"/>
              </a:solidFill>
              <a:latin typeface="Calibri"/>
              <a:ea typeface="Calibri"/>
              <a:cs typeface="Calibri"/>
              <a:sym typeface="Calibri"/>
            </a:endParaRPr>
          </a:p>
        </p:txBody>
      </p:sp>
      <p:sp>
        <p:nvSpPr>
          <p:cNvPr id="94" name="Google Shape;94;g3f4a122c435_0_8"/>
          <p:cNvSpPr/>
          <p:nvPr/>
        </p:nvSpPr>
        <p:spPr>
          <a:xfrm>
            <a:off x="3596640" y="2218944"/>
            <a:ext cx="22677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300"/>
              <a:buFont typeface="Arial"/>
              <a:buNone/>
            </a:pPr>
            <a:r>
              <a:rPr b="0" i="0" lang="en-IN" sz="1300" u="none" cap="none" strike="noStrike">
                <a:solidFill>
                  <a:srgbClr val="5A6575"/>
                </a:solidFill>
                <a:latin typeface="Arial"/>
                <a:ea typeface="Arial"/>
                <a:cs typeface="Arial"/>
                <a:sym typeface="Arial"/>
              </a:rPr>
              <a:t>Speech becomes text</a:t>
            </a:r>
            <a:endParaRPr b="0" i="0" sz="1300" u="none" cap="none" strike="noStrike">
              <a:solidFill>
                <a:schemeClr val="dk1"/>
              </a:solidFill>
              <a:latin typeface="Calibri"/>
              <a:ea typeface="Calibri"/>
              <a:cs typeface="Calibri"/>
              <a:sym typeface="Calibri"/>
            </a:endParaRPr>
          </a:p>
        </p:txBody>
      </p:sp>
      <p:sp>
        <p:nvSpPr>
          <p:cNvPr id="95" name="Google Shape;95;g3f4a122c435_0_8"/>
          <p:cNvSpPr/>
          <p:nvPr/>
        </p:nvSpPr>
        <p:spPr>
          <a:xfrm>
            <a:off x="5986272" y="1975104"/>
            <a:ext cx="243900" cy="316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96" name="Google Shape;96;g3f4a122c435_0_8"/>
          <p:cNvSpPr/>
          <p:nvPr/>
        </p:nvSpPr>
        <p:spPr>
          <a:xfrm>
            <a:off x="6181344" y="1584960"/>
            <a:ext cx="2584800" cy="1158300"/>
          </a:xfrm>
          <a:prstGeom prst="roundRect">
            <a:avLst>
              <a:gd fmla="val 10526" name="adj"/>
            </a:avLst>
          </a:prstGeom>
          <a:solidFill>
            <a:srgbClr val="E9F6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3f4a122c435_0_8"/>
          <p:cNvSpPr/>
          <p:nvPr/>
        </p:nvSpPr>
        <p:spPr>
          <a:xfrm>
            <a:off x="6352032" y="1755648"/>
            <a:ext cx="438900" cy="438900"/>
          </a:xfrm>
          <a:prstGeom prst="ellipse">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8" name="Google Shape;98;g3f4a122c435_0_8"/>
          <p:cNvPicPr preferRelativeResize="0"/>
          <p:nvPr/>
        </p:nvPicPr>
        <p:blipFill rotWithShape="1">
          <a:blip r:embed="rId6">
            <a:alphaModFix/>
          </a:blip>
          <a:srcRect b="0" l="0" r="0" t="0"/>
          <a:stretch/>
        </p:blipFill>
        <p:spPr>
          <a:xfrm>
            <a:off x="6461760" y="1865376"/>
            <a:ext cx="219456" cy="219456"/>
          </a:xfrm>
          <a:prstGeom prst="rect">
            <a:avLst/>
          </a:prstGeom>
          <a:noFill/>
          <a:ln>
            <a:noFill/>
          </a:ln>
        </p:spPr>
      </p:pic>
      <p:sp>
        <p:nvSpPr>
          <p:cNvPr id="99" name="Google Shape;99;g3f4a122c435_0_8"/>
          <p:cNvSpPr/>
          <p:nvPr/>
        </p:nvSpPr>
        <p:spPr>
          <a:xfrm>
            <a:off x="6888480" y="1706880"/>
            <a:ext cx="18288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700"/>
              <a:buFont typeface="Trebuchet MS"/>
              <a:buNone/>
            </a:pPr>
            <a:r>
              <a:rPr b="1" i="0" lang="en-IN" sz="1700" u="none" cap="none" strike="noStrike">
                <a:solidFill>
                  <a:srgbClr val="1C2E60"/>
                </a:solidFill>
                <a:latin typeface="Trebuchet MS"/>
                <a:ea typeface="Trebuchet MS"/>
                <a:cs typeface="Trebuchet MS"/>
                <a:sym typeface="Trebuchet MS"/>
              </a:rPr>
              <a:t>3. Grade</a:t>
            </a:r>
            <a:endParaRPr b="0" i="0" sz="1700" u="none" cap="none" strike="noStrike">
              <a:solidFill>
                <a:schemeClr val="dk1"/>
              </a:solidFill>
              <a:latin typeface="Calibri"/>
              <a:ea typeface="Calibri"/>
              <a:cs typeface="Calibri"/>
              <a:sym typeface="Calibri"/>
            </a:endParaRPr>
          </a:p>
        </p:txBody>
      </p:sp>
      <p:sp>
        <p:nvSpPr>
          <p:cNvPr id="100" name="Google Shape;100;g3f4a122c435_0_8"/>
          <p:cNvSpPr/>
          <p:nvPr/>
        </p:nvSpPr>
        <p:spPr>
          <a:xfrm>
            <a:off x="6352032" y="2218944"/>
            <a:ext cx="22677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300"/>
              <a:buFont typeface="Arial"/>
              <a:buNone/>
            </a:pPr>
            <a:r>
              <a:rPr b="0" i="0" lang="en-IN" sz="1300" u="none" cap="none" strike="noStrike">
                <a:solidFill>
                  <a:srgbClr val="5A6575"/>
                </a:solidFill>
                <a:latin typeface="Arial"/>
                <a:ea typeface="Arial"/>
                <a:cs typeface="Arial"/>
                <a:sym typeface="Arial"/>
              </a:rPr>
              <a:t>Four AI models score it</a:t>
            </a:r>
            <a:endParaRPr b="0" i="0" sz="1300" u="none" cap="none" strike="noStrike">
              <a:solidFill>
                <a:schemeClr val="dk1"/>
              </a:solidFill>
              <a:latin typeface="Calibri"/>
              <a:ea typeface="Calibri"/>
              <a:cs typeface="Calibri"/>
              <a:sym typeface="Calibri"/>
            </a:endParaRPr>
          </a:p>
        </p:txBody>
      </p:sp>
      <p:sp>
        <p:nvSpPr>
          <p:cNvPr id="101" name="Google Shape;101;g3f4a122c435_0_8"/>
          <p:cNvSpPr/>
          <p:nvPr/>
        </p:nvSpPr>
        <p:spPr>
          <a:xfrm>
            <a:off x="8741664" y="1975104"/>
            <a:ext cx="243900" cy="316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02" name="Google Shape;102;g3f4a122c435_0_8"/>
          <p:cNvSpPr/>
          <p:nvPr/>
        </p:nvSpPr>
        <p:spPr>
          <a:xfrm>
            <a:off x="8936736" y="1584960"/>
            <a:ext cx="2584800" cy="1158300"/>
          </a:xfrm>
          <a:prstGeom prst="roundRect">
            <a:avLst>
              <a:gd fmla="val 10526" name="adj"/>
            </a:avLst>
          </a:prstGeom>
          <a:solidFill>
            <a:srgbClr val="E9F6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f4a122c435_0_8"/>
          <p:cNvSpPr/>
          <p:nvPr/>
        </p:nvSpPr>
        <p:spPr>
          <a:xfrm>
            <a:off x="9107424" y="1755648"/>
            <a:ext cx="438900" cy="438900"/>
          </a:xfrm>
          <a:prstGeom prst="ellipse">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4" name="Google Shape;104;g3f4a122c435_0_8"/>
          <p:cNvPicPr preferRelativeResize="0"/>
          <p:nvPr/>
        </p:nvPicPr>
        <p:blipFill rotWithShape="1">
          <a:blip r:embed="rId7">
            <a:alphaModFix/>
          </a:blip>
          <a:srcRect b="0" l="0" r="0" t="0"/>
          <a:stretch/>
        </p:blipFill>
        <p:spPr>
          <a:xfrm>
            <a:off x="9217152" y="1865376"/>
            <a:ext cx="219456" cy="219456"/>
          </a:xfrm>
          <a:prstGeom prst="rect">
            <a:avLst/>
          </a:prstGeom>
          <a:noFill/>
          <a:ln>
            <a:noFill/>
          </a:ln>
        </p:spPr>
      </p:pic>
      <p:sp>
        <p:nvSpPr>
          <p:cNvPr id="105" name="Google Shape;105;g3f4a122c435_0_8"/>
          <p:cNvSpPr/>
          <p:nvPr/>
        </p:nvSpPr>
        <p:spPr>
          <a:xfrm>
            <a:off x="9643872" y="1706880"/>
            <a:ext cx="18288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700"/>
              <a:buFont typeface="Trebuchet MS"/>
              <a:buNone/>
            </a:pPr>
            <a:r>
              <a:rPr b="1" i="0" lang="en-IN" sz="1700" u="none" cap="none" strike="noStrike">
                <a:solidFill>
                  <a:srgbClr val="1C2E60"/>
                </a:solidFill>
                <a:latin typeface="Trebuchet MS"/>
                <a:ea typeface="Trebuchet MS"/>
                <a:cs typeface="Trebuchet MS"/>
                <a:sym typeface="Trebuchet MS"/>
              </a:rPr>
              <a:t>4. Report</a:t>
            </a:r>
            <a:endParaRPr b="0" i="0" sz="1700" u="none" cap="none" strike="noStrike">
              <a:solidFill>
                <a:schemeClr val="dk1"/>
              </a:solidFill>
              <a:latin typeface="Calibri"/>
              <a:ea typeface="Calibri"/>
              <a:cs typeface="Calibri"/>
              <a:sym typeface="Calibri"/>
            </a:endParaRPr>
          </a:p>
        </p:txBody>
      </p:sp>
      <p:sp>
        <p:nvSpPr>
          <p:cNvPr id="106" name="Google Shape;106;g3f4a122c435_0_8"/>
          <p:cNvSpPr/>
          <p:nvPr/>
        </p:nvSpPr>
        <p:spPr>
          <a:xfrm>
            <a:off x="9107424" y="2218944"/>
            <a:ext cx="22677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300"/>
              <a:buFont typeface="Arial"/>
              <a:buNone/>
            </a:pPr>
            <a:r>
              <a:rPr b="0" i="0" lang="en-IN" sz="1300" u="none" cap="none" strike="noStrike">
                <a:solidFill>
                  <a:srgbClr val="5A6575"/>
                </a:solidFill>
                <a:latin typeface="Arial"/>
                <a:ea typeface="Arial"/>
                <a:cs typeface="Arial"/>
                <a:sym typeface="Arial"/>
              </a:rPr>
              <a:t>Flags and dashboards</a:t>
            </a:r>
            <a:endParaRPr b="0" i="0" sz="1300" u="none" cap="none" strike="noStrike">
              <a:solidFill>
                <a:schemeClr val="dk1"/>
              </a:solidFill>
              <a:latin typeface="Calibri"/>
              <a:ea typeface="Calibri"/>
              <a:cs typeface="Calibri"/>
              <a:sym typeface="Calibri"/>
            </a:endParaRPr>
          </a:p>
        </p:txBody>
      </p:sp>
      <p:sp>
        <p:nvSpPr>
          <p:cNvPr id="107" name="Google Shape;107;g3f4a122c435_0_8"/>
          <p:cNvSpPr/>
          <p:nvPr/>
        </p:nvSpPr>
        <p:spPr>
          <a:xfrm>
            <a:off x="670560" y="3048000"/>
            <a:ext cx="10863300" cy="2377500"/>
          </a:xfrm>
          <a:prstGeom prst="roundRect">
            <a:avLst>
              <a:gd fmla="val 6154" name="adj"/>
            </a:avLst>
          </a:prstGeom>
          <a:solidFill>
            <a:srgbClr val="142147"/>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3f4a122c435_0_8"/>
          <p:cNvSpPr/>
          <p:nvPr/>
        </p:nvSpPr>
        <p:spPr>
          <a:xfrm>
            <a:off x="1036320" y="3243072"/>
            <a:ext cx="101193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D8CC"/>
              </a:buClr>
              <a:buSzPts val="1400"/>
              <a:buFont typeface="Arial"/>
              <a:buNone/>
            </a:pPr>
            <a:r>
              <a:rPr b="1" i="0" lang="en-IN" sz="1400" u="none" cap="none" strike="noStrike">
                <a:solidFill>
                  <a:srgbClr val="8FD8CC"/>
                </a:solidFill>
                <a:latin typeface="Arial"/>
                <a:ea typeface="Arial"/>
                <a:cs typeface="Arial"/>
                <a:sym typeface="Arial"/>
              </a:rPr>
              <a:t>EVERY CALL GETS A REPORT CARD</a:t>
            </a:r>
            <a:endParaRPr b="0" i="0" sz="1400" u="none" cap="none" strike="noStrike">
              <a:solidFill>
                <a:schemeClr val="dk1"/>
              </a:solidFill>
              <a:latin typeface="Calibri"/>
              <a:ea typeface="Calibri"/>
              <a:cs typeface="Calibri"/>
              <a:sym typeface="Calibri"/>
            </a:endParaRPr>
          </a:p>
        </p:txBody>
      </p:sp>
      <p:sp>
        <p:nvSpPr>
          <p:cNvPr id="109" name="Google Shape;109;g3f4a122c435_0_8"/>
          <p:cNvSpPr/>
          <p:nvPr/>
        </p:nvSpPr>
        <p:spPr>
          <a:xfrm>
            <a:off x="1036320" y="3633216"/>
            <a:ext cx="5608500" cy="164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ourier New"/>
              <a:buNone/>
            </a:pPr>
            <a:r>
              <a:rPr b="0" i="1" lang="en-IN" sz="1500" u="none" cap="none" strike="noStrike">
                <a:solidFill>
                  <a:srgbClr val="FFFFFF"/>
                </a:solidFill>
                <a:latin typeface="Courier New"/>
                <a:ea typeface="Courier New"/>
                <a:cs typeface="Courier New"/>
                <a:sym typeface="Courier New"/>
              </a:rPr>
              <a:t>“I'm SO excited!” → “I'm happy.”</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D8CC"/>
              </a:buClr>
              <a:buSzPts val="1500"/>
              <a:buFont typeface="Courier New"/>
              <a:buNone/>
            </a:pPr>
            <a:r>
              <a:rPr b="1" i="0" lang="en-IN" sz="1500" u="none" cap="none" strike="noStrike">
                <a:solidFill>
                  <a:srgbClr val="8FD8CC"/>
                </a:solidFill>
                <a:latin typeface="Courier New"/>
                <a:ea typeface="Courier New"/>
                <a:cs typeface="Courier New"/>
                <a:sym typeface="Courier New"/>
              </a:rPr>
              <a:t>Accuracy 0.88   PASS</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D8CC"/>
              </a:buClr>
              <a:buSzPts val="1500"/>
              <a:buFont typeface="Courier New"/>
              <a:buNone/>
            </a:pPr>
            <a:r>
              <a:rPr b="1" i="0" lang="en-IN" sz="1500" u="none" cap="none" strike="noStrike">
                <a:solidFill>
                  <a:srgbClr val="8FD8CC"/>
                </a:solidFill>
                <a:latin typeface="Courier New"/>
                <a:ea typeface="Courier New"/>
                <a:cs typeface="Courier New"/>
                <a:sym typeface="Courier New"/>
              </a:rPr>
              <a:t>Meaning  0.91   PASS</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B3A8"/>
              </a:buClr>
              <a:buSzPts val="1500"/>
              <a:buFont typeface="Courier New"/>
              <a:buNone/>
            </a:pPr>
            <a:r>
              <a:rPr b="1" i="0" lang="en-IN" sz="1500" u="none" cap="none" strike="noStrike">
                <a:solidFill>
                  <a:srgbClr val="F5B3A8"/>
                </a:solidFill>
                <a:latin typeface="Courier New"/>
                <a:ea typeface="Courier New"/>
                <a:cs typeface="Courier New"/>
                <a:sym typeface="Courier New"/>
              </a:rPr>
              <a:t>Sentiment  SHIFTED</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500"/>
              <a:buFont typeface="Courier New"/>
              <a:buNone/>
            </a:pPr>
            <a:r>
              <a:rPr b="1" i="0" lang="en-IN" sz="1500" u="none" cap="none" strike="noStrike">
                <a:solidFill>
                  <a:srgbClr val="FFFFFF"/>
                </a:solidFill>
                <a:latin typeface="Courier New"/>
                <a:ea typeface="Courier New"/>
                <a:cs typeface="Courier New"/>
                <a:sym typeface="Courier New"/>
              </a:rPr>
              <a:t>→ Flagged for review</a:t>
            </a:r>
            <a:endParaRPr b="0" i="0" sz="1500" u="none" cap="none" strike="noStrike">
              <a:solidFill>
                <a:schemeClr val="dk1"/>
              </a:solidFill>
              <a:latin typeface="Calibri"/>
              <a:ea typeface="Calibri"/>
              <a:cs typeface="Calibri"/>
              <a:sym typeface="Calibri"/>
            </a:endParaRPr>
          </a:p>
        </p:txBody>
      </p:sp>
      <p:sp>
        <p:nvSpPr>
          <p:cNvPr id="110" name="Google Shape;110;g3f4a122c435_0_8"/>
          <p:cNvSpPr/>
          <p:nvPr/>
        </p:nvSpPr>
        <p:spPr>
          <a:xfrm>
            <a:off x="7193280" y="3779520"/>
            <a:ext cx="4145100" cy="1463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2100"/>
              <a:buFont typeface="Trebuchet MS"/>
              <a:buNone/>
            </a:pPr>
            <a:r>
              <a:rPr b="1" i="0" lang="en-IN" sz="2100" u="none" cap="none" strike="noStrike">
                <a:solidFill>
                  <a:srgbClr val="FFFFFF"/>
                </a:solidFill>
                <a:latin typeface="Trebuchet MS"/>
                <a:ea typeface="Trebuchet MS"/>
                <a:cs typeface="Trebuchet MS"/>
                <a:sym typeface="Trebuchet MS"/>
              </a:rPr>
              <a:t>One score says ship it.</a:t>
            </a:r>
            <a:endParaRPr b="0" i="0" sz="21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2100"/>
              <a:buFont typeface="Trebuchet MS"/>
              <a:buNone/>
            </a:pPr>
            <a:r>
              <a:rPr b="1" i="0" lang="en-IN" sz="2100" u="none" cap="none" strike="noStrike">
                <a:solidFill>
                  <a:srgbClr val="FFFFFF"/>
                </a:solidFill>
                <a:latin typeface="Trebuchet MS"/>
                <a:ea typeface="Trebuchet MS"/>
                <a:cs typeface="Trebuchet MS"/>
                <a:sym typeface="Trebuchet MS"/>
              </a:rPr>
              <a:t>The report card says</a:t>
            </a:r>
            <a:endParaRPr b="0" i="0" sz="21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2100"/>
              <a:buFont typeface="Trebuchet MS"/>
              <a:buNone/>
            </a:pPr>
            <a:r>
              <a:rPr b="1" i="0" lang="en-IN" sz="2100" u="none" cap="none" strike="noStrike">
                <a:solidFill>
                  <a:srgbClr val="FFFFFF"/>
                </a:solidFill>
                <a:latin typeface="Trebuchet MS"/>
                <a:ea typeface="Trebuchet MS"/>
                <a:cs typeface="Trebuchet MS"/>
                <a:sym typeface="Trebuchet MS"/>
              </a:rPr>
              <a:t>review it.</a:t>
            </a:r>
            <a:endParaRPr b="0" i="0" sz="2100" u="none" cap="none" strike="noStrike">
              <a:solidFill>
                <a:schemeClr val="dk1"/>
              </a:solidFill>
              <a:latin typeface="Calibri"/>
              <a:ea typeface="Calibri"/>
              <a:cs typeface="Calibri"/>
              <a:sym typeface="Calibri"/>
            </a:endParaRPr>
          </a:p>
        </p:txBody>
      </p:sp>
      <p:sp>
        <p:nvSpPr>
          <p:cNvPr id="111" name="Google Shape;111;g3f4a122c435_0_8"/>
          <p:cNvSpPr/>
          <p:nvPr/>
        </p:nvSpPr>
        <p:spPr>
          <a:xfrm>
            <a:off x="670560" y="5632704"/>
            <a:ext cx="108633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816F"/>
              </a:buClr>
              <a:buSzPts val="1500"/>
              <a:buFont typeface="Arial"/>
              <a:buNone/>
            </a:pPr>
            <a:r>
              <a:rPr b="1" i="0" lang="en-IN" sz="1500" u="none" cap="none" strike="noStrike">
                <a:solidFill>
                  <a:srgbClr val="12816F"/>
                </a:solidFill>
                <a:latin typeface="Arial"/>
                <a:ea typeface="Arial"/>
                <a:cs typeface="Arial"/>
                <a:sym typeface="Arial"/>
              </a:rPr>
              <a:t>Zero added call latency. Everything runs on the forked stream.</a:t>
            </a:r>
            <a:endParaRPr b="0" i="0" sz="1500" u="none" cap="none" strike="noStrike">
              <a:solidFill>
                <a:schemeClr val="dk1"/>
              </a:solidFill>
              <a:latin typeface="Calibri"/>
              <a:ea typeface="Calibri"/>
              <a:cs typeface="Calibri"/>
              <a:sym typeface="Calibri"/>
            </a:endParaRPr>
          </a:p>
        </p:txBody>
      </p:sp>
      <p:sp>
        <p:nvSpPr>
          <p:cNvPr id="112" name="Google Shape;112;g3f4a122c435_0_8"/>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pic>
        <p:nvPicPr>
          <p:cNvPr descr="logo.png" id="118" name="Google Shape;118;g3f49cf63cc2_0_391"/>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119" name="Google Shape;119;g3f49cf63cc2_0_391"/>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2800"/>
              <a:buFont typeface="Trebuchet MS"/>
              <a:buNone/>
            </a:pPr>
            <a:r>
              <a:rPr b="1" i="0" lang="en-IN" sz="2800" u="none" cap="none" strike="noStrike">
                <a:solidFill>
                  <a:srgbClr val="1A2333"/>
                </a:solidFill>
                <a:latin typeface="Trebuchet MS"/>
                <a:ea typeface="Trebuchet MS"/>
                <a:cs typeface="Trebuchet MS"/>
                <a:sym typeface="Trebuchet MS"/>
              </a:rPr>
              <a:t>Your product team would see something like this.</a:t>
            </a:r>
            <a:endParaRPr b="0" i="0" sz="2800" u="none" cap="none" strike="noStrike">
              <a:solidFill>
                <a:schemeClr val="dk1"/>
              </a:solidFill>
              <a:latin typeface="Calibri"/>
              <a:ea typeface="Calibri"/>
              <a:cs typeface="Calibri"/>
              <a:sym typeface="Calibri"/>
            </a:endParaRPr>
          </a:p>
        </p:txBody>
      </p:sp>
      <p:sp>
        <p:nvSpPr>
          <p:cNvPr id="120" name="Google Shape;120;g3f49cf63cc2_0_391"/>
          <p:cNvSpPr/>
          <p:nvPr/>
        </p:nvSpPr>
        <p:spPr>
          <a:xfrm>
            <a:off x="670560" y="1609344"/>
            <a:ext cx="10863300" cy="4267200"/>
          </a:xfrm>
          <a:prstGeom prst="roundRect">
            <a:avLst>
              <a:gd fmla="val 3429" name="adj"/>
            </a:avLst>
          </a:prstGeom>
          <a:solidFill>
            <a:srgbClr val="F4F6FA"/>
          </a:solidFill>
          <a:ln cap="flat" cmpd="sng" w="16925">
            <a:solidFill>
              <a:srgbClr val="D8DE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f49cf63cc2_0_391"/>
          <p:cNvSpPr/>
          <p:nvPr/>
        </p:nvSpPr>
        <p:spPr>
          <a:xfrm>
            <a:off x="975360" y="1755648"/>
            <a:ext cx="73152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300"/>
              <a:buFont typeface="Arial"/>
              <a:buNone/>
            </a:pPr>
            <a:r>
              <a:rPr b="1" i="0" lang="en-IN" sz="1300" u="none" cap="none" strike="noStrike">
                <a:solidFill>
                  <a:srgbClr val="5A6575"/>
                </a:solidFill>
                <a:latin typeface="Arial"/>
                <a:ea typeface="Arial"/>
                <a:cs typeface="Arial"/>
                <a:sym typeface="Arial"/>
              </a:rPr>
              <a:t>Live Translation Health  •  this week</a:t>
            </a:r>
            <a:endParaRPr b="0" i="0" sz="1300" u="none" cap="none" strike="noStrike">
              <a:solidFill>
                <a:schemeClr val="dk1"/>
              </a:solidFill>
              <a:latin typeface="Calibri"/>
              <a:ea typeface="Calibri"/>
              <a:cs typeface="Calibri"/>
              <a:sym typeface="Calibri"/>
            </a:endParaRPr>
          </a:p>
        </p:txBody>
      </p:sp>
      <p:sp>
        <p:nvSpPr>
          <p:cNvPr id="122" name="Google Shape;122;g3f49cf63cc2_0_391"/>
          <p:cNvSpPr/>
          <p:nvPr/>
        </p:nvSpPr>
        <p:spPr>
          <a:xfrm>
            <a:off x="975360" y="2145792"/>
            <a:ext cx="2438400" cy="1158300"/>
          </a:xfrm>
          <a:prstGeom prst="roundRect">
            <a:avLst>
              <a:gd fmla="val 8421"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3f49cf63cc2_0_391"/>
          <p:cNvSpPr/>
          <p:nvPr/>
        </p:nvSpPr>
        <p:spPr>
          <a:xfrm>
            <a:off x="1146048" y="2218944"/>
            <a:ext cx="20727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816F"/>
              </a:buClr>
              <a:buSzPts val="2800"/>
              <a:buFont typeface="Trebuchet MS"/>
              <a:buNone/>
            </a:pPr>
            <a:r>
              <a:rPr b="1" i="0" lang="en-IN" sz="2800" u="none" cap="none" strike="noStrike">
                <a:solidFill>
                  <a:srgbClr val="12816F"/>
                </a:solidFill>
                <a:latin typeface="Trebuchet MS"/>
                <a:ea typeface="Trebuchet MS"/>
                <a:cs typeface="Trebuchet MS"/>
                <a:sym typeface="Trebuchet MS"/>
              </a:rPr>
              <a:t>95%</a:t>
            </a:r>
            <a:endParaRPr b="0" i="0" sz="2800" u="none" cap="none" strike="noStrike">
              <a:solidFill>
                <a:schemeClr val="dk1"/>
              </a:solidFill>
              <a:latin typeface="Calibri"/>
              <a:ea typeface="Calibri"/>
              <a:cs typeface="Calibri"/>
              <a:sym typeface="Calibri"/>
            </a:endParaRPr>
          </a:p>
        </p:txBody>
      </p:sp>
      <p:sp>
        <p:nvSpPr>
          <p:cNvPr id="124" name="Google Shape;124;g3f49cf63cc2_0_391"/>
          <p:cNvSpPr/>
          <p:nvPr/>
        </p:nvSpPr>
        <p:spPr>
          <a:xfrm>
            <a:off x="1146048" y="2779776"/>
            <a:ext cx="2133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100"/>
              <a:buFont typeface="Arial"/>
              <a:buNone/>
            </a:pPr>
            <a:r>
              <a:rPr b="0" i="0" lang="en-IN" sz="1100" u="none" cap="none" strike="noStrike">
                <a:solidFill>
                  <a:srgbClr val="5A6575"/>
                </a:solidFill>
                <a:latin typeface="Arial"/>
                <a:ea typeface="Arial"/>
                <a:cs typeface="Arial"/>
                <a:sym typeface="Arial"/>
              </a:rPr>
              <a:t>overall quality</a:t>
            </a:r>
            <a:endParaRPr b="0" i="0" sz="1100" u="none" cap="none" strike="noStrike">
              <a:solidFill>
                <a:schemeClr val="dk1"/>
              </a:solidFill>
              <a:latin typeface="Calibri"/>
              <a:ea typeface="Calibri"/>
              <a:cs typeface="Calibri"/>
              <a:sym typeface="Calibri"/>
            </a:endParaRPr>
          </a:p>
        </p:txBody>
      </p:sp>
      <p:sp>
        <p:nvSpPr>
          <p:cNvPr id="125" name="Google Shape;125;g3f49cf63cc2_0_391"/>
          <p:cNvSpPr/>
          <p:nvPr/>
        </p:nvSpPr>
        <p:spPr>
          <a:xfrm>
            <a:off x="3596640" y="2145792"/>
            <a:ext cx="2438400" cy="1158300"/>
          </a:xfrm>
          <a:prstGeom prst="roundRect">
            <a:avLst>
              <a:gd fmla="val 8421"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3f49cf63cc2_0_391"/>
          <p:cNvSpPr/>
          <p:nvPr/>
        </p:nvSpPr>
        <p:spPr>
          <a:xfrm>
            <a:off x="3767328" y="2218944"/>
            <a:ext cx="20727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816F"/>
              </a:buClr>
              <a:buSzPts val="2800"/>
              <a:buFont typeface="Trebuchet MS"/>
              <a:buNone/>
            </a:pPr>
            <a:r>
              <a:rPr b="1" i="0" lang="en-IN" sz="2800" u="none" cap="none" strike="noStrike">
                <a:solidFill>
                  <a:srgbClr val="12816F"/>
                </a:solidFill>
                <a:latin typeface="Trebuchet MS"/>
                <a:ea typeface="Trebuchet MS"/>
                <a:cs typeface="Trebuchet MS"/>
                <a:sym typeface="Trebuchet MS"/>
              </a:rPr>
              <a:t>97%</a:t>
            </a:r>
            <a:endParaRPr b="0" i="0" sz="2800" u="none" cap="none" strike="noStrike">
              <a:solidFill>
                <a:schemeClr val="dk1"/>
              </a:solidFill>
              <a:latin typeface="Calibri"/>
              <a:ea typeface="Calibri"/>
              <a:cs typeface="Calibri"/>
              <a:sym typeface="Calibri"/>
            </a:endParaRPr>
          </a:p>
        </p:txBody>
      </p:sp>
      <p:sp>
        <p:nvSpPr>
          <p:cNvPr id="127" name="Google Shape;127;g3f49cf63cc2_0_391"/>
          <p:cNvSpPr/>
          <p:nvPr/>
        </p:nvSpPr>
        <p:spPr>
          <a:xfrm>
            <a:off x="3767328" y="2779776"/>
            <a:ext cx="2133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100"/>
              <a:buFont typeface="Arial"/>
              <a:buNone/>
            </a:pPr>
            <a:r>
              <a:rPr b="0" i="0" lang="en-IN" sz="1100" u="none" cap="none" strike="noStrike">
                <a:solidFill>
                  <a:srgbClr val="5A6575"/>
                </a:solidFill>
                <a:latin typeface="Arial"/>
                <a:ea typeface="Arial"/>
                <a:cs typeface="Arial"/>
                <a:sym typeface="Arial"/>
              </a:rPr>
              <a:t>sentiment preserved</a:t>
            </a:r>
            <a:endParaRPr b="0" i="0" sz="1100" u="none" cap="none" strike="noStrike">
              <a:solidFill>
                <a:schemeClr val="dk1"/>
              </a:solidFill>
              <a:latin typeface="Calibri"/>
              <a:ea typeface="Calibri"/>
              <a:cs typeface="Calibri"/>
              <a:sym typeface="Calibri"/>
            </a:endParaRPr>
          </a:p>
        </p:txBody>
      </p:sp>
      <p:sp>
        <p:nvSpPr>
          <p:cNvPr id="128" name="Google Shape;128;g3f49cf63cc2_0_391"/>
          <p:cNvSpPr/>
          <p:nvPr/>
        </p:nvSpPr>
        <p:spPr>
          <a:xfrm>
            <a:off x="6217920" y="2145792"/>
            <a:ext cx="2438400" cy="1158300"/>
          </a:xfrm>
          <a:prstGeom prst="roundRect">
            <a:avLst>
              <a:gd fmla="val 8421"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f49cf63cc2_0_391"/>
          <p:cNvSpPr/>
          <p:nvPr/>
        </p:nvSpPr>
        <p:spPr>
          <a:xfrm>
            <a:off x="6388608" y="2218944"/>
            <a:ext cx="20727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604C"/>
              </a:buClr>
              <a:buSzPts val="2800"/>
              <a:buFont typeface="Trebuchet MS"/>
              <a:buNone/>
            </a:pPr>
            <a:r>
              <a:rPr b="1" i="0" lang="en-IN" sz="2800" u="none" cap="none" strike="noStrike">
                <a:solidFill>
                  <a:srgbClr val="E8604C"/>
                </a:solidFill>
                <a:latin typeface="Trebuchet MS"/>
                <a:ea typeface="Trebuchet MS"/>
                <a:cs typeface="Trebuchet MS"/>
                <a:sym typeface="Trebuchet MS"/>
              </a:rPr>
              <a:t>89%</a:t>
            </a:r>
            <a:endParaRPr b="0" i="0" sz="2800" u="none" cap="none" strike="noStrike">
              <a:solidFill>
                <a:schemeClr val="dk1"/>
              </a:solidFill>
              <a:latin typeface="Calibri"/>
              <a:ea typeface="Calibri"/>
              <a:cs typeface="Calibri"/>
              <a:sym typeface="Calibri"/>
            </a:endParaRPr>
          </a:p>
        </p:txBody>
      </p:sp>
      <p:sp>
        <p:nvSpPr>
          <p:cNvPr id="130" name="Google Shape;130;g3f49cf63cc2_0_391"/>
          <p:cNvSpPr/>
          <p:nvPr/>
        </p:nvSpPr>
        <p:spPr>
          <a:xfrm>
            <a:off x="6388608" y="2779776"/>
            <a:ext cx="2133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100"/>
              <a:buFont typeface="Arial"/>
              <a:buNone/>
            </a:pPr>
            <a:r>
              <a:rPr b="0" i="0" lang="en-IN" sz="1100" u="none" cap="none" strike="noStrike">
                <a:solidFill>
                  <a:srgbClr val="5A6575"/>
                </a:solidFill>
                <a:latin typeface="Arial"/>
                <a:ea typeface="Arial"/>
                <a:cs typeface="Arial"/>
                <a:sym typeface="Arial"/>
              </a:rPr>
              <a:t>emotion preserved</a:t>
            </a:r>
            <a:endParaRPr b="0" i="0" sz="1100" u="none" cap="none" strike="noStrike">
              <a:solidFill>
                <a:schemeClr val="dk1"/>
              </a:solidFill>
              <a:latin typeface="Calibri"/>
              <a:ea typeface="Calibri"/>
              <a:cs typeface="Calibri"/>
              <a:sym typeface="Calibri"/>
            </a:endParaRPr>
          </a:p>
        </p:txBody>
      </p:sp>
      <p:sp>
        <p:nvSpPr>
          <p:cNvPr id="131" name="Google Shape;131;g3f49cf63cc2_0_391"/>
          <p:cNvSpPr/>
          <p:nvPr/>
        </p:nvSpPr>
        <p:spPr>
          <a:xfrm>
            <a:off x="8839200" y="2145792"/>
            <a:ext cx="2438400" cy="1158300"/>
          </a:xfrm>
          <a:prstGeom prst="roundRect">
            <a:avLst>
              <a:gd fmla="val 8421"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f49cf63cc2_0_391"/>
          <p:cNvSpPr/>
          <p:nvPr/>
        </p:nvSpPr>
        <p:spPr>
          <a:xfrm>
            <a:off x="9009888" y="2218944"/>
            <a:ext cx="20727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604C"/>
              </a:buClr>
              <a:buSzPts val="2800"/>
              <a:buFont typeface="Trebuchet MS"/>
              <a:buNone/>
            </a:pPr>
            <a:r>
              <a:rPr b="1" i="0" lang="en-IN" sz="2800" u="none" cap="none" strike="noStrike">
                <a:solidFill>
                  <a:srgbClr val="E8604C"/>
                </a:solidFill>
                <a:latin typeface="Trebuchet MS"/>
                <a:ea typeface="Trebuchet MS"/>
                <a:cs typeface="Trebuchet MS"/>
                <a:sym typeface="Trebuchet MS"/>
              </a:rPr>
              <a:t>243</a:t>
            </a:r>
            <a:endParaRPr b="0" i="0" sz="2800" u="none" cap="none" strike="noStrike">
              <a:solidFill>
                <a:schemeClr val="dk1"/>
              </a:solidFill>
              <a:latin typeface="Calibri"/>
              <a:ea typeface="Calibri"/>
              <a:cs typeface="Calibri"/>
              <a:sym typeface="Calibri"/>
            </a:endParaRPr>
          </a:p>
        </p:txBody>
      </p:sp>
      <p:sp>
        <p:nvSpPr>
          <p:cNvPr id="133" name="Google Shape;133;g3f49cf63cc2_0_391"/>
          <p:cNvSpPr/>
          <p:nvPr/>
        </p:nvSpPr>
        <p:spPr>
          <a:xfrm>
            <a:off x="9009888" y="2779776"/>
            <a:ext cx="2133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100"/>
              <a:buFont typeface="Arial"/>
              <a:buNone/>
            </a:pPr>
            <a:r>
              <a:rPr b="0" i="0" lang="en-IN" sz="1100" u="none" cap="none" strike="noStrike">
                <a:solidFill>
                  <a:srgbClr val="5A6575"/>
                </a:solidFill>
                <a:latin typeface="Arial"/>
                <a:ea typeface="Arial"/>
                <a:cs typeface="Arial"/>
                <a:sym typeface="Arial"/>
              </a:rPr>
              <a:t>calls flagged</a:t>
            </a:r>
            <a:endParaRPr b="0" i="0" sz="1100" u="none" cap="none" strike="noStrike">
              <a:solidFill>
                <a:schemeClr val="dk1"/>
              </a:solidFill>
              <a:latin typeface="Calibri"/>
              <a:ea typeface="Calibri"/>
              <a:cs typeface="Calibri"/>
              <a:sym typeface="Calibri"/>
            </a:endParaRPr>
          </a:p>
        </p:txBody>
      </p:sp>
      <p:sp>
        <p:nvSpPr>
          <p:cNvPr id="134" name="Google Shape;134;g3f49cf63cc2_0_391"/>
          <p:cNvSpPr/>
          <p:nvPr/>
        </p:nvSpPr>
        <p:spPr>
          <a:xfrm>
            <a:off x="975360" y="3560064"/>
            <a:ext cx="4998900" cy="2011500"/>
          </a:xfrm>
          <a:prstGeom prst="roundRect">
            <a:avLst>
              <a:gd fmla="val 4848"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3f49cf63cc2_0_391"/>
          <p:cNvSpPr/>
          <p:nvPr/>
        </p:nvSpPr>
        <p:spPr>
          <a:xfrm>
            <a:off x="1158240" y="3681984"/>
            <a:ext cx="4632900" cy="29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300"/>
              <a:buFont typeface="Arial"/>
              <a:buNone/>
            </a:pPr>
            <a:r>
              <a:rPr b="1" i="0" lang="en-IN" sz="1300" u="none" cap="none" strike="noStrike">
                <a:solidFill>
                  <a:srgbClr val="5A6575"/>
                </a:solidFill>
                <a:latin typeface="Arial"/>
                <a:ea typeface="Arial"/>
                <a:cs typeface="Arial"/>
                <a:sym typeface="Arial"/>
              </a:rPr>
              <a:t>Needs attention</a:t>
            </a:r>
            <a:endParaRPr b="0" i="0" sz="1300" u="none" cap="none" strike="noStrike">
              <a:solidFill>
                <a:schemeClr val="dk1"/>
              </a:solidFill>
              <a:latin typeface="Calibri"/>
              <a:ea typeface="Calibri"/>
              <a:cs typeface="Calibri"/>
              <a:sym typeface="Calibri"/>
            </a:endParaRPr>
          </a:p>
        </p:txBody>
      </p:sp>
      <p:sp>
        <p:nvSpPr>
          <p:cNvPr id="136" name="Google Shape;136;g3f49cf63cc2_0_391"/>
          <p:cNvSpPr/>
          <p:nvPr/>
        </p:nvSpPr>
        <p:spPr>
          <a:xfrm>
            <a:off x="1158240" y="4047744"/>
            <a:ext cx="46941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300"/>
              <a:buFont typeface="Courier New"/>
              <a:buNone/>
            </a:pPr>
            <a:r>
              <a:rPr b="1" i="0" lang="en-IN" sz="1300" u="none" cap="none" strike="noStrike">
                <a:solidFill>
                  <a:srgbClr val="1C2E60"/>
                </a:solidFill>
                <a:latin typeface="Courier New"/>
                <a:ea typeface="Courier New"/>
                <a:cs typeface="Courier New"/>
                <a:sym typeface="Courier New"/>
              </a:rPr>
              <a:t>Vietnamese → English   </a:t>
            </a:r>
            <a:r>
              <a:rPr b="0" i="0" lang="en-IN" sz="1300" u="none" cap="none" strike="noStrike">
                <a:solidFill>
                  <a:srgbClr val="E8604C"/>
                </a:solidFill>
                <a:latin typeface="Arial"/>
                <a:ea typeface="Arial"/>
                <a:cs typeface="Arial"/>
                <a:sym typeface="Arial"/>
              </a:rPr>
              <a:t>emotion often flattened</a:t>
            </a:r>
            <a:endParaRPr b="0" i="0" sz="1300" u="none" cap="none" strike="noStrike">
              <a:solidFill>
                <a:schemeClr val="dk1"/>
              </a:solidFill>
              <a:latin typeface="Calibri"/>
              <a:ea typeface="Calibri"/>
              <a:cs typeface="Calibri"/>
              <a:sym typeface="Calibri"/>
            </a:endParaRPr>
          </a:p>
        </p:txBody>
      </p:sp>
      <p:sp>
        <p:nvSpPr>
          <p:cNvPr id="137" name="Google Shape;137;g3f49cf63cc2_0_391"/>
          <p:cNvSpPr/>
          <p:nvPr/>
        </p:nvSpPr>
        <p:spPr>
          <a:xfrm>
            <a:off x="1158240" y="4535424"/>
            <a:ext cx="46941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300"/>
              <a:buFont typeface="Courier New"/>
              <a:buNone/>
            </a:pPr>
            <a:r>
              <a:rPr b="1" i="0" lang="en-IN" sz="1300" u="none" cap="none" strike="noStrike">
                <a:solidFill>
                  <a:srgbClr val="1C2E60"/>
                </a:solidFill>
                <a:latin typeface="Courier New"/>
                <a:ea typeface="Courier New"/>
                <a:cs typeface="Courier New"/>
                <a:sym typeface="Courier New"/>
              </a:rPr>
              <a:t>Hindi → English   </a:t>
            </a:r>
            <a:r>
              <a:rPr b="0" i="0" lang="en-IN" sz="1300" u="none" cap="none" strike="noStrike">
                <a:solidFill>
                  <a:srgbClr val="E8604C"/>
                </a:solidFill>
                <a:latin typeface="Arial"/>
                <a:ea typeface="Arial"/>
                <a:cs typeface="Arial"/>
                <a:sym typeface="Arial"/>
              </a:rPr>
              <a:t>meaning drops on long sentences</a:t>
            </a:r>
            <a:endParaRPr b="0" i="0" sz="1300" u="none" cap="none" strike="noStrike">
              <a:solidFill>
                <a:schemeClr val="dk1"/>
              </a:solidFill>
              <a:latin typeface="Calibri"/>
              <a:ea typeface="Calibri"/>
              <a:cs typeface="Calibri"/>
              <a:sym typeface="Calibri"/>
            </a:endParaRPr>
          </a:p>
        </p:txBody>
      </p:sp>
      <p:sp>
        <p:nvSpPr>
          <p:cNvPr id="138" name="Google Shape;138;g3f49cf63cc2_0_391"/>
          <p:cNvSpPr/>
          <p:nvPr/>
        </p:nvSpPr>
        <p:spPr>
          <a:xfrm>
            <a:off x="1158240" y="5023104"/>
            <a:ext cx="46941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300"/>
              <a:buFont typeface="Courier New"/>
              <a:buNone/>
            </a:pPr>
            <a:r>
              <a:rPr b="1" i="0" lang="en-IN" sz="1300" u="none" cap="none" strike="noStrike">
                <a:solidFill>
                  <a:srgbClr val="1C2E60"/>
                </a:solidFill>
                <a:latin typeface="Courier New"/>
                <a:ea typeface="Courier New"/>
                <a:cs typeface="Courier New"/>
                <a:sym typeface="Courier New"/>
              </a:rPr>
              <a:t>Korean   </a:t>
            </a:r>
            <a:r>
              <a:rPr b="0" i="0" lang="en-IN" sz="1300" u="none" cap="none" strike="noStrike">
                <a:solidFill>
                  <a:srgbClr val="E8604C"/>
                </a:solidFill>
                <a:latin typeface="Arial"/>
                <a:ea typeface="Arial"/>
                <a:cs typeface="Arial"/>
                <a:sym typeface="Arial"/>
              </a:rPr>
              <a:t>quality dipped after Model Update 4.2</a:t>
            </a:r>
            <a:endParaRPr b="0" i="0" sz="1300" u="none" cap="none" strike="noStrike">
              <a:solidFill>
                <a:schemeClr val="dk1"/>
              </a:solidFill>
              <a:latin typeface="Calibri"/>
              <a:ea typeface="Calibri"/>
              <a:cs typeface="Calibri"/>
              <a:sym typeface="Calibri"/>
            </a:endParaRPr>
          </a:p>
        </p:txBody>
      </p:sp>
      <p:sp>
        <p:nvSpPr>
          <p:cNvPr id="139" name="Google Shape;139;g3f49cf63cc2_0_391"/>
          <p:cNvSpPr/>
          <p:nvPr/>
        </p:nvSpPr>
        <p:spPr>
          <a:xfrm>
            <a:off x="6217920" y="3560064"/>
            <a:ext cx="4998900" cy="2011500"/>
          </a:xfrm>
          <a:prstGeom prst="roundRect">
            <a:avLst>
              <a:gd fmla="val 4848"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f49cf63cc2_0_391"/>
          <p:cNvSpPr/>
          <p:nvPr/>
        </p:nvSpPr>
        <p:spPr>
          <a:xfrm>
            <a:off x="6400800" y="3681984"/>
            <a:ext cx="4632900" cy="29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300"/>
              <a:buFont typeface="Arial"/>
              <a:buNone/>
            </a:pPr>
            <a:r>
              <a:rPr b="1" i="0" lang="en-IN" sz="1300" u="none" cap="none" strike="noStrike">
                <a:solidFill>
                  <a:srgbClr val="5A6575"/>
                </a:solidFill>
                <a:latin typeface="Arial"/>
                <a:ea typeface="Arial"/>
                <a:cs typeface="Arial"/>
                <a:sym typeface="Arial"/>
              </a:rPr>
              <a:t>What your team does with it</a:t>
            </a:r>
            <a:endParaRPr b="0" i="0" sz="1300" u="none" cap="none" strike="noStrike">
              <a:solidFill>
                <a:schemeClr val="dk1"/>
              </a:solidFill>
              <a:latin typeface="Calibri"/>
              <a:ea typeface="Calibri"/>
              <a:cs typeface="Calibri"/>
              <a:sym typeface="Calibri"/>
            </a:endParaRPr>
          </a:p>
        </p:txBody>
      </p:sp>
      <p:sp>
        <p:nvSpPr>
          <p:cNvPr id="141" name="Google Shape;141;g3f49cf63cc2_0_391"/>
          <p:cNvSpPr/>
          <p:nvPr/>
        </p:nvSpPr>
        <p:spPr>
          <a:xfrm>
            <a:off x="6400800" y="4023360"/>
            <a:ext cx="4632900" cy="146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Engineering sees which model to fix. Product sees which languages to prioritize. Care reviews the flagged calls. And when an update ships, you know within days whether it actually helped.</a:t>
            </a:r>
            <a:endParaRPr b="0" i="0" sz="1300" u="none" cap="none" strike="noStrike">
              <a:solidFill>
                <a:schemeClr val="dk1"/>
              </a:solidFill>
              <a:latin typeface="Calibri"/>
              <a:ea typeface="Calibri"/>
              <a:cs typeface="Calibri"/>
              <a:sym typeface="Calibri"/>
            </a:endParaRPr>
          </a:p>
        </p:txBody>
      </p:sp>
      <p:sp>
        <p:nvSpPr>
          <p:cNvPr id="142" name="Google Shape;142;g3f49cf63cc2_0_391"/>
          <p:cNvSpPr/>
          <p:nvPr/>
        </p:nvSpPr>
        <p:spPr>
          <a:xfrm>
            <a:off x="670560" y="6035040"/>
            <a:ext cx="108507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5B1"/>
              </a:buClr>
              <a:buSzPts val="1200"/>
              <a:buFont typeface="Arial"/>
              <a:buNone/>
            </a:pPr>
            <a:r>
              <a:rPr b="0" i="1" lang="en-IN" sz="1200" u="none" cap="none" strike="noStrike">
                <a:solidFill>
                  <a:srgbClr val="9AA5B1"/>
                </a:solidFill>
                <a:latin typeface="Arial"/>
                <a:ea typeface="Arial"/>
                <a:cs typeface="Arial"/>
                <a:sym typeface="Arial"/>
              </a:rPr>
              <a:t>Illustrative dashboard. Real numbers come from your traffic.</a:t>
            </a:r>
            <a:endParaRPr b="0" i="0" sz="1200" u="none" cap="none" strike="noStrike">
              <a:solidFill>
                <a:schemeClr val="dk1"/>
              </a:solidFill>
              <a:latin typeface="Calibri"/>
              <a:ea typeface="Calibri"/>
              <a:cs typeface="Calibri"/>
              <a:sym typeface="Calibri"/>
            </a:endParaRPr>
          </a:p>
        </p:txBody>
      </p:sp>
      <p:sp>
        <p:nvSpPr>
          <p:cNvPr id="143" name="Google Shape;143;g3f49cf63cc2_0_391"/>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g3f49cf63cc2_0_75"/>
          <p:cNvSpPr/>
          <p:nvPr/>
        </p:nvSpPr>
        <p:spPr>
          <a:xfrm>
            <a:off x="0" y="0"/>
            <a:ext cx="5547300" cy="6858000"/>
          </a:xfrm>
          <a:prstGeom prst="rect">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f49cf63cc2_0_75"/>
          <p:cNvSpPr/>
          <p:nvPr/>
        </p:nvSpPr>
        <p:spPr>
          <a:xfrm>
            <a:off x="-1341120" y="4876800"/>
            <a:ext cx="3048000" cy="3048000"/>
          </a:xfrm>
          <a:prstGeom prst="ellipse">
            <a:avLst/>
          </a:prstGeom>
          <a:solidFill>
            <a:srgbClr val="12816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f49cf63cc2_0_75"/>
          <p:cNvSpPr/>
          <p:nvPr/>
        </p:nvSpPr>
        <p:spPr>
          <a:xfrm>
            <a:off x="609600" y="1219200"/>
            <a:ext cx="4389300" cy="1584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500"/>
              <a:buFont typeface="Trebuchet MS"/>
              <a:buNone/>
            </a:pPr>
            <a:r>
              <a:rPr b="1" i="0" lang="en-IN" sz="3500" u="none" cap="none" strike="noStrike">
                <a:solidFill>
                  <a:srgbClr val="FFFFFF"/>
                </a:solidFill>
                <a:latin typeface="Trebuchet MS"/>
                <a:ea typeface="Trebuchet MS"/>
                <a:cs typeface="Trebuchet MS"/>
                <a:sym typeface="Trebuchet MS"/>
              </a:rPr>
              <a:t>This exists only in research papers.</a:t>
            </a:r>
            <a:endParaRPr b="0" i="0" sz="3500" u="none" cap="none" strike="noStrike">
              <a:solidFill>
                <a:schemeClr val="dk1"/>
              </a:solidFill>
              <a:latin typeface="Calibri"/>
              <a:ea typeface="Calibri"/>
              <a:cs typeface="Calibri"/>
              <a:sym typeface="Calibri"/>
            </a:endParaRPr>
          </a:p>
        </p:txBody>
      </p:sp>
      <p:sp>
        <p:nvSpPr>
          <p:cNvPr id="152" name="Google Shape;152;g3f49cf63cc2_0_75"/>
          <p:cNvSpPr/>
          <p:nvPr/>
        </p:nvSpPr>
        <p:spPr>
          <a:xfrm>
            <a:off x="609600" y="2987040"/>
            <a:ext cx="41451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FF4F0"/>
              </a:buClr>
              <a:buSzPts val="1700"/>
              <a:buFont typeface="Arial"/>
              <a:buNone/>
            </a:pPr>
            <a:r>
              <a:rPr b="0" i="0" lang="en-IN" sz="1700" u="none" cap="none" strike="noStrike">
                <a:solidFill>
                  <a:srgbClr val="DFF4F0"/>
                </a:solidFill>
                <a:latin typeface="Arial"/>
                <a:ea typeface="Arial"/>
                <a:cs typeface="Arial"/>
                <a:sym typeface="Arial"/>
              </a:rPr>
              <a:t>COMET, MetricX, Meta's prosody metrics: lab tools. No product runs them on live calls.</a:t>
            </a:r>
            <a:endParaRPr b="0" i="0" sz="1700" u="none" cap="none" strike="noStrike">
              <a:solidFill>
                <a:schemeClr val="dk1"/>
              </a:solidFill>
              <a:latin typeface="Calibri"/>
              <a:ea typeface="Calibri"/>
              <a:cs typeface="Calibri"/>
              <a:sym typeface="Calibri"/>
            </a:endParaRPr>
          </a:p>
        </p:txBody>
      </p:sp>
      <p:sp>
        <p:nvSpPr>
          <p:cNvPr id="153" name="Google Shape;153;g3f49cf63cc2_0_75"/>
          <p:cNvSpPr/>
          <p:nvPr/>
        </p:nvSpPr>
        <p:spPr>
          <a:xfrm>
            <a:off x="609600" y="4572000"/>
            <a:ext cx="3170100" cy="512100"/>
          </a:xfrm>
          <a:prstGeom prst="roundRect">
            <a:avLst>
              <a:gd fmla="val 50000" name="adj"/>
            </a:avLst>
          </a:prstGeom>
          <a:solidFill>
            <a:srgbClr val="1C2E6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g3f49cf63cc2_0_75"/>
          <p:cNvSpPr/>
          <p:nvPr/>
        </p:nvSpPr>
        <p:spPr>
          <a:xfrm>
            <a:off x="609600" y="4596384"/>
            <a:ext cx="3170100" cy="463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Trebuchet MS"/>
              <a:buNone/>
            </a:pPr>
            <a:r>
              <a:rPr b="1" i="0" lang="en-IN" sz="1300" u="none" cap="none" strike="noStrike">
                <a:solidFill>
                  <a:srgbClr val="FFFFFF"/>
                </a:solidFill>
                <a:latin typeface="Trebuchet MS"/>
                <a:ea typeface="Trebuchet MS"/>
                <a:cs typeface="Trebuchet MS"/>
                <a:sym typeface="Trebuchet MS"/>
              </a:rPr>
              <a:t>PATENT FILING IN PROGRESS</a:t>
            </a:r>
            <a:endParaRPr b="0" i="0" sz="1300" u="none" cap="none" strike="noStrike">
              <a:solidFill>
                <a:schemeClr val="dk1"/>
              </a:solidFill>
              <a:latin typeface="Calibri"/>
              <a:ea typeface="Calibri"/>
              <a:cs typeface="Calibri"/>
              <a:sym typeface="Calibri"/>
            </a:endParaRPr>
          </a:p>
        </p:txBody>
      </p:sp>
      <p:sp>
        <p:nvSpPr>
          <p:cNvPr id="155" name="Google Shape;155;g3f49cf63cc2_0_75"/>
          <p:cNvSpPr/>
          <p:nvPr/>
        </p:nvSpPr>
        <p:spPr>
          <a:xfrm>
            <a:off x="609600" y="5364480"/>
            <a:ext cx="4267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2400"/>
              <a:buFont typeface="Trebuchet MS"/>
              <a:buNone/>
            </a:pPr>
            <a:r>
              <a:rPr b="1" i="0" lang="en-IN" sz="2400" u="none" cap="none" strike="noStrike">
                <a:solidFill>
                  <a:srgbClr val="1C2E60"/>
                </a:solidFill>
                <a:latin typeface="Trebuchet MS"/>
                <a:ea typeface="Trebuchet MS"/>
                <a:cs typeface="Trebuchet MS"/>
                <a:sym typeface="Trebuchet MS"/>
              </a:rPr>
              <a:t>We productized it first.</a:t>
            </a:r>
            <a:endParaRPr b="0" i="0" sz="2400" u="none" cap="none" strike="noStrike">
              <a:solidFill>
                <a:schemeClr val="dk1"/>
              </a:solidFill>
              <a:latin typeface="Calibri"/>
              <a:ea typeface="Calibri"/>
              <a:cs typeface="Calibri"/>
              <a:sym typeface="Calibri"/>
            </a:endParaRPr>
          </a:p>
        </p:txBody>
      </p:sp>
      <p:sp>
        <p:nvSpPr>
          <p:cNvPr id="156" name="Google Shape;156;g3f49cf63cc2_0_75"/>
          <p:cNvSpPr/>
          <p:nvPr/>
        </p:nvSpPr>
        <p:spPr>
          <a:xfrm>
            <a:off x="6096000" y="914400"/>
            <a:ext cx="53643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333"/>
              </a:buClr>
              <a:buSzPts val="2400"/>
              <a:buFont typeface="Trebuchet MS"/>
              <a:buNone/>
            </a:pPr>
            <a:r>
              <a:rPr b="1" i="0" lang="en-IN" sz="2400" u="none" cap="none" strike="noStrike">
                <a:solidFill>
                  <a:srgbClr val="1A2333"/>
                </a:solidFill>
                <a:latin typeface="Trebuchet MS"/>
                <a:ea typeface="Trebuchet MS"/>
                <a:cs typeface="Trebuchet MS"/>
                <a:sym typeface="Trebuchet MS"/>
              </a:rPr>
              <a:t>The CompNova layer</a:t>
            </a:r>
            <a:endParaRPr b="0" i="0" sz="2400" u="none" cap="none" strike="noStrike">
              <a:solidFill>
                <a:schemeClr val="dk1"/>
              </a:solidFill>
              <a:latin typeface="Calibri"/>
              <a:ea typeface="Calibri"/>
              <a:cs typeface="Calibri"/>
              <a:sym typeface="Calibri"/>
            </a:endParaRPr>
          </a:p>
        </p:txBody>
      </p:sp>
      <p:sp>
        <p:nvSpPr>
          <p:cNvPr id="157" name="Google Shape;157;g3f49cf63cc2_0_75"/>
          <p:cNvSpPr/>
          <p:nvPr/>
        </p:nvSpPr>
        <p:spPr>
          <a:xfrm>
            <a:off x="6096000" y="1633728"/>
            <a:ext cx="85200" cy="914400"/>
          </a:xfrm>
          <a:prstGeom prst="rect">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3f49cf63cc2_0_75"/>
          <p:cNvSpPr/>
          <p:nvPr/>
        </p:nvSpPr>
        <p:spPr>
          <a:xfrm>
            <a:off x="6364224" y="1584960"/>
            <a:ext cx="5120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900"/>
              <a:buFont typeface="Trebuchet MS"/>
              <a:buNone/>
            </a:pPr>
            <a:r>
              <a:rPr b="1" i="0" lang="en-IN" sz="1900" u="none" cap="none" strike="noStrike">
                <a:solidFill>
                  <a:srgbClr val="1C2E60"/>
                </a:solidFill>
                <a:latin typeface="Trebuchet MS"/>
                <a:ea typeface="Trebuchet MS"/>
                <a:cs typeface="Trebuchet MS"/>
                <a:sym typeface="Trebuchet MS"/>
              </a:rPr>
              <a:t>Four AI graders per call</a:t>
            </a:r>
            <a:endParaRPr b="0" i="0" sz="1900" u="none" cap="none" strike="noStrike">
              <a:solidFill>
                <a:schemeClr val="dk1"/>
              </a:solidFill>
              <a:latin typeface="Calibri"/>
              <a:ea typeface="Calibri"/>
              <a:cs typeface="Calibri"/>
              <a:sym typeface="Calibri"/>
            </a:endParaRPr>
          </a:p>
        </p:txBody>
      </p:sp>
      <p:sp>
        <p:nvSpPr>
          <p:cNvPr id="159" name="Google Shape;159;g3f49cf63cc2_0_75"/>
          <p:cNvSpPr/>
          <p:nvPr/>
        </p:nvSpPr>
        <p:spPr>
          <a:xfrm>
            <a:off x="6364224" y="1975104"/>
            <a:ext cx="51207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500"/>
              <a:buFont typeface="Arial"/>
              <a:buNone/>
            </a:pPr>
            <a:r>
              <a:rPr b="0" i="0" lang="en-IN" sz="1500" u="none" cap="none" strike="noStrike">
                <a:solidFill>
                  <a:srgbClr val="5A6575"/>
                </a:solidFill>
                <a:latin typeface="Arial"/>
                <a:ea typeface="Arial"/>
                <a:cs typeface="Arial"/>
                <a:sym typeface="Arial"/>
              </a:rPr>
              <a:t>Accuracy • Meaning • Sentiment • Emotion</a:t>
            </a:r>
            <a:endParaRPr b="0" i="0" sz="1500" u="none" cap="none" strike="noStrike">
              <a:solidFill>
                <a:schemeClr val="dk1"/>
              </a:solidFill>
              <a:latin typeface="Calibri"/>
              <a:ea typeface="Calibri"/>
              <a:cs typeface="Calibri"/>
              <a:sym typeface="Calibri"/>
            </a:endParaRPr>
          </a:p>
        </p:txBody>
      </p:sp>
      <p:sp>
        <p:nvSpPr>
          <p:cNvPr id="160" name="Google Shape;160;g3f49cf63cc2_0_75"/>
          <p:cNvSpPr/>
          <p:nvPr/>
        </p:nvSpPr>
        <p:spPr>
          <a:xfrm>
            <a:off x="6096000" y="2828544"/>
            <a:ext cx="85200" cy="914400"/>
          </a:xfrm>
          <a:prstGeom prst="rect">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f49cf63cc2_0_75"/>
          <p:cNvSpPr/>
          <p:nvPr/>
        </p:nvSpPr>
        <p:spPr>
          <a:xfrm>
            <a:off x="6364224" y="2779776"/>
            <a:ext cx="5120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900"/>
              <a:buFont typeface="Trebuchet MS"/>
              <a:buNone/>
            </a:pPr>
            <a:r>
              <a:rPr b="1" i="0" lang="en-IN" sz="1900" u="none" cap="none" strike="noStrike">
                <a:solidFill>
                  <a:srgbClr val="1C2E60"/>
                </a:solidFill>
                <a:latin typeface="Trebuchet MS"/>
                <a:ea typeface="Trebuchet MS"/>
                <a:cs typeface="Trebuchet MS"/>
                <a:sym typeface="Trebuchet MS"/>
              </a:rPr>
              <a:t>Any model, one scale</a:t>
            </a:r>
            <a:endParaRPr b="0" i="0" sz="1900" u="none" cap="none" strike="noStrike">
              <a:solidFill>
                <a:schemeClr val="dk1"/>
              </a:solidFill>
              <a:latin typeface="Calibri"/>
              <a:ea typeface="Calibri"/>
              <a:cs typeface="Calibri"/>
              <a:sym typeface="Calibri"/>
            </a:endParaRPr>
          </a:p>
        </p:txBody>
      </p:sp>
      <p:sp>
        <p:nvSpPr>
          <p:cNvPr id="162" name="Google Shape;162;g3f49cf63cc2_0_75"/>
          <p:cNvSpPr/>
          <p:nvPr/>
        </p:nvSpPr>
        <p:spPr>
          <a:xfrm>
            <a:off x="6364224" y="3169920"/>
            <a:ext cx="51207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500"/>
              <a:buFont typeface="Arial"/>
              <a:buNone/>
            </a:pPr>
            <a:r>
              <a:rPr b="0" i="0" lang="en-IN" sz="1500" u="none" cap="none" strike="noStrike">
                <a:solidFill>
                  <a:srgbClr val="5A6575"/>
                </a:solidFill>
                <a:latin typeface="Arial"/>
                <a:ea typeface="Arial"/>
                <a:cs typeface="Arial"/>
                <a:sym typeface="Arial"/>
              </a:rPr>
              <a:t>Swap engines freely. The scorecard stays.</a:t>
            </a:r>
            <a:endParaRPr b="0" i="0" sz="1500" u="none" cap="none" strike="noStrike">
              <a:solidFill>
                <a:schemeClr val="dk1"/>
              </a:solidFill>
              <a:latin typeface="Calibri"/>
              <a:ea typeface="Calibri"/>
              <a:cs typeface="Calibri"/>
              <a:sym typeface="Calibri"/>
            </a:endParaRPr>
          </a:p>
        </p:txBody>
      </p:sp>
      <p:sp>
        <p:nvSpPr>
          <p:cNvPr id="163" name="Google Shape;163;g3f49cf63cc2_0_75"/>
          <p:cNvSpPr/>
          <p:nvPr/>
        </p:nvSpPr>
        <p:spPr>
          <a:xfrm>
            <a:off x="6096000" y="4023360"/>
            <a:ext cx="85200" cy="914400"/>
          </a:xfrm>
          <a:prstGeom prst="rect">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f49cf63cc2_0_75"/>
          <p:cNvSpPr/>
          <p:nvPr/>
        </p:nvSpPr>
        <p:spPr>
          <a:xfrm>
            <a:off x="6364224" y="3974592"/>
            <a:ext cx="5120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900"/>
              <a:buFont typeface="Trebuchet MS"/>
              <a:buNone/>
            </a:pPr>
            <a:r>
              <a:rPr b="1" i="0" lang="en-IN" sz="1900" u="none" cap="none" strike="noStrike">
                <a:solidFill>
                  <a:srgbClr val="1C2E60"/>
                </a:solidFill>
                <a:latin typeface="Trebuchet MS"/>
                <a:ea typeface="Trebuchet MS"/>
                <a:cs typeface="Trebuchet MS"/>
                <a:sym typeface="Trebuchet MS"/>
              </a:rPr>
              <a:t>Live and reference-free</a:t>
            </a:r>
            <a:endParaRPr b="0" i="0" sz="1900" u="none" cap="none" strike="noStrike">
              <a:solidFill>
                <a:schemeClr val="dk1"/>
              </a:solidFill>
              <a:latin typeface="Calibri"/>
              <a:ea typeface="Calibri"/>
              <a:cs typeface="Calibri"/>
              <a:sym typeface="Calibri"/>
            </a:endParaRPr>
          </a:p>
        </p:txBody>
      </p:sp>
      <p:sp>
        <p:nvSpPr>
          <p:cNvPr id="165" name="Google Shape;165;g3f49cf63cc2_0_75"/>
          <p:cNvSpPr/>
          <p:nvPr/>
        </p:nvSpPr>
        <p:spPr>
          <a:xfrm>
            <a:off x="6364224" y="4364736"/>
            <a:ext cx="51207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500"/>
              <a:buFont typeface="Arial"/>
              <a:buNone/>
            </a:pPr>
            <a:r>
              <a:rPr b="0" i="0" lang="en-IN" sz="1500" u="none" cap="none" strike="noStrike">
                <a:solidFill>
                  <a:srgbClr val="5A6575"/>
                </a:solidFill>
                <a:latin typeface="Arial"/>
                <a:ea typeface="Arial"/>
                <a:cs typeface="Arial"/>
                <a:sym typeface="Arial"/>
              </a:rPr>
              <a:t>Real traffic, not test sets.</a:t>
            </a:r>
            <a:endParaRPr b="0" i="0" sz="1500" u="none" cap="none" strike="noStrike">
              <a:solidFill>
                <a:schemeClr val="dk1"/>
              </a:solidFill>
              <a:latin typeface="Calibri"/>
              <a:ea typeface="Calibri"/>
              <a:cs typeface="Calibri"/>
              <a:sym typeface="Calibri"/>
            </a:endParaRPr>
          </a:p>
        </p:txBody>
      </p:sp>
      <p:sp>
        <p:nvSpPr>
          <p:cNvPr id="166" name="Google Shape;166;g3f49cf63cc2_0_75"/>
          <p:cNvSpPr/>
          <p:nvPr/>
        </p:nvSpPr>
        <p:spPr>
          <a:xfrm>
            <a:off x="6096000" y="5218176"/>
            <a:ext cx="85200" cy="914400"/>
          </a:xfrm>
          <a:prstGeom prst="rect">
            <a:avLst/>
          </a:prstGeom>
          <a:solidFill>
            <a:srgbClr val="1FA89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3f49cf63cc2_0_75"/>
          <p:cNvSpPr/>
          <p:nvPr/>
        </p:nvSpPr>
        <p:spPr>
          <a:xfrm>
            <a:off x="6364224" y="5169408"/>
            <a:ext cx="5120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C2E60"/>
              </a:buClr>
              <a:buSzPts val="1900"/>
              <a:buFont typeface="Trebuchet MS"/>
              <a:buNone/>
            </a:pPr>
            <a:r>
              <a:rPr b="1" i="0" lang="en-IN" sz="1900" u="none" cap="none" strike="noStrike">
                <a:solidFill>
                  <a:srgbClr val="1C2E60"/>
                </a:solidFill>
                <a:latin typeface="Trebuchet MS"/>
                <a:ea typeface="Trebuchet MS"/>
                <a:cs typeface="Trebuchet MS"/>
                <a:sym typeface="Trebuchet MS"/>
              </a:rPr>
              <a:t>Plain answers</a:t>
            </a:r>
            <a:endParaRPr b="0" i="0" sz="1900" u="none" cap="none" strike="noStrike">
              <a:solidFill>
                <a:schemeClr val="dk1"/>
              </a:solidFill>
              <a:latin typeface="Calibri"/>
              <a:ea typeface="Calibri"/>
              <a:cs typeface="Calibri"/>
              <a:sym typeface="Calibri"/>
            </a:endParaRPr>
          </a:p>
        </p:txBody>
      </p:sp>
      <p:sp>
        <p:nvSpPr>
          <p:cNvPr id="168" name="Google Shape;168;g3f49cf63cc2_0_75"/>
          <p:cNvSpPr/>
          <p:nvPr/>
        </p:nvSpPr>
        <p:spPr>
          <a:xfrm>
            <a:off x="6364224" y="5559552"/>
            <a:ext cx="51207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575"/>
              </a:buClr>
              <a:buSzPts val="1500"/>
              <a:buFont typeface="Arial"/>
              <a:buNone/>
            </a:pPr>
            <a:r>
              <a:rPr b="0" i="0" lang="en-IN" sz="1500" u="none" cap="none" strike="noStrike">
                <a:solidFill>
                  <a:srgbClr val="5A6575"/>
                </a:solidFill>
                <a:latin typeface="Arial"/>
                <a:ea typeface="Arial"/>
                <a:cs typeface="Arial"/>
                <a:sym typeface="Arial"/>
              </a:rPr>
              <a:t>Which language fails. Which model wins. Which call needs a human.</a:t>
            </a:r>
            <a:endParaRPr b="0" i="0" sz="1500" u="none" cap="none" strike="noStrike">
              <a:solidFill>
                <a:schemeClr val="dk1"/>
              </a:solidFill>
              <a:latin typeface="Calibri"/>
              <a:ea typeface="Calibri"/>
              <a:cs typeface="Calibri"/>
              <a:sym typeface="Calibri"/>
            </a:endParaRPr>
          </a:p>
        </p:txBody>
      </p:sp>
      <p:sp>
        <p:nvSpPr>
          <p:cNvPr id="169" name="Google Shape;169;g3f49cf63cc2_0_75"/>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pic>
        <p:nvPicPr>
          <p:cNvPr descr="logo.png" id="175" name="Google Shape;175;g3f4a47ca9f1_1_117"/>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176" name="Google Shape;176;g3f4a47ca9f1_1_117"/>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Proposed Complete Solution</a:t>
            </a:r>
            <a:endParaRPr b="0" i="0" sz="3100" u="none" cap="none" strike="noStrike">
              <a:solidFill>
                <a:schemeClr val="dk1"/>
              </a:solidFill>
              <a:latin typeface="Calibri"/>
              <a:ea typeface="Calibri"/>
              <a:cs typeface="Calibri"/>
              <a:sym typeface="Calibri"/>
            </a:endParaRPr>
          </a:p>
        </p:txBody>
      </p:sp>
      <p:sp>
        <p:nvSpPr>
          <p:cNvPr id="177" name="Google Shape;177;g3f4a47ca9f1_1_117"/>
          <p:cNvSpPr/>
          <p:nvPr/>
        </p:nvSpPr>
        <p:spPr>
          <a:xfrm>
            <a:off x="609600" y="1645920"/>
            <a:ext cx="2255700" cy="1097100"/>
          </a:xfrm>
          <a:prstGeom prst="roundRect">
            <a:avLst>
              <a:gd fmla="val 8889"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8" name="Google Shape;178;g3f4a47ca9f1_1_117"/>
          <p:cNvSpPr/>
          <p:nvPr/>
        </p:nvSpPr>
        <p:spPr>
          <a:xfrm>
            <a:off x="682752" y="1645920"/>
            <a:ext cx="2109300" cy="10971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A2333"/>
              </a:buClr>
              <a:buSzPts val="1300"/>
              <a:buFont typeface="Arial"/>
              <a:buNone/>
            </a:pPr>
            <a:r>
              <a:rPr b="1" i="0" lang="en-IN" sz="1300" u="none" cap="none" strike="noStrike">
                <a:solidFill>
                  <a:srgbClr val="1A2333"/>
                </a:solidFill>
                <a:latin typeface="Arial"/>
                <a:ea typeface="Arial"/>
                <a:cs typeface="Arial"/>
                <a:sym typeface="Arial"/>
              </a:rPr>
              <a:t>Customer Makes Call in English</a:t>
            </a:r>
            <a:endParaRPr b="0" i="0" sz="1300" u="none" cap="none" strike="noStrike">
              <a:solidFill>
                <a:schemeClr val="dk1"/>
              </a:solidFill>
              <a:latin typeface="Calibri"/>
              <a:ea typeface="Calibri"/>
              <a:cs typeface="Calibri"/>
              <a:sym typeface="Calibri"/>
            </a:endParaRPr>
          </a:p>
        </p:txBody>
      </p:sp>
      <p:sp>
        <p:nvSpPr>
          <p:cNvPr id="179" name="Google Shape;179;g3f4a47ca9f1_1_117"/>
          <p:cNvSpPr/>
          <p:nvPr/>
        </p:nvSpPr>
        <p:spPr>
          <a:xfrm>
            <a:off x="2889504" y="2011680"/>
            <a:ext cx="243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80" name="Google Shape;180;g3f4a47ca9f1_1_117"/>
          <p:cNvSpPr/>
          <p:nvPr/>
        </p:nvSpPr>
        <p:spPr>
          <a:xfrm>
            <a:off x="3145536" y="1645920"/>
            <a:ext cx="2255700" cy="1097100"/>
          </a:xfrm>
          <a:prstGeom prst="roundRect">
            <a:avLst>
              <a:gd fmla="val 8889"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 name="Google Shape;181;g3f4a47ca9f1_1_117"/>
          <p:cNvSpPr/>
          <p:nvPr/>
        </p:nvSpPr>
        <p:spPr>
          <a:xfrm>
            <a:off x="3218688" y="1645920"/>
            <a:ext cx="2109300" cy="10971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A2333"/>
              </a:buClr>
              <a:buSzPts val="1300"/>
              <a:buFont typeface="Arial"/>
              <a:buNone/>
            </a:pPr>
            <a:r>
              <a:rPr b="1" i="0" lang="en-IN" sz="1300" u="none" cap="none" strike="noStrike">
                <a:solidFill>
                  <a:srgbClr val="1A2333"/>
                </a:solidFill>
                <a:latin typeface="Arial"/>
                <a:ea typeface="Arial"/>
                <a:cs typeface="Arial"/>
                <a:sym typeface="Arial"/>
              </a:rPr>
              <a:t>Dials *8</a:t>
            </a:r>
            <a:r>
              <a:rPr b="1" lang="en-IN" sz="1300">
                <a:solidFill>
                  <a:srgbClr val="1A2333"/>
                </a:solidFill>
              </a:rPr>
              <a:t>7*</a:t>
            </a:r>
            <a:r>
              <a:rPr b="1" i="0" lang="en-IN" sz="1300" u="none" cap="none" strike="noStrike">
                <a:solidFill>
                  <a:srgbClr val="1A2333"/>
                </a:solidFill>
                <a:latin typeface="Arial"/>
                <a:ea typeface="Arial"/>
                <a:cs typeface="Arial"/>
                <a:sym typeface="Arial"/>
              </a:rPr>
              <a:t> to turn on Translation Service</a:t>
            </a:r>
            <a:endParaRPr b="0" i="0" sz="1300" u="none" cap="none" strike="noStrike">
              <a:solidFill>
                <a:schemeClr val="dk1"/>
              </a:solidFill>
              <a:latin typeface="Calibri"/>
              <a:ea typeface="Calibri"/>
              <a:cs typeface="Calibri"/>
              <a:sym typeface="Calibri"/>
            </a:endParaRPr>
          </a:p>
        </p:txBody>
      </p:sp>
      <p:sp>
        <p:nvSpPr>
          <p:cNvPr id="182" name="Google Shape;182;g3f4a47ca9f1_1_117"/>
          <p:cNvSpPr/>
          <p:nvPr/>
        </p:nvSpPr>
        <p:spPr>
          <a:xfrm>
            <a:off x="5425440" y="2011680"/>
            <a:ext cx="243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83" name="Google Shape;183;g3f4a47ca9f1_1_117"/>
          <p:cNvSpPr/>
          <p:nvPr/>
        </p:nvSpPr>
        <p:spPr>
          <a:xfrm>
            <a:off x="5681472" y="1560576"/>
            <a:ext cx="2743200" cy="1268100"/>
          </a:xfrm>
          <a:prstGeom prst="roundRect">
            <a:avLst>
              <a:gd fmla="val 7692" name="adj"/>
            </a:avLst>
          </a:prstGeom>
          <a:solidFill>
            <a:srgbClr val="1C2E6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4" name="Google Shape;184;g3f4a47ca9f1_1_117"/>
          <p:cNvSpPr/>
          <p:nvPr/>
        </p:nvSpPr>
        <p:spPr>
          <a:xfrm>
            <a:off x="5754624" y="1560576"/>
            <a:ext cx="2596800" cy="12681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200"/>
              <a:buFont typeface="Arial"/>
              <a:buNone/>
            </a:pPr>
            <a:r>
              <a:rPr b="1" i="0" lang="en-IN" sz="1200" u="none" cap="none" strike="noStrike">
                <a:solidFill>
                  <a:srgbClr val="FFFFFF"/>
                </a:solidFill>
                <a:latin typeface="Arial"/>
                <a:ea typeface="Arial"/>
                <a:cs typeface="Arial"/>
                <a:sym typeface="Arial"/>
              </a:rPr>
              <a:t>English Audio gets routed to NVIDIA AI platform where Translation is performed by any selected model</a:t>
            </a:r>
            <a:endParaRPr b="0" i="0" sz="1200" u="none" cap="none" strike="noStrike">
              <a:solidFill>
                <a:schemeClr val="dk1"/>
              </a:solidFill>
              <a:latin typeface="Calibri"/>
              <a:ea typeface="Calibri"/>
              <a:cs typeface="Calibri"/>
              <a:sym typeface="Calibri"/>
            </a:endParaRPr>
          </a:p>
        </p:txBody>
      </p:sp>
      <p:sp>
        <p:nvSpPr>
          <p:cNvPr id="185" name="Google Shape;185;g3f4a47ca9f1_1_117"/>
          <p:cNvSpPr/>
          <p:nvPr/>
        </p:nvSpPr>
        <p:spPr>
          <a:xfrm>
            <a:off x="8449056" y="2011680"/>
            <a:ext cx="243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86" name="Google Shape;186;g3f4a47ca9f1_1_117"/>
          <p:cNvSpPr/>
          <p:nvPr/>
        </p:nvSpPr>
        <p:spPr>
          <a:xfrm>
            <a:off x="8705088" y="1645920"/>
            <a:ext cx="2804100" cy="1097100"/>
          </a:xfrm>
          <a:prstGeom prst="roundRect">
            <a:avLst>
              <a:gd fmla="val 8889"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 name="Google Shape;187;g3f4a47ca9f1_1_117"/>
          <p:cNvSpPr/>
          <p:nvPr/>
        </p:nvSpPr>
        <p:spPr>
          <a:xfrm>
            <a:off x="8778240" y="1645920"/>
            <a:ext cx="2658000" cy="10971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A2333"/>
              </a:buClr>
              <a:buSzPts val="1200"/>
              <a:buFont typeface="Arial"/>
              <a:buNone/>
            </a:pPr>
            <a:r>
              <a:rPr b="1" i="0" lang="en-IN" sz="1200" u="none" cap="none" strike="noStrike">
                <a:solidFill>
                  <a:srgbClr val="1A2333"/>
                </a:solidFill>
                <a:latin typeface="Arial"/>
                <a:ea typeface="Arial"/>
                <a:cs typeface="Arial"/>
                <a:sym typeface="Arial"/>
              </a:rPr>
              <a:t>Translation Happens and Spanish Audio is sent to Receiver</a:t>
            </a:r>
            <a:endParaRPr b="0" i="0" sz="1200" u="none" cap="none" strike="noStrike">
              <a:solidFill>
                <a:schemeClr val="dk1"/>
              </a:solidFill>
              <a:latin typeface="Calibri"/>
              <a:ea typeface="Calibri"/>
              <a:cs typeface="Calibri"/>
              <a:sym typeface="Calibri"/>
            </a:endParaRPr>
          </a:p>
        </p:txBody>
      </p:sp>
      <p:sp>
        <p:nvSpPr>
          <p:cNvPr id="188" name="Google Shape;188;g3f4a47ca9f1_1_117"/>
          <p:cNvSpPr/>
          <p:nvPr/>
        </p:nvSpPr>
        <p:spPr>
          <a:xfrm>
            <a:off x="9936480" y="2779776"/>
            <a:ext cx="365700" cy="29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89" name="Google Shape;189;g3f4a47ca9f1_1_117"/>
          <p:cNvSpPr/>
          <p:nvPr/>
        </p:nvSpPr>
        <p:spPr>
          <a:xfrm>
            <a:off x="8705088" y="3108960"/>
            <a:ext cx="2804100" cy="1158300"/>
          </a:xfrm>
          <a:prstGeom prst="roundRect">
            <a:avLst>
              <a:gd fmla="val 8421"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 name="Google Shape;190;g3f4a47ca9f1_1_117"/>
          <p:cNvSpPr/>
          <p:nvPr/>
        </p:nvSpPr>
        <p:spPr>
          <a:xfrm>
            <a:off x="8778240" y="3108960"/>
            <a:ext cx="26580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200"/>
              <a:buFont typeface="Arial"/>
              <a:buNone/>
            </a:pPr>
            <a:r>
              <a:rPr b="1" i="0" lang="en-IN" sz="1200" u="none" cap="none" strike="noStrike">
                <a:solidFill>
                  <a:srgbClr val="FFFFFF"/>
                </a:solidFill>
                <a:latin typeface="Arial"/>
                <a:ea typeface="Arial"/>
                <a:cs typeface="Arial"/>
                <a:sym typeface="Arial"/>
              </a:rPr>
              <a:t>Spanish Audio is simultaneously forked to CompNova Intelligence Layer</a:t>
            </a:r>
            <a:endParaRPr b="0" i="0" sz="1200" u="none" cap="none" strike="noStrike">
              <a:solidFill>
                <a:schemeClr val="dk1"/>
              </a:solidFill>
              <a:latin typeface="Calibri"/>
              <a:ea typeface="Calibri"/>
              <a:cs typeface="Calibri"/>
              <a:sym typeface="Calibri"/>
            </a:endParaRPr>
          </a:p>
        </p:txBody>
      </p:sp>
      <p:sp>
        <p:nvSpPr>
          <p:cNvPr id="191" name="Google Shape;191;g3f4a47ca9f1_1_117"/>
          <p:cNvSpPr/>
          <p:nvPr/>
        </p:nvSpPr>
        <p:spPr>
          <a:xfrm>
            <a:off x="9936480" y="4291584"/>
            <a:ext cx="365700" cy="29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92" name="Google Shape;192;g3f4a47ca9f1_1_117"/>
          <p:cNvSpPr/>
          <p:nvPr/>
        </p:nvSpPr>
        <p:spPr>
          <a:xfrm>
            <a:off x="7924800" y="4608576"/>
            <a:ext cx="3584400" cy="1560300"/>
          </a:xfrm>
          <a:prstGeom prst="roundRect">
            <a:avLst>
              <a:gd fmla="val 625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 name="Google Shape;193;g3f4a47ca9f1_1_117"/>
          <p:cNvSpPr/>
          <p:nvPr/>
        </p:nvSpPr>
        <p:spPr>
          <a:xfrm>
            <a:off x="8107680" y="4706112"/>
            <a:ext cx="3267600" cy="13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IN" sz="1200" u="none" cap="none" strike="noStrike">
                <a:solidFill>
                  <a:srgbClr val="FFFFFF"/>
                </a:solidFill>
                <a:latin typeface="Arial"/>
                <a:ea typeface="Arial"/>
                <a:cs typeface="Arial"/>
                <a:sym typeface="Arial"/>
              </a:rPr>
              <a:t>• </a:t>
            </a:r>
            <a:r>
              <a:rPr b="1" lang="en-IN" sz="1200">
                <a:solidFill>
                  <a:srgbClr val="FFFFFF"/>
                </a:solidFill>
              </a:rPr>
              <a:t>Run</a:t>
            </a:r>
            <a:r>
              <a:rPr b="1" i="0" lang="en-IN" sz="1200" u="none" cap="none" strike="noStrike">
                <a:solidFill>
                  <a:srgbClr val="FFFFFF"/>
                </a:solidFill>
                <a:latin typeface="Arial"/>
                <a:ea typeface="Arial"/>
                <a:cs typeface="Arial"/>
                <a:sym typeface="Arial"/>
              </a:rPr>
              <a:t> </a:t>
            </a:r>
            <a:r>
              <a:rPr b="1" lang="en-IN" sz="1200">
                <a:solidFill>
                  <a:srgbClr val="FFFFFF"/>
                </a:solidFill>
              </a:rPr>
              <a:t>t</a:t>
            </a:r>
            <a:r>
              <a:rPr b="1" i="0" lang="en-IN" sz="1200" u="none" cap="none" strike="noStrike">
                <a:solidFill>
                  <a:srgbClr val="FFFFFF"/>
                </a:solidFill>
                <a:latin typeface="Arial"/>
                <a:ea typeface="Arial"/>
                <a:cs typeface="Arial"/>
                <a:sym typeface="Arial"/>
              </a:rPr>
              <a:t>ranslation quality and accuracy evaluation metrics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Arial"/>
              <a:buNone/>
            </a:pPr>
            <a:r>
              <a:rPr b="1" i="0" lang="en-IN" sz="1200" u="none" cap="none" strike="noStrike">
                <a:solidFill>
                  <a:srgbClr val="FFFFFF"/>
                </a:solidFill>
                <a:latin typeface="Arial"/>
                <a:ea typeface="Arial"/>
                <a:cs typeface="Arial"/>
                <a:sym typeface="Arial"/>
              </a:rPr>
              <a:t>• Run </a:t>
            </a:r>
            <a:r>
              <a:rPr b="1" lang="en-IN" sz="1200">
                <a:solidFill>
                  <a:srgbClr val="FFFFFF"/>
                </a:solidFill>
              </a:rPr>
              <a:t>s</a:t>
            </a:r>
            <a:r>
              <a:rPr b="1" i="0" lang="en-IN" sz="1200" u="none" cap="none" strike="noStrike">
                <a:solidFill>
                  <a:srgbClr val="FFFFFF"/>
                </a:solidFill>
                <a:latin typeface="Arial"/>
                <a:ea typeface="Arial"/>
                <a:cs typeface="Arial"/>
                <a:sym typeface="Arial"/>
              </a:rPr>
              <a:t>entiment and emotion preservation metrics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Arial"/>
              <a:buNone/>
            </a:pPr>
            <a:r>
              <a:rPr b="1" i="0" lang="en-IN" sz="1200" u="none" cap="none" strike="noStrike">
                <a:solidFill>
                  <a:srgbClr val="FFFFFF"/>
                </a:solidFill>
                <a:latin typeface="Arial"/>
                <a:ea typeface="Arial"/>
                <a:cs typeface="Arial"/>
                <a:sym typeface="Arial"/>
              </a:rPr>
              <a:t>• Detect errors and provide feedback</a:t>
            </a:r>
            <a:endParaRPr b="0" i="0" sz="1200" u="none" cap="none" strike="noStrike">
              <a:solidFill>
                <a:schemeClr val="dk1"/>
              </a:solidFill>
              <a:latin typeface="Calibri"/>
              <a:ea typeface="Calibri"/>
              <a:cs typeface="Calibri"/>
              <a:sym typeface="Calibri"/>
            </a:endParaRPr>
          </a:p>
        </p:txBody>
      </p:sp>
      <p:sp>
        <p:nvSpPr>
          <p:cNvPr id="194" name="Google Shape;194;g3f4a47ca9f1_1_117"/>
          <p:cNvSpPr/>
          <p:nvPr/>
        </p:nvSpPr>
        <p:spPr>
          <a:xfrm>
            <a:off x="7632192" y="5218176"/>
            <a:ext cx="243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95" name="Google Shape;195;g3f4a47ca9f1_1_117"/>
          <p:cNvSpPr/>
          <p:nvPr/>
        </p:nvSpPr>
        <p:spPr>
          <a:xfrm>
            <a:off x="4023360" y="3108960"/>
            <a:ext cx="3535500" cy="3060000"/>
          </a:xfrm>
          <a:prstGeom prst="roundRect">
            <a:avLst>
              <a:gd fmla="val 3187" name="adj"/>
            </a:avLst>
          </a:prstGeom>
          <a:solidFill>
            <a:srgbClr val="1C2E6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6" name="Google Shape;196;g3f4a47ca9f1_1_117"/>
          <p:cNvSpPr/>
          <p:nvPr/>
        </p:nvSpPr>
        <p:spPr>
          <a:xfrm>
            <a:off x="4206240" y="3230880"/>
            <a:ext cx="31701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FD8CC"/>
              </a:buClr>
              <a:buSzPts val="1300"/>
              <a:buFont typeface="Trebuchet MS"/>
              <a:buNone/>
            </a:pPr>
            <a:r>
              <a:rPr b="1" i="0" lang="en-IN" sz="1300" u="none" cap="none" strike="noStrike">
                <a:solidFill>
                  <a:srgbClr val="8FD8CC"/>
                </a:solidFill>
                <a:latin typeface="Trebuchet MS"/>
                <a:ea typeface="Trebuchet MS"/>
                <a:cs typeface="Trebuchet MS"/>
                <a:sym typeface="Trebuchet MS"/>
              </a:rPr>
              <a:t>Engineering Teams</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8FD8CC"/>
              </a:buClr>
              <a:buSzPts val="1300"/>
              <a:buFont typeface="Trebuchet MS"/>
              <a:buNone/>
            </a:pPr>
            <a:r>
              <a:rPr b="1" i="0" lang="en-IN" sz="1300" u="none" cap="none" strike="noStrike">
                <a:solidFill>
                  <a:srgbClr val="8FD8CC"/>
                </a:solidFill>
                <a:latin typeface="Trebuchet MS"/>
                <a:ea typeface="Trebuchet MS"/>
                <a:cs typeface="Trebuchet MS"/>
                <a:sym typeface="Trebuchet MS"/>
              </a:rPr>
              <a:t>Product Managers</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8FD8CC"/>
              </a:buClr>
              <a:buSzPts val="1300"/>
              <a:buFont typeface="Trebuchet MS"/>
              <a:buNone/>
            </a:pPr>
            <a:r>
              <a:rPr b="1" i="0" lang="en-IN" sz="1300" u="none" cap="none" strike="noStrike">
                <a:solidFill>
                  <a:srgbClr val="8FD8CC"/>
                </a:solidFill>
                <a:latin typeface="Trebuchet MS"/>
                <a:ea typeface="Trebuchet MS"/>
                <a:cs typeface="Trebuchet MS"/>
                <a:sym typeface="Trebuchet MS"/>
              </a:rPr>
              <a:t>Executives</a:t>
            </a:r>
            <a:endParaRPr b="0" i="0" sz="1300" u="none" cap="none" strike="noStrike">
              <a:solidFill>
                <a:schemeClr val="dk1"/>
              </a:solidFill>
              <a:latin typeface="Calibri"/>
              <a:ea typeface="Calibri"/>
              <a:cs typeface="Calibri"/>
              <a:sym typeface="Calibri"/>
            </a:endParaRPr>
          </a:p>
        </p:txBody>
      </p:sp>
      <p:sp>
        <p:nvSpPr>
          <p:cNvPr id="197" name="Google Shape;197;g3f4a47ca9f1_1_117"/>
          <p:cNvSpPr/>
          <p:nvPr/>
        </p:nvSpPr>
        <p:spPr>
          <a:xfrm>
            <a:off x="4206240" y="4169664"/>
            <a:ext cx="3170100" cy="195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Use metrics to compare and choose best translation model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Supplement user feedback about errors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Give users more transparency about translation performance</a:t>
            </a:r>
            <a:endParaRPr b="0" i="0" sz="1200" u="none" cap="none" strike="noStrike">
              <a:solidFill>
                <a:schemeClr val="dk1"/>
              </a:solidFill>
              <a:latin typeface="Calibri"/>
              <a:ea typeface="Calibri"/>
              <a:cs typeface="Calibri"/>
              <a:sym typeface="Calibri"/>
            </a:endParaRPr>
          </a:p>
        </p:txBody>
      </p:sp>
      <p:sp>
        <p:nvSpPr>
          <p:cNvPr id="198" name="Google Shape;198;g3f4a47ca9f1_1_117"/>
          <p:cNvSpPr/>
          <p:nvPr/>
        </p:nvSpPr>
        <p:spPr>
          <a:xfrm>
            <a:off x="3730752" y="5218176"/>
            <a:ext cx="243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A893"/>
              </a:buClr>
              <a:buSzPts val="1300"/>
              <a:buFont typeface="Calibri"/>
              <a:buNone/>
            </a:pPr>
            <a:r>
              <a:rPr b="0" i="0" lang="en-IN" sz="1300" u="none" cap="none" strike="noStrike">
                <a:solidFill>
                  <a:srgbClr val="1FA89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99" name="Google Shape;199;g3f4a47ca9f1_1_117"/>
          <p:cNvSpPr/>
          <p:nvPr/>
        </p:nvSpPr>
        <p:spPr>
          <a:xfrm>
            <a:off x="609600" y="4608576"/>
            <a:ext cx="3048000" cy="1560300"/>
          </a:xfrm>
          <a:prstGeom prst="roundRect">
            <a:avLst>
              <a:gd fmla="val 625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 name="Google Shape;200;g3f4a47ca9f1_1_117"/>
          <p:cNvSpPr/>
          <p:nvPr/>
        </p:nvSpPr>
        <p:spPr>
          <a:xfrm>
            <a:off x="682752" y="4608576"/>
            <a:ext cx="2901600" cy="1560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300"/>
              <a:buFont typeface="Arial"/>
              <a:buNone/>
            </a:pPr>
            <a:r>
              <a:rPr b="1" i="0" lang="en-IN" sz="1300" u="none" cap="none" strike="noStrike">
                <a:solidFill>
                  <a:srgbClr val="FFFFFF"/>
                </a:solidFill>
                <a:latin typeface="Arial"/>
                <a:ea typeface="Arial"/>
                <a:cs typeface="Arial"/>
                <a:sym typeface="Arial"/>
              </a:rPr>
              <a:t>Integrate with CompNova's AInstein service for monitoring and automation.</a:t>
            </a:r>
            <a:endParaRPr b="0" i="0" sz="1300" u="none" cap="none" strike="noStrike">
              <a:solidFill>
                <a:schemeClr val="dk1"/>
              </a:solidFill>
              <a:latin typeface="Calibri"/>
              <a:ea typeface="Calibri"/>
              <a:cs typeface="Calibri"/>
              <a:sym typeface="Calibri"/>
            </a:endParaRPr>
          </a:p>
        </p:txBody>
      </p:sp>
      <p:sp>
        <p:nvSpPr>
          <p:cNvPr id="201" name="Google Shape;201;g3f4a47ca9f1_1_117"/>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pic>
        <p:nvPicPr>
          <p:cNvPr descr="logo.png" id="207" name="Google Shape;207;g3f4a47ca9f1_1_219"/>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208" name="Google Shape;208;g3f4a47ca9f1_1_219"/>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Breakdown of Product</a:t>
            </a:r>
            <a:endParaRPr b="0" i="0" sz="3100" u="none" cap="none" strike="noStrike">
              <a:solidFill>
                <a:schemeClr val="dk1"/>
              </a:solidFill>
              <a:latin typeface="Calibri"/>
              <a:ea typeface="Calibri"/>
              <a:cs typeface="Calibri"/>
              <a:sym typeface="Calibri"/>
            </a:endParaRPr>
          </a:p>
        </p:txBody>
      </p:sp>
      <p:sp>
        <p:nvSpPr>
          <p:cNvPr id="209" name="Google Shape;209;g3f4a47ca9f1_1_219"/>
          <p:cNvSpPr/>
          <p:nvPr/>
        </p:nvSpPr>
        <p:spPr>
          <a:xfrm>
            <a:off x="1036320" y="1609344"/>
            <a:ext cx="3048000" cy="1158300"/>
          </a:xfrm>
          <a:prstGeom prst="homePlate">
            <a:avLst>
              <a:gd fmla="val 50000" name="adj"/>
            </a:avLst>
          </a:prstGeom>
          <a:solidFill>
            <a:srgbClr val="1281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0" name="Google Shape;210;g3f4a47ca9f1_1_219"/>
          <p:cNvSpPr/>
          <p:nvPr/>
        </p:nvSpPr>
        <p:spPr>
          <a:xfrm>
            <a:off x="109728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1:</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Audio</a:t>
            </a:r>
            <a:endParaRPr b="0" i="0" sz="1500" u="none" cap="none" strike="noStrike">
              <a:solidFill>
                <a:schemeClr val="dk1"/>
              </a:solidFill>
              <a:latin typeface="Calibri"/>
              <a:ea typeface="Calibri"/>
              <a:cs typeface="Calibri"/>
              <a:sym typeface="Calibri"/>
            </a:endParaRPr>
          </a:p>
        </p:txBody>
      </p:sp>
      <p:sp>
        <p:nvSpPr>
          <p:cNvPr id="211" name="Google Shape;211;g3f4a47ca9f1_1_219"/>
          <p:cNvSpPr/>
          <p:nvPr/>
        </p:nvSpPr>
        <p:spPr>
          <a:xfrm>
            <a:off x="3657600" y="1609344"/>
            <a:ext cx="3048000" cy="1158300"/>
          </a:xfrm>
          <a:prstGeom prst="chevron">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2" name="Google Shape;212;g3f4a47ca9f1_1_219"/>
          <p:cNvSpPr/>
          <p:nvPr/>
        </p:nvSpPr>
        <p:spPr>
          <a:xfrm>
            <a:off x="402336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2:</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Transcriptions</a:t>
            </a:r>
            <a:endParaRPr b="0" i="0" sz="1500" u="none" cap="none" strike="noStrike">
              <a:solidFill>
                <a:schemeClr val="dk1"/>
              </a:solidFill>
              <a:latin typeface="Calibri"/>
              <a:ea typeface="Calibri"/>
              <a:cs typeface="Calibri"/>
              <a:sym typeface="Calibri"/>
            </a:endParaRPr>
          </a:p>
        </p:txBody>
      </p:sp>
      <p:sp>
        <p:nvSpPr>
          <p:cNvPr id="213" name="Google Shape;213;g3f4a47ca9f1_1_219"/>
          <p:cNvSpPr/>
          <p:nvPr/>
        </p:nvSpPr>
        <p:spPr>
          <a:xfrm>
            <a:off x="6278880" y="1609344"/>
            <a:ext cx="3048000" cy="1158300"/>
          </a:xfrm>
          <a:prstGeom prst="chevron">
            <a:avLst>
              <a:gd fmla="val 50000" name="adj"/>
            </a:avLst>
          </a:prstGeom>
          <a:solidFill>
            <a:srgbClr val="3FB8A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4" name="Google Shape;214;g3f4a47ca9f1_1_219"/>
          <p:cNvSpPr/>
          <p:nvPr/>
        </p:nvSpPr>
        <p:spPr>
          <a:xfrm>
            <a:off x="664464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3:</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Translation Quality Intelligence</a:t>
            </a:r>
            <a:endParaRPr b="0" i="0" sz="1500" u="none" cap="none" strike="noStrike">
              <a:solidFill>
                <a:schemeClr val="dk1"/>
              </a:solidFill>
              <a:latin typeface="Calibri"/>
              <a:ea typeface="Calibri"/>
              <a:cs typeface="Calibri"/>
              <a:sym typeface="Calibri"/>
            </a:endParaRPr>
          </a:p>
        </p:txBody>
      </p:sp>
      <p:sp>
        <p:nvSpPr>
          <p:cNvPr id="215" name="Google Shape;215;g3f4a47ca9f1_1_219"/>
          <p:cNvSpPr/>
          <p:nvPr/>
        </p:nvSpPr>
        <p:spPr>
          <a:xfrm>
            <a:off x="8900160" y="1609344"/>
            <a:ext cx="3048000" cy="1158300"/>
          </a:xfrm>
          <a:prstGeom prst="chevron">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6" name="Google Shape;216;g3f4a47ca9f1_1_219"/>
          <p:cNvSpPr/>
          <p:nvPr/>
        </p:nvSpPr>
        <p:spPr>
          <a:xfrm>
            <a:off x="926592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4:</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Automation and Improvement</a:t>
            </a:r>
            <a:endParaRPr b="0" i="0" sz="1500" u="none" cap="none" strike="noStrike">
              <a:solidFill>
                <a:schemeClr val="dk1"/>
              </a:solidFill>
              <a:latin typeface="Calibri"/>
              <a:ea typeface="Calibri"/>
              <a:cs typeface="Calibri"/>
              <a:sym typeface="Calibri"/>
            </a:endParaRPr>
          </a:p>
        </p:txBody>
      </p:sp>
      <p:sp>
        <p:nvSpPr>
          <p:cNvPr id="217" name="Google Shape;217;g3f4a47ca9f1_1_219"/>
          <p:cNvSpPr/>
          <p:nvPr/>
        </p:nvSpPr>
        <p:spPr>
          <a:xfrm>
            <a:off x="1097280" y="2987040"/>
            <a:ext cx="24300" cy="3108900"/>
          </a:xfrm>
          <a:prstGeom prst="rect">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8" name="Google Shape;218;g3f4a47ca9f1_1_219"/>
          <p:cNvSpPr/>
          <p:nvPr/>
        </p:nvSpPr>
        <p:spPr>
          <a:xfrm>
            <a:off x="1255776" y="2987040"/>
            <a:ext cx="2377500" cy="3170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Capture audio streams</a:t>
            </a:r>
            <a:endParaRPr b="0" i="0" sz="1200" u="none" cap="none" strike="noStrike">
              <a:solidFill>
                <a:schemeClr val="dk1"/>
              </a:solidFill>
              <a:latin typeface="Calibri"/>
              <a:ea typeface="Calibri"/>
              <a:cs typeface="Calibri"/>
              <a:sym typeface="Calibri"/>
            </a:endParaRPr>
          </a:p>
        </p:txBody>
      </p:sp>
      <p:sp>
        <p:nvSpPr>
          <p:cNvPr id="219" name="Google Shape;219;g3f4a47ca9f1_1_219"/>
          <p:cNvSpPr/>
          <p:nvPr/>
        </p:nvSpPr>
        <p:spPr>
          <a:xfrm>
            <a:off x="3718560" y="2987040"/>
            <a:ext cx="24300" cy="3108900"/>
          </a:xfrm>
          <a:prstGeom prst="rect">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0" name="Google Shape;220;g3f4a47ca9f1_1_219"/>
          <p:cNvSpPr/>
          <p:nvPr/>
        </p:nvSpPr>
        <p:spPr>
          <a:xfrm>
            <a:off x="3877056" y="2987040"/>
            <a:ext cx="2377500" cy="3170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Generate transcriptions</a:t>
            </a:r>
            <a:endParaRPr b="0" i="0" sz="1200" u="none" cap="none" strike="noStrike">
              <a:solidFill>
                <a:schemeClr val="dk1"/>
              </a:solidFill>
              <a:latin typeface="Calibri"/>
              <a:ea typeface="Calibri"/>
              <a:cs typeface="Calibri"/>
              <a:sym typeface="Calibri"/>
            </a:endParaRPr>
          </a:p>
        </p:txBody>
      </p:sp>
      <p:sp>
        <p:nvSpPr>
          <p:cNvPr id="221" name="Google Shape;221;g3f4a47ca9f1_1_219"/>
          <p:cNvSpPr/>
          <p:nvPr/>
        </p:nvSpPr>
        <p:spPr>
          <a:xfrm>
            <a:off x="6339840" y="2987040"/>
            <a:ext cx="24300" cy="3108900"/>
          </a:xfrm>
          <a:prstGeom prst="rect">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2" name="Google Shape;222;g3f4a47ca9f1_1_219"/>
          <p:cNvSpPr/>
          <p:nvPr/>
        </p:nvSpPr>
        <p:spPr>
          <a:xfrm>
            <a:off x="6498336" y="2987040"/>
            <a:ext cx="2377500" cy="3170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Run CompNova Tool:</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Translation accuracy</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Sentiment and emotion analysis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Multi-metric evaluation</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(COMET, MetricX, sentiment check, emotion check)</a:t>
            </a:r>
            <a:endParaRPr b="0" i="0" sz="1200" u="none" cap="none" strike="noStrike">
              <a:solidFill>
                <a:schemeClr val="dk1"/>
              </a:solidFill>
              <a:latin typeface="Calibri"/>
              <a:ea typeface="Calibri"/>
              <a:cs typeface="Calibri"/>
              <a:sym typeface="Calibri"/>
            </a:endParaRPr>
          </a:p>
        </p:txBody>
      </p:sp>
      <p:sp>
        <p:nvSpPr>
          <p:cNvPr id="223" name="Google Shape;223;g3f4a47ca9f1_1_219"/>
          <p:cNvSpPr/>
          <p:nvPr/>
        </p:nvSpPr>
        <p:spPr>
          <a:xfrm>
            <a:off x="8961120" y="2987040"/>
            <a:ext cx="24300" cy="3108900"/>
          </a:xfrm>
          <a:prstGeom prst="rect">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4" name="Google Shape;224;g3f4a47ca9f1_1_219"/>
          <p:cNvSpPr/>
          <p:nvPr/>
        </p:nvSpPr>
        <p:spPr>
          <a:xfrm>
            <a:off x="9119616" y="2987040"/>
            <a:ext cx="2377500" cy="3170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Outputs: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Executive dashboards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Engineering recommendations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Quality monitoring</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Automated reporting</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Automation using AInstein:</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Prioritize</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Report</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Track</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 Improve</a:t>
            </a:r>
            <a:endParaRPr b="0" i="0" sz="1200" u="none" cap="none" strike="noStrike">
              <a:solidFill>
                <a:schemeClr val="dk1"/>
              </a:solidFill>
              <a:latin typeface="Calibri"/>
              <a:ea typeface="Calibri"/>
              <a:cs typeface="Calibri"/>
              <a:sym typeface="Calibri"/>
            </a:endParaRPr>
          </a:p>
        </p:txBody>
      </p:sp>
      <p:sp>
        <p:nvSpPr>
          <p:cNvPr id="225" name="Google Shape;225;g3f4a47ca9f1_1_219"/>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pic>
        <p:nvPicPr>
          <p:cNvPr descr="logo.png" id="231" name="Google Shape;231;g3f4a47ca9f1_1_244"/>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232" name="Google Shape;232;g3f4a47ca9f1_1_244"/>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Breakdown of Product</a:t>
            </a:r>
            <a:endParaRPr b="0" i="0" sz="3100" u="none" cap="none" strike="noStrike">
              <a:solidFill>
                <a:schemeClr val="dk1"/>
              </a:solidFill>
              <a:latin typeface="Calibri"/>
              <a:ea typeface="Calibri"/>
              <a:cs typeface="Calibri"/>
              <a:sym typeface="Calibri"/>
            </a:endParaRPr>
          </a:p>
        </p:txBody>
      </p:sp>
      <p:sp>
        <p:nvSpPr>
          <p:cNvPr id="233" name="Google Shape;233;g3f4a47ca9f1_1_244"/>
          <p:cNvSpPr/>
          <p:nvPr/>
        </p:nvSpPr>
        <p:spPr>
          <a:xfrm>
            <a:off x="1036320" y="1609344"/>
            <a:ext cx="3048000" cy="1158300"/>
          </a:xfrm>
          <a:prstGeom prst="homePlate">
            <a:avLst>
              <a:gd fmla="val 50000" name="adj"/>
            </a:avLst>
          </a:prstGeom>
          <a:solidFill>
            <a:srgbClr val="1281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4" name="Google Shape;234;g3f4a47ca9f1_1_244"/>
          <p:cNvSpPr/>
          <p:nvPr/>
        </p:nvSpPr>
        <p:spPr>
          <a:xfrm>
            <a:off x="109728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1:</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Audio</a:t>
            </a:r>
            <a:endParaRPr b="0" i="0" sz="1500" u="none" cap="none" strike="noStrike">
              <a:solidFill>
                <a:schemeClr val="dk1"/>
              </a:solidFill>
              <a:latin typeface="Calibri"/>
              <a:ea typeface="Calibri"/>
              <a:cs typeface="Calibri"/>
              <a:sym typeface="Calibri"/>
            </a:endParaRPr>
          </a:p>
        </p:txBody>
      </p:sp>
      <p:sp>
        <p:nvSpPr>
          <p:cNvPr id="235" name="Google Shape;235;g3f4a47ca9f1_1_244"/>
          <p:cNvSpPr/>
          <p:nvPr/>
        </p:nvSpPr>
        <p:spPr>
          <a:xfrm>
            <a:off x="3657600" y="1609344"/>
            <a:ext cx="3048000" cy="1158300"/>
          </a:xfrm>
          <a:prstGeom prst="chevron">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g3f4a47ca9f1_1_244"/>
          <p:cNvSpPr/>
          <p:nvPr/>
        </p:nvSpPr>
        <p:spPr>
          <a:xfrm>
            <a:off x="6278880" y="1609344"/>
            <a:ext cx="3048000" cy="1158300"/>
          </a:xfrm>
          <a:prstGeom prst="chevron">
            <a:avLst>
              <a:gd fmla="val 50000" name="adj"/>
            </a:avLst>
          </a:prstGeom>
          <a:solidFill>
            <a:srgbClr val="3FB8A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7" name="Google Shape;237;g3f4a47ca9f1_1_244"/>
          <p:cNvSpPr/>
          <p:nvPr/>
        </p:nvSpPr>
        <p:spPr>
          <a:xfrm>
            <a:off x="8900160" y="1609344"/>
            <a:ext cx="3048000" cy="1158300"/>
          </a:xfrm>
          <a:prstGeom prst="chevron">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8" name="Google Shape;238;g3f4a47ca9f1_1_244"/>
          <p:cNvSpPr/>
          <p:nvPr/>
        </p:nvSpPr>
        <p:spPr>
          <a:xfrm>
            <a:off x="2072640" y="3048000"/>
            <a:ext cx="18288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9" name="Google Shape;239;g3f4a47ca9f1_1_244"/>
          <p:cNvSpPr/>
          <p:nvPr/>
        </p:nvSpPr>
        <p:spPr>
          <a:xfrm>
            <a:off x="2072640" y="3048000"/>
            <a:ext cx="18288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Original</a:t>
            </a:r>
            <a:endParaRPr b="0" i="0" sz="14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Audio</a:t>
            </a:r>
            <a:endParaRPr b="0" i="0" sz="1400" u="none" cap="none" strike="noStrike">
              <a:solidFill>
                <a:schemeClr val="dk1"/>
              </a:solidFill>
              <a:latin typeface="Calibri"/>
              <a:ea typeface="Calibri"/>
              <a:cs typeface="Calibri"/>
              <a:sym typeface="Calibri"/>
            </a:endParaRPr>
          </a:p>
        </p:txBody>
      </p:sp>
      <p:sp>
        <p:nvSpPr>
          <p:cNvPr id="240" name="Google Shape;240;g3f4a47ca9f1_1_244"/>
          <p:cNvSpPr/>
          <p:nvPr/>
        </p:nvSpPr>
        <p:spPr>
          <a:xfrm>
            <a:off x="2609088" y="3877056"/>
            <a:ext cx="756000" cy="756000"/>
          </a:xfrm>
          <a:prstGeom prst="ellipse">
            <a:avLst/>
          </a:prstGeom>
          <a:solidFill>
            <a:srgbClr val="E8ECEF"/>
          </a:solidFill>
          <a:ln cap="flat" cmpd="sng" w="16925">
            <a:solidFill>
              <a:srgbClr val="D8DEE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41" name="Google Shape;241;g3f4a47ca9f1_1_244"/>
          <p:cNvPicPr preferRelativeResize="0"/>
          <p:nvPr/>
        </p:nvPicPr>
        <p:blipFill rotWithShape="1">
          <a:blip r:embed="rId4">
            <a:alphaModFix/>
          </a:blip>
          <a:srcRect b="0" l="0" r="0" t="0"/>
          <a:stretch/>
        </p:blipFill>
        <p:spPr>
          <a:xfrm>
            <a:off x="2804160" y="4072128"/>
            <a:ext cx="365760" cy="365760"/>
          </a:xfrm>
          <a:prstGeom prst="rect">
            <a:avLst/>
          </a:prstGeom>
          <a:noFill/>
          <a:ln>
            <a:noFill/>
          </a:ln>
        </p:spPr>
      </p:pic>
      <p:sp>
        <p:nvSpPr>
          <p:cNvPr id="242" name="Google Shape;242;g3f4a47ca9f1_1_244"/>
          <p:cNvSpPr/>
          <p:nvPr/>
        </p:nvSpPr>
        <p:spPr>
          <a:xfrm>
            <a:off x="2072640" y="4779264"/>
            <a:ext cx="18288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3" name="Google Shape;243;g3f4a47ca9f1_1_244"/>
          <p:cNvSpPr/>
          <p:nvPr/>
        </p:nvSpPr>
        <p:spPr>
          <a:xfrm>
            <a:off x="2072640" y="4779264"/>
            <a:ext cx="18288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Attempted</a:t>
            </a:r>
            <a:endParaRPr b="0" i="0" sz="14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Translation</a:t>
            </a:r>
            <a:endParaRPr b="0" i="0" sz="1400" u="none" cap="none" strike="noStrike">
              <a:solidFill>
                <a:schemeClr val="dk1"/>
              </a:solidFill>
              <a:latin typeface="Calibri"/>
              <a:ea typeface="Calibri"/>
              <a:cs typeface="Calibri"/>
              <a:sym typeface="Calibri"/>
            </a:endParaRPr>
          </a:p>
        </p:txBody>
      </p:sp>
      <p:sp>
        <p:nvSpPr>
          <p:cNvPr id="244" name="Google Shape;244;g3f4a47ca9f1_1_244"/>
          <p:cNvSpPr/>
          <p:nvPr/>
        </p:nvSpPr>
        <p:spPr>
          <a:xfrm>
            <a:off x="2609088" y="5547360"/>
            <a:ext cx="756000" cy="756000"/>
          </a:xfrm>
          <a:prstGeom prst="ellipse">
            <a:avLst/>
          </a:prstGeom>
          <a:solidFill>
            <a:srgbClr val="E8ECEF"/>
          </a:solidFill>
          <a:ln cap="flat" cmpd="sng" w="16925">
            <a:solidFill>
              <a:srgbClr val="D8DEE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45" name="Google Shape;245;g3f4a47ca9f1_1_244"/>
          <p:cNvPicPr preferRelativeResize="0"/>
          <p:nvPr/>
        </p:nvPicPr>
        <p:blipFill rotWithShape="1">
          <a:blip r:embed="rId4">
            <a:alphaModFix/>
          </a:blip>
          <a:srcRect b="0" l="0" r="0" t="0"/>
          <a:stretch/>
        </p:blipFill>
        <p:spPr>
          <a:xfrm>
            <a:off x="2804160" y="5742432"/>
            <a:ext cx="365760" cy="365760"/>
          </a:xfrm>
          <a:prstGeom prst="rect">
            <a:avLst/>
          </a:prstGeom>
          <a:noFill/>
          <a:ln>
            <a:noFill/>
          </a:ln>
        </p:spPr>
      </p:pic>
      <p:sp>
        <p:nvSpPr>
          <p:cNvPr id="246" name="Google Shape;246;g3f4a47ca9f1_1_244"/>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pic>
        <p:nvPicPr>
          <p:cNvPr id="247" name="Google Shape;247;g3f4a47ca9f1_1_244" title="EN_138_#10.wav">
            <a:hlinkClick r:id="rId5"/>
          </p:cNvPr>
          <p:cNvPicPr preferRelativeResize="0"/>
          <p:nvPr/>
        </p:nvPicPr>
        <p:blipFill>
          <a:blip r:embed="rId6">
            <a:alphaModFix/>
          </a:blip>
          <a:stretch>
            <a:fillRect/>
          </a:stretch>
        </p:blipFill>
        <p:spPr>
          <a:xfrm>
            <a:off x="2520988" y="3788988"/>
            <a:ext cx="932100" cy="932100"/>
          </a:xfrm>
          <a:prstGeom prst="rect">
            <a:avLst/>
          </a:prstGeom>
          <a:noFill/>
          <a:ln>
            <a:noFill/>
          </a:ln>
        </p:spPr>
      </p:pic>
      <p:pic>
        <p:nvPicPr>
          <p:cNvPr id="248" name="Google Shape;248;g3f4a47ca9f1_1_244" title="ES_138_#10.wav">
            <a:hlinkClick r:id="rId7"/>
          </p:cNvPr>
          <p:cNvPicPr preferRelativeResize="0"/>
          <p:nvPr/>
        </p:nvPicPr>
        <p:blipFill>
          <a:blip r:embed="rId6">
            <a:alphaModFix/>
          </a:blip>
          <a:stretch>
            <a:fillRect/>
          </a:stretch>
        </p:blipFill>
        <p:spPr>
          <a:xfrm>
            <a:off x="2520982" y="5459300"/>
            <a:ext cx="932100" cy="932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pic>
        <p:nvPicPr>
          <p:cNvPr descr="logo.png" id="254" name="Google Shape;254;g3f4a47ca9f1_1_266"/>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255" name="Google Shape;255;g3f4a47ca9f1_1_266"/>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Breakdown of Product</a:t>
            </a:r>
            <a:endParaRPr b="0" i="0" sz="3100" u="none" cap="none" strike="noStrike">
              <a:solidFill>
                <a:schemeClr val="dk1"/>
              </a:solidFill>
              <a:latin typeface="Calibri"/>
              <a:ea typeface="Calibri"/>
              <a:cs typeface="Calibri"/>
              <a:sym typeface="Calibri"/>
            </a:endParaRPr>
          </a:p>
        </p:txBody>
      </p:sp>
      <p:sp>
        <p:nvSpPr>
          <p:cNvPr id="256" name="Google Shape;256;g3f4a47ca9f1_1_266"/>
          <p:cNvSpPr/>
          <p:nvPr/>
        </p:nvSpPr>
        <p:spPr>
          <a:xfrm>
            <a:off x="1036320" y="1609344"/>
            <a:ext cx="3048000" cy="1158300"/>
          </a:xfrm>
          <a:prstGeom prst="homePlate">
            <a:avLst>
              <a:gd fmla="val 50000" name="adj"/>
            </a:avLst>
          </a:prstGeom>
          <a:solidFill>
            <a:srgbClr val="1281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7" name="Google Shape;257;g3f4a47ca9f1_1_266"/>
          <p:cNvSpPr/>
          <p:nvPr/>
        </p:nvSpPr>
        <p:spPr>
          <a:xfrm>
            <a:off x="3657600" y="1609344"/>
            <a:ext cx="3048000" cy="1158300"/>
          </a:xfrm>
          <a:prstGeom prst="chevron">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8" name="Google Shape;258;g3f4a47ca9f1_1_266"/>
          <p:cNvSpPr/>
          <p:nvPr/>
        </p:nvSpPr>
        <p:spPr>
          <a:xfrm>
            <a:off x="402336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2:</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Transcriptions</a:t>
            </a:r>
            <a:endParaRPr b="0" i="0" sz="1500" u="none" cap="none" strike="noStrike">
              <a:solidFill>
                <a:schemeClr val="dk1"/>
              </a:solidFill>
              <a:latin typeface="Calibri"/>
              <a:ea typeface="Calibri"/>
              <a:cs typeface="Calibri"/>
              <a:sym typeface="Calibri"/>
            </a:endParaRPr>
          </a:p>
        </p:txBody>
      </p:sp>
      <p:sp>
        <p:nvSpPr>
          <p:cNvPr id="259" name="Google Shape;259;g3f4a47ca9f1_1_266"/>
          <p:cNvSpPr/>
          <p:nvPr/>
        </p:nvSpPr>
        <p:spPr>
          <a:xfrm>
            <a:off x="6278880" y="1609344"/>
            <a:ext cx="3048000" cy="1158300"/>
          </a:xfrm>
          <a:prstGeom prst="chevron">
            <a:avLst>
              <a:gd fmla="val 50000" name="adj"/>
            </a:avLst>
          </a:prstGeom>
          <a:solidFill>
            <a:srgbClr val="3FB8A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0" name="Google Shape;260;g3f4a47ca9f1_1_266"/>
          <p:cNvSpPr/>
          <p:nvPr/>
        </p:nvSpPr>
        <p:spPr>
          <a:xfrm>
            <a:off x="8900160" y="1609344"/>
            <a:ext cx="3048000" cy="1158300"/>
          </a:xfrm>
          <a:prstGeom prst="chevron">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1" name="Google Shape;261;g3f4a47ca9f1_1_266"/>
          <p:cNvSpPr/>
          <p:nvPr/>
        </p:nvSpPr>
        <p:spPr>
          <a:xfrm>
            <a:off x="1036320" y="3108960"/>
            <a:ext cx="18288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2" name="Google Shape;262;g3f4a47ca9f1_1_266"/>
          <p:cNvSpPr/>
          <p:nvPr/>
        </p:nvSpPr>
        <p:spPr>
          <a:xfrm>
            <a:off x="1036320" y="3108960"/>
            <a:ext cx="18288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Original</a:t>
            </a:r>
            <a:endParaRPr b="0" i="0" sz="14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Audio</a:t>
            </a:r>
            <a:endParaRPr b="0" i="0" sz="1400" u="none" cap="none" strike="noStrike">
              <a:solidFill>
                <a:schemeClr val="dk1"/>
              </a:solidFill>
              <a:latin typeface="Calibri"/>
              <a:ea typeface="Calibri"/>
              <a:cs typeface="Calibri"/>
              <a:sym typeface="Calibri"/>
            </a:endParaRPr>
          </a:p>
        </p:txBody>
      </p:sp>
      <p:sp>
        <p:nvSpPr>
          <p:cNvPr id="263" name="Google Shape;263;g3f4a47ca9f1_1_266"/>
          <p:cNvSpPr/>
          <p:nvPr/>
        </p:nvSpPr>
        <p:spPr>
          <a:xfrm>
            <a:off x="1572768" y="4023360"/>
            <a:ext cx="756000" cy="756000"/>
          </a:xfrm>
          <a:prstGeom prst="ellipse">
            <a:avLst/>
          </a:prstGeom>
          <a:solidFill>
            <a:srgbClr val="E8ECEF"/>
          </a:solidFill>
          <a:ln cap="flat" cmpd="sng" w="16925">
            <a:solidFill>
              <a:srgbClr val="D8DEE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64" name="Google Shape;264;g3f4a47ca9f1_1_266"/>
          <p:cNvPicPr preferRelativeResize="0"/>
          <p:nvPr/>
        </p:nvPicPr>
        <p:blipFill rotWithShape="1">
          <a:blip r:embed="rId4">
            <a:alphaModFix/>
          </a:blip>
          <a:srcRect b="0" l="0" r="0" t="0"/>
          <a:stretch/>
        </p:blipFill>
        <p:spPr>
          <a:xfrm>
            <a:off x="1767840" y="4218432"/>
            <a:ext cx="365760" cy="365760"/>
          </a:xfrm>
          <a:prstGeom prst="rect">
            <a:avLst/>
          </a:prstGeom>
          <a:noFill/>
          <a:ln>
            <a:noFill/>
          </a:ln>
        </p:spPr>
      </p:pic>
      <p:sp>
        <p:nvSpPr>
          <p:cNvPr id="265" name="Google Shape;265;g3f4a47ca9f1_1_266"/>
          <p:cNvSpPr/>
          <p:nvPr/>
        </p:nvSpPr>
        <p:spPr>
          <a:xfrm>
            <a:off x="4023360" y="3108960"/>
            <a:ext cx="26823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6" name="Google Shape;266;g3f4a47ca9f1_1_266"/>
          <p:cNvSpPr/>
          <p:nvPr/>
        </p:nvSpPr>
        <p:spPr>
          <a:xfrm>
            <a:off x="4023360" y="3108960"/>
            <a:ext cx="26823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Transcribed Original</a:t>
            </a:r>
            <a:endParaRPr b="0" i="0" sz="14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Audio</a:t>
            </a:r>
            <a:endParaRPr b="0" i="0" sz="1400" u="none" cap="none" strike="noStrike">
              <a:solidFill>
                <a:schemeClr val="dk1"/>
              </a:solidFill>
              <a:latin typeface="Calibri"/>
              <a:ea typeface="Calibri"/>
              <a:cs typeface="Calibri"/>
              <a:sym typeface="Calibri"/>
            </a:endParaRPr>
          </a:p>
        </p:txBody>
      </p:sp>
      <p:sp>
        <p:nvSpPr>
          <p:cNvPr id="267" name="Google Shape;267;g3f4a47ca9f1_1_266"/>
          <p:cNvSpPr/>
          <p:nvPr/>
        </p:nvSpPr>
        <p:spPr>
          <a:xfrm>
            <a:off x="4023360" y="3889348"/>
            <a:ext cx="28041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The best ramen I've tried was in San Francisco, in Japantown.</a:t>
            </a:r>
            <a:endParaRPr b="0" i="0" sz="1300" u="none" cap="none" strike="noStrike">
              <a:solidFill>
                <a:schemeClr val="dk1"/>
              </a:solidFill>
              <a:latin typeface="Calibri"/>
              <a:ea typeface="Calibri"/>
              <a:cs typeface="Calibri"/>
              <a:sym typeface="Calibri"/>
            </a:endParaRPr>
          </a:p>
        </p:txBody>
      </p:sp>
      <p:sp>
        <p:nvSpPr>
          <p:cNvPr id="268" name="Google Shape;268;g3f4a47ca9f1_1_266"/>
          <p:cNvSpPr/>
          <p:nvPr/>
        </p:nvSpPr>
        <p:spPr>
          <a:xfrm>
            <a:off x="2438400" y="4169664"/>
            <a:ext cx="4875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575"/>
              </a:buClr>
              <a:buSzPts val="1600"/>
              <a:buFont typeface="Calibri"/>
              <a:buNone/>
            </a:pPr>
            <a:r>
              <a:rPr b="0" i="0" lang="en-IN" sz="1600" u="none" cap="none" strike="noStrike">
                <a:solidFill>
                  <a:srgbClr val="5A6575"/>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69" name="Google Shape;269;g3f4a47ca9f1_1_266"/>
          <p:cNvSpPr/>
          <p:nvPr/>
        </p:nvSpPr>
        <p:spPr>
          <a:xfrm>
            <a:off x="1036320" y="4852416"/>
            <a:ext cx="18288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0" name="Google Shape;270;g3f4a47ca9f1_1_266"/>
          <p:cNvSpPr/>
          <p:nvPr/>
        </p:nvSpPr>
        <p:spPr>
          <a:xfrm>
            <a:off x="1036320" y="4852416"/>
            <a:ext cx="18288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Attempted</a:t>
            </a:r>
            <a:endParaRPr b="0" i="0" sz="14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Translation</a:t>
            </a:r>
            <a:endParaRPr b="0" i="0" sz="1400" u="none" cap="none" strike="noStrike">
              <a:solidFill>
                <a:schemeClr val="dk1"/>
              </a:solidFill>
              <a:latin typeface="Calibri"/>
              <a:ea typeface="Calibri"/>
              <a:cs typeface="Calibri"/>
              <a:sym typeface="Calibri"/>
            </a:endParaRPr>
          </a:p>
        </p:txBody>
      </p:sp>
      <p:sp>
        <p:nvSpPr>
          <p:cNvPr id="271" name="Google Shape;271;g3f4a47ca9f1_1_266"/>
          <p:cNvSpPr/>
          <p:nvPr/>
        </p:nvSpPr>
        <p:spPr>
          <a:xfrm>
            <a:off x="1572768" y="5583936"/>
            <a:ext cx="756000" cy="756000"/>
          </a:xfrm>
          <a:prstGeom prst="ellipse">
            <a:avLst/>
          </a:prstGeom>
          <a:solidFill>
            <a:srgbClr val="E8ECEF"/>
          </a:solidFill>
          <a:ln cap="flat" cmpd="sng" w="16925">
            <a:solidFill>
              <a:srgbClr val="D8DEE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72" name="Google Shape;272;g3f4a47ca9f1_1_266"/>
          <p:cNvPicPr preferRelativeResize="0"/>
          <p:nvPr/>
        </p:nvPicPr>
        <p:blipFill rotWithShape="1">
          <a:blip r:embed="rId4">
            <a:alphaModFix/>
          </a:blip>
          <a:srcRect b="0" l="0" r="0" t="0"/>
          <a:stretch/>
        </p:blipFill>
        <p:spPr>
          <a:xfrm>
            <a:off x="1767840" y="5779008"/>
            <a:ext cx="365760" cy="365760"/>
          </a:xfrm>
          <a:prstGeom prst="rect">
            <a:avLst/>
          </a:prstGeom>
          <a:noFill/>
          <a:ln>
            <a:noFill/>
          </a:ln>
        </p:spPr>
      </p:pic>
      <p:sp>
        <p:nvSpPr>
          <p:cNvPr id="273" name="Google Shape;273;g3f4a47ca9f1_1_266"/>
          <p:cNvSpPr/>
          <p:nvPr/>
        </p:nvSpPr>
        <p:spPr>
          <a:xfrm>
            <a:off x="4023360" y="4852416"/>
            <a:ext cx="26823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4" name="Google Shape;274;g3f4a47ca9f1_1_266"/>
          <p:cNvSpPr/>
          <p:nvPr/>
        </p:nvSpPr>
        <p:spPr>
          <a:xfrm>
            <a:off x="4023360" y="4852416"/>
            <a:ext cx="26823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Transcribed</a:t>
            </a:r>
            <a:endParaRPr b="0" i="0" sz="14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400"/>
              <a:buFont typeface="Trebuchet MS"/>
              <a:buNone/>
            </a:pPr>
            <a:r>
              <a:rPr b="1" i="0" lang="en-IN" sz="1400" u="none" cap="none" strike="noStrike">
                <a:solidFill>
                  <a:srgbClr val="1C2E60"/>
                </a:solidFill>
                <a:latin typeface="Trebuchet MS"/>
                <a:ea typeface="Trebuchet MS"/>
                <a:cs typeface="Trebuchet MS"/>
                <a:sym typeface="Trebuchet MS"/>
              </a:rPr>
              <a:t>Translation</a:t>
            </a:r>
            <a:endParaRPr b="0" i="0" sz="1400" u="none" cap="none" strike="noStrike">
              <a:solidFill>
                <a:schemeClr val="dk1"/>
              </a:solidFill>
              <a:latin typeface="Calibri"/>
              <a:ea typeface="Calibri"/>
              <a:cs typeface="Calibri"/>
              <a:sym typeface="Calibri"/>
            </a:endParaRPr>
          </a:p>
        </p:txBody>
      </p:sp>
      <p:sp>
        <p:nvSpPr>
          <p:cNvPr id="275" name="Google Shape;275;g3f4a47ca9f1_1_266"/>
          <p:cNvSpPr/>
          <p:nvPr/>
        </p:nvSpPr>
        <p:spPr>
          <a:xfrm>
            <a:off x="4023340" y="5561601"/>
            <a:ext cx="31701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El mejor ramen que yo he probado era en San Francisco, en Japantown.</a:t>
            </a:r>
            <a:endParaRPr b="0" i="0" sz="1300" u="none" cap="none" strike="noStrike">
              <a:solidFill>
                <a:schemeClr val="dk1"/>
              </a:solidFill>
              <a:latin typeface="Calibri"/>
              <a:ea typeface="Calibri"/>
              <a:cs typeface="Calibri"/>
              <a:sym typeface="Calibri"/>
            </a:endParaRPr>
          </a:p>
        </p:txBody>
      </p:sp>
      <p:sp>
        <p:nvSpPr>
          <p:cNvPr id="276" name="Google Shape;276;g3f4a47ca9f1_1_266"/>
          <p:cNvSpPr/>
          <p:nvPr/>
        </p:nvSpPr>
        <p:spPr>
          <a:xfrm>
            <a:off x="2438400" y="5754624"/>
            <a:ext cx="4875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575"/>
              </a:buClr>
              <a:buSzPts val="1600"/>
              <a:buFont typeface="Calibri"/>
              <a:buNone/>
            </a:pPr>
            <a:r>
              <a:rPr b="0" i="0" lang="en-IN" sz="1600" u="none" cap="none" strike="noStrike">
                <a:solidFill>
                  <a:srgbClr val="5A6575"/>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77" name="Google Shape;277;g3f4a47ca9f1_1_266"/>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pic>
        <p:nvPicPr>
          <p:cNvPr descr="logo.png" id="283" name="Google Shape;283;g3f4a47ca9f1_1_296"/>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284" name="Google Shape;284;g3f4a47ca9f1_1_296"/>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Breakdown of Product</a:t>
            </a:r>
            <a:endParaRPr b="0" i="0" sz="3100" u="none" cap="none" strike="noStrike">
              <a:solidFill>
                <a:schemeClr val="dk1"/>
              </a:solidFill>
              <a:latin typeface="Calibri"/>
              <a:ea typeface="Calibri"/>
              <a:cs typeface="Calibri"/>
              <a:sym typeface="Calibri"/>
            </a:endParaRPr>
          </a:p>
        </p:txBody>
      </p:sp>
      <p:sp>
        <p:nvSpPr>
          <p:cNvPr id="285" name="Google Shape;285;g3f4a47ca9f1_1_296"/>
          <p:cNvSpPr/>
          <p:nvPr/>
        </p:nvSpPr>
        <p:spPr>
          <a:xfrm>
            <a:off x="1036320" y="1609344"/>
            <a:ext cx="3048000" cy="1158300"/>
          </a:xfrm>
          <a:prstGeom prst="homePlate">
            <a:avLst>
              <a:gd fmla="val 50000" name="adj"/>
            </a:avLst>
          </a:prstGeom>
          <a:solidFill>
            <a:srgbClr val="1281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6" name="Google Shape;286;g3f4a47ca9f1_1_296"/>
          <p:cNvSpPr/>
          <p:nvPr/>
        </p:nvSpPr>
        <p:spPr>
          <a:xfrm>
            <a:off x="3657600" y="1609344"/>
            <a:ext cx="3048000" cy="1158300"/>
          </a:xfrm>
          <a:prstGeom prst="chevron">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7" name="Google Shape;287;g3f4a47ca9f1_1_296"/>
          <p:cNvSpPr/>
          <p:nvPr/>
        </p:nvSpPr>
        <p:spPr>
          <a:xfrm>
            <a:off x="6278880" y="1609344"/>
            <a:ext cx="3048000" cy="1158300"/>
          </a:xfrm>
          <a:prstGeom prst="chevron">
            <a:avLst>
              <a:gd fmla="val 50000" name="adj"/>
            </a:avLst>
          </a:prstGeom>
          <a:solidFill>
            <a:srgbClr val="3FB8A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8" name="Google Shape;288;g3f4a47ca9f1_1_296"/>
          <p:cNvSpPr/>
          <p:nvPr/>
        </p:nvSpPr>
        <p:spPr>
          <a:xfrm>
            <a:off x="664464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3:</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Translation Quality Intelligence</a:t>
            </a:r>
            <a:endParaRPr b="0" i="0" sz="1500" u="none" cap="none" strike="noStrike">
              <a:solidFill>
                <a:schemeClr val="dk1"/>
              </a:solidFill>
              <a:latin typeface="Calibri"/>
              <a:ea typeface="Calibri"/>
              <a:cs typeface="Calibri"/>
              <a:sym typeface="Calibri"/>
            </a:endParaRPr>
          </a:p>
        </p:txBody>
      </p:sp>
      <p:sp>
        <p:nvSpPr>
          <p:cNvPr id="289" name="Google Shape;289;g3f4a47ca9f1_1_296"/>
          <p:cNvSpPr/>
          <p:nvPr/>
        </p:nvSpPr>
        <p:spPr>
          <a:xfrm>
            <a:off x="8900160" y="1609344"/>
            <a:ext cx="3048000" cy="1158300"/>
          </a:xfrm>
          <a:prstGeom prst="chevron">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0" name="Google Shape;290;g3f4a47ca9f1_1_296"/>
          <p:cNvSpPr/>
          <p:nvPr/>
        </p:nvSpPr>
        <p:spPr>
          <a:xfrm>
            <a:off x="731520" y="3048000"/>
            <a:ext cx="17067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1" name="Google Shape;291;g3f4a47ca9f1_1_296"/>
          <p:cNvSpPr/>
          <p:nvPr/>
        </p:nvSpPr>
        <p:spPr>
          <a:xfrm>
            <a:off x="731520" y="3048000"/>
            <a:ext cx="17067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Original</a:t>
            </a:r>
            <a:endParaRPr b="0" i="0" sz="13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Audio</a:t>
            </a:r>
            <a:endParaRPr b="0" i="0" sz="1300" u="none" cap="none" strike="noStrike">
              <a:solidFill>
                <a:schemeClr val="dk1"/>
              </a:solidFill>
              <a:latin typeface="Calibri"/>
              <a:ea typeface="Calibri"/>
              <a:cs typeface="Calibri"/>
              <a:sym typeface="Calibri"/>
            </a:endParaRPr>
          </a:p>
        </p:txBody>
      </p:sp>
      <p:sp>
        <p:nvSpPr>
          <p:cNvPr id="292" name="Google Shape;292;g3f4a47ca9f1_1_296"/>
          <p:cNvSpPr/>
          <p:nvPr/>
        </p:nvSpPr>
        <p:spPr>
          <a:xfrm>
            <a:off x="1207008" y="3925824"/>
            <a:ext cx="756000" cy="756000"/>
          </a:xfrm>
          <a:prstGeom prst="ellipse">
            <a:avLst/>
          </a:prstGeom>
          <a:solidFill>
            <a:srgbClr val="E8ECEF"/>
          </a:solidFill>
          <a:ln cap="flat" cmpd="sng" w="16925">
            <a:solidFill>
              <a:srgbClr val="D8DEE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93" name="Google Shape;293;g3f4a47ca9f1_1_296"/>
          <p:cNvPicPr preferRelativeResize="0"/>
          <p:nvPr/>
        </p:nvPicPr>
        <p:blipFill rotWithShape="1">
          <a:blip r:embed="rId4">
            <a:alphaModFix/>
          </a:blip>
          <a:srcRect b="0" l="0" r="0" t="0"/>
          <a:stretch/>
        </p:blipFill>
        <p:spPr>
          <a:xfrm>
            <a:off x="1402080" y="4120896"/>
            <a:ext cx="365760" cy="365760"/>
          </a:xfrm>
          <a:prstGeom prst="rect">
            <a:avLst/>
          </a:prstGeom>
          <a:noFill/>
          <a:ln>
            <a:noFill/>
          </a:ln>
        </p:spPr>
      </p:pic>
      <p:sp>
        <p:nvSpPr>
          <p:cNvPr id="294" name="Google Shape;294;g3f4a47ca9f1_1_296"/>
          <p:cNvSpPr/>
          <p:nvPr/>
        </p:nvSpPr>
        <p:spPr>
          <a:xfrm>
            <a:off x="2865120" y="3048000"/>
            <a:ext cx="24993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5" name="Google Shape;295;g3f4a47ca9f1_1_296"/>
          <p:cNvSpPr/>
          <p:nvPr/>
        </p:nvSpPr>
        <p:spPr>
          <a:xfrm>
            <a:off x="2865120" y="3048000"/>
            <a:ext cx="24993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Transcribed Original</a:t>
            </a:r>
            <a:endParaRPr b="0" i="0" sz="13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Audio</a:t>
            </a:r>
            <a:endParaRPr b="0" i="0" sz="1300" u="none" cap="none" strike="noStrike">
              <a:solidFill>
                <a:schemeClr val="dk1"/>
              </a:solidFill>
              <a:latin typeface="Calibri"/>
              <a:ea typeface="Calibri"/>
              <a:cs typeface="Calibri"/>
              <a:sym typeface="Calibri"/>
            </a:endParaRPr>
          </a:p>
        </p:txBody>
      </p:sp>
      <p:sp>
        <p:nvSpPr>
          <p:cNvPr id="296" name="Google Shape;296;g3f4a47ca9f1_1_296"/>
          <p:cNvSpPr/>
          <p:nvPr/>
        </p:nvSpPr>
        <p:spPr>
          <a:xfrm>
            <a:off x="2865120" y="3877056"/>
            <a:ext cx="26211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The best ramen I've tried was in San Francisco, in Japantown.</a:t>
            </a:r>
            <a:endParaRPr b="0" i="0" sz="1200" u="none" cap="none" strike="noStrike">
              <a:solidFill>
                <a:schemeClr val="dk1"/>
              </a:solidFill>
              <a:latin typeface="Calibri"/>
              <a:ea typeface="Calibri"/>
              <a:cs typeface="Calibri"/>
              <a:sym typeface="Calibri"/>
            </a:endParaRPr>
          </a:p>
        </p:txBody>
      </p:sp>
      <p:sp>
        <p:nvSpPr>
          <p:cNvPr id="297" name="Google Shape;297;g3f4a47ca9f1_1_296"/>
          <p:cNvSpPr/>
          <p:nvPr/>
        </p:nvSpPr>
        <p:spPr>
          <a:xfrm>
            <a:off x="731520" y="4937760"/>
            <a:ext cx="17067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8" name="Google Shape;298;g3f4a47ca9f1_1_296"/>
          <p:cNvSpPr/>
          <p:nvPr/>
        </p:nvSpPr>
        <p:spPr>
          <a:xfrm>
            <a:off x="731520" y="4937760"/>
            <a:ext cx="17067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Attempted</a:t>
            </a:r>
            <a:endParaRPr b="0" i="0" sz="13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Translation</a:t>
            </a:r>
            <a:endParaRPr b="0" i="0" sz="1300" u="none" cap="none" strike="noStrike">
              <a:solidFill>
                <a:schemeClr val="dk1"/>
              </a:solidFill>
              <a:latin typeface="Calibri"/>
              <a:ea typeface="Calibri"/>
              <a:cs typeface="Calibri"/>
              <a:sym typeface="Calibri"/>
            </a:endParaRPr>
          </a:p>
        </p:txBody>
      </p:sp>
      <p:sp>
        <p:nvSpPr>
          <p:cNvPr id="299" name="Google Shape;299;g3f4a47ca9f1_1_296"/>
          <p:cNvSpPr/>
          <p:nvPr/>
        </p:nvSpPr>
        <p:spPr>
          <a:xfrm>
            <a:off x="1207008" y="5815584"/>
            <a:ext cx="756000" cy="756000"/>
          </a:xfrm>
          <a:prstGeom prst="ellipse">
            <a:avLst/>
          </a:prstGeom>
          <a:solidFill>
            <a:srgbClr val="E8ECEF"/>
          </a:solidFill>
          <a:ln cap="flat" cmpd="sng" w="16925">
            <a:solidFill>
              <a:srgbClr val="D8DEE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300" name="Google Shape;300;g3f4a47ca9f1_1_296"/>
          <p:cNvPicPr preferRelativeResize="0"/>
          <p:nvPr/>
        </p:nvPicPr>
        <p:blipFill rotWithShape="1">
          <a:blip r:embed="rId4">
            <a:alphaModFix/>
          </a:blip>
          <a:srcRect b="0" l="0" r="0" t="0"/>
          <a:stretch/>
        </p:blipFill>
        <p:spPr>
          <a:xfrm>
            <a:off x="1402080" y="6010656"/>
            <a:ext cx="365760" cy="365760"/>
          </a:xfrm>
          <a:prstGeom prst="rect">
            <a:avLst/>
          </a:prstGeom>
          <a:noFill/>
          <a:ln>
            <a:noFill/>
          </a:ln>
        </p:spPr>
      </p:pic>
      <p:sp>
        <p:nvSpPr>
          <p:cNvPr id="301" name="Google Shape;301;g3f4a47ca9f1_1_296"/>
          <p:cNvSpPr/>
          <p:nvPr/>
        </p:nvSpPr>
        <p:spPr>
          <a:xfrm>
            <a:off x="2865120" y="4937760"/>
            <a:ext cx="24993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2" name="Google Shape;302;g3f4a47ca9f1_1_296"/>
          <p:cNvSpPr/>
          <p:nvPr/>
        </p:nvSpPr>
        <p:spPr>
          <a:xfrm>
            <a:off x="2865120" y="4937760"/>
            <a:ext cx="24993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Transcribed</a:t>
            </a:r>
            <a:endParaRPr b="0" i="0" sz="13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Translation</a:t>
            </a:r>
            <a:endParaRPr b="0" i="0" sz="1300" u="none" cap="none" strike="noStrike">
              <a:solidFill>
                <a:schemeClr val="dk1"/>
              </a:solidFill>
              <a:latin typeface="Calibri"/>
              <a:ea typeface="Calibri"/>
              <a:cs typeface="Calibri"/>
              <a:sym typeface="Calibri"/>
            </a:endParaRPr>
          </a:p>
        </p:txBody>
      </p:sp>
      <p:sp>
        <p:nvSpPr>
          <p:cNvPr id="303" name="Google Shape;303;g3f4a47ca9f1_1_296"/>
          <p:cNvSpPr/>
          <p:nvPr/>
        </p:nvSpPr>
        <p:spPr>
          <a:xfrm>
            <a:off x="2865120" y="5766816"/>
            <a:ext cx="26211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200"/>
              <a:buFont typeface="Arial"/>
              <a:buNone/>
            </a:pPr>
            <a:r>
              <a:rPr b="0" i="0" lang="en-IN" sz="1200" u="none" cap="none" strike="noStrike">
                <a:solidFill>
                  <a:srgbClr val="1A2333"/>
                </a:solidFill>
                <a:latin typeface="Arial"/>
                <a:ea typeface="Arial"/>
                <a:cs typeface="Arial"/>
                <a:sym typeface="Arial"/>
              </a:rPr>
              <a:t>El mejor ramen que yo he probado era en San Francisco, en Japantown.</a:t>
            </a:r>
            <a:endParaRPr b="0" i="0" sz="1200" u="none" cap="none" strike="noStrike">
              <a:solidFill>
                <a:schemeClr val="dk1"/>
              </a:solidFill>
              <a:latin typeface="Calibri"/>
              <a:ea typeface="Calibri"/>
              <a:cs typeface="Calibri"/>
              <a:sym typeface="Calibri"/>
            </a:endParaRPr>
          </a:p>
        </p:txBody>
      </p:sp>
      <p:sp>
        <p:nvSpPr>
          <p:cNvPr id="304" name="Google Shape;304;g3f4a47ca9f1_1_296"/>
          <p:cNvSpPr/>
          <p:nvPr/>
        </p:nvSpPr>
        <p:spPr>
          <a:xfrm>
            <a:off x="6461760" y="3048000"/>
            <a:ext cx="2804100" cy="731700"/>
          </a:xfrm>
          <a:prstGeom prst="roundRect">
            <a:avLst>
              <a:gd fmla="val 13333"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5" name="Google Shape;305;g3f4a47ca9f1_1_296"/>
          <p:cNvSpPr/>
          <p:nvPr/>
        </p:nvSpPr>
        <p:spPr>
          <a:xfrm>
            <a:off x="6461760" y="3048000"/>
            <a:ext cx="2804100" cy="7317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Translation Evaluation</a:t>
            </a:r>
            <a:endParaRPr b="0" i="0" sz="13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1C2E60"/>
              </a:buClr>
              <a:buSzPts val="1300"/>
              <a:buFont typeface="Trebuchet MS"/>
              <a:buNone/>
            </a:pPr>
            <a:r>
              <a:rPr b="1" i="0" lang="en-IN" sz="1300" u="none" cap="none" strike="noStrike">
                <a:solidFill>
                  <a:srgbClr val="1C2E60"/>
                </a:solidFill>
                <a:latin typeface="Trebuchet MS"/>
                <a:ea typeface="Trebuchet MS"/>
                <a:cs typeface="Trebuchet MS"/>
                <a:sym typeface="Trebuchet MS"/>
              </a:rPr>
              <a:t>Scores</a:t>
            </a:r>
            <a:endParaRPr b="0" i="0" sz="1300" u="none" cap="none" strike="noStrike">
              <a:solidFill>
                <a:schemeClr val="dk1"/>
              </a:solidFill>
              <a:latin typeface="Calibri"/>
              <a:ea typeface="Calibri"/>
              <a:cs typeface="Calibri"/>
              <a:sym typeface="Calibri"/>
            </a:endParaRPr>
          </a:p>
        </p:txBody>
      </p:sp>
      <p:sp>
        <p:nvSpPr>
          <p:cNvPr id="306" name="Google Shape;306;g3f4a47ca9f1_1_296"/>
          <p:cNvSpPr/>
          <p:nvPr/>
        </p:nvSpPr>
        <p:spPr>
          <a:xfrm>
            <a:off x="6461760" y="3925824"/>
            <a:ext cx="4754700" cy="243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COMET Score(0-1) = 0.8827</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MetricX-24(0-25) = 2.1093</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Original: Very Positive, Confidence Score: 0.4659</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Translation: Neutral, Confidence Score: 0.4960</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Sentiment = Shifted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Emotions: Neutral</a:t>
            </a:r>
            <a:endParaRPr b="0" i="0" sz="1300" u="none" cap="none" strike="noStrike">
              <a:solidFill>
                <a:schemeClr val="dk1"/>
              </a:solidFill>
              <a:latin typeface="Calibri"/>
              <a:ea typeface="Calibri"/>
              <a:cs typeface="Calibri"/>
              <a:sym typeface="Calibri"/>
            </a:endParaRPr>
          </a:p>
        </p:txBody>
      </p:sp>
      <p:sp>
        <p:nvSpPr>
          <p:cNvPr id="307" name="Google Shape;307;g3f4a47ca9f1_1_296"/>
          <p:cNvSpPr/>
          <p:nvPr/>
        </p:nvSpPr>
        <p:spPr>
          <a:xfrm>
            <a:off x="5608320" y="4023360"/>
            <a:ext cx="609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575"/>
              </a:buClr>
              <a:buSzPts val="1700"/>
              <a:buFont typeface="Calibri"/>
              <a:buNone/>
            </a:pPr>
            <a:r>
              <a:rPr b="0" i="0" lang="en-IN" sz="1700" u="none" cap="none" strike="noStrike">
                <a:solidFill>
                  <a:srgbClr val="5A6575"/>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08" name="Google Shape;308;g3f4a47ca9f1_1_296"/>
          <p:cNvSpPr/>
          <p:nvPr/>
        </p:nvSpPr>
        <p:spPr>
          <a:xfrm>
            <a:off x="5608320" y="5364480"/>
            <a:ext cx="609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575"/>
              </a:buClr>
              <a:buSzPts val="1700"/>
              <a:buFont typeface="Calibri"/>
              <a:buNone/>
            </a:pPr>
            <a:r>
              <a:rPr b="0" i="0" lang="en-IN" sz="1700" u="none" cap="none" strike="noStrike">
                <a:solidFill>
                  <a:srgbClr val="5A6575"/>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09" name="Google Shape;309;g3f4a47ca9f1_1_296"/>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pic>
        <p:nvPicPr>
          <p:cNvPr descr="logo.png" id="315" name="Google Shape;315;g3f4a47ca9f1_1_329"/>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316" name="Google Shape;316;g3f4a47ca9f1_1_329"/>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Breakdown of Product</a:t>
            </a:r>
            <a:endParaRPr b="0" i="0" sz="3100" u="none" cap="none" strike="noStrike">
              <a:solidFill>
                <a:schemeClr val="dk1"/>
              </a:solidFill>
              <a:latin typeface="Calibri"/>
              <a:ea typeface="Calibri"/>
              <a:cs typeface="Calibri"/>
              <a:sym typeface="Calibri"/>
            </a:endParaRPr>
          </a:p>
        </p:txBody>
      </p:sp>
      <p:sp>
        <p:nvSpPr>
          <p:cNvPr id="317" name="Google Shape;317;g3f4a47ca9f1_1_329"/>
          <p:cNvSpPr/>
          <p:nvPr/>
        </p:nvSpPr>
        <p:spPr>
          <a:xfrm>
            <a:off x="1036320" y="1609344"/>
            <a:ext cx="3048000" cy="1158300"/>
          </a:xfrm>
          <a:prstGeom prst="homePlate">
            <a:avLst>
              <a:gd fmla="val 50000" name="adj"/>
            </a:avLst>
          </a:prstGeom>
          <a:solidFill>
            <a:srgbClr val="1281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8" name="Google Shape;318;g3f4a47ca9f1_1_329"/>
          <p:cNvSpPr/>
          <p:nvPr/>
        </p:nvSpPr>
        <p:spPr>
          <a:xfrm>
            <a:off x="3657600" y="1609344"/>
            <a:ext cx="3048000" cy="1158300"/>
          </a:xfrm>
          <a:prstGeom prst="chevron">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9" name="Google Shape;319;g3f4a47ca9f1_1_329"/>
          <p:cNvSpPr/>
          <p:nvPr/>
        </p:nvSpPr>
        <p:spPr>
          <a:xfrm>
            <a:off x="6278880" y="1609344"/>
            <a:ext cx="3048000" cy="1158300"/>
          </a:xfrm>
          <a:prstGeom prst="chevron">
            <a:avLst>
              <a:gd fmla="val 50000" name="adj"/>
            </a:avLst>
          </a:prstGeom>
          <a:solidFill>
            <a:srgbClr val="3FB8A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0" name="Google Shape;320;g3f4a47ca9f1_1_329"/>
          <p:cNvSpPr/>
          <p:nvPr/>
        </p:nvSpPr>
        <p:spPr>
          <a:xfrm>
            <a:off x="664464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3:</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Translation Quality Intelligence</a:t>
            </a:r>
            <a:endParaRPr b="0" i="0" sz="1500" u="none" cap="none" strike="noStrike">
              <a:solidFill>
                <a:schemeClr val="dk1"/>
              </a:solidFill>
              <a:latin typeface="Calibri"/>
              <a:ea typeface="Calibri"/>
              <a:cs typeface="Calibri"/>
              <a:sym typeface="Calibri"/>
            </a:endParaRPr>
          </a:p>
        </p:txBody>
      </p:sp>
      <p:sp>
        <p:nvSpPr>
          <p:cNvPr id="321" name="Google Shape;321;g3f4a47ca9f1_1_329"/>
          <p:cNvSpPr/>
          <p:nvPr/>
        </p:nvSpPr>
        <p:spPr>
          <a:xfrm>
            <a:off x="8900160" y="1609344"/>
            <a:ext cx="3048000" cy="1158300"/>
          </a:xfrm>
          <a:prstGeom prst="chevron">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2" name="Google Shape;322;g3f4a47ca9f1_1_329"/>
          <p:cNvSpPr/>
          <p:nvPr/>
        </p:nvSpPr>
        <p:spPr>
          <a:xfrm>
            <a:off x="670560" y="2987040"/>
            <a:ext cx="7437300" cy="1524000"/>
          </a:xfrm>
          <a:prstGeom prst="roundRect">
            <a:avLst>
              <a:gd fmla="val 6400" name="adj"/>
            </a:avLst>
          </a:prstGeom>
          <a:solidFill>
            <a:srgbClr val="14214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3" name="Google Shape;323;g3f4a47ca9f1_1_329"/>
          <p:cNvSpPr/>
          <p:nvPr/>
        </p:nvSpPr>
        <p:spPr>
          <a:xfrm>
            <a:off x="914400" y="3145536"/>
            <a:ext cx="7010400" cy="121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5E2F5"/>
              </a:buClr>
              <a:buSzPts val="1100"/>
              <a:buFont typeface="Courier New"/>
              <a:buNone/>
            </a:pPr>
            <a:r>
              <a:rPr b="0" i="0" lang="en-IN" sz="1100" u="none" cap="none" strike="noStrike">
                <a:solidFill>
                  <a:srgbClr val="D5E2F5"/>
                </a:solidFill>
                <a:latin typeface="Courier New"/>
                <a:ea typeface="Courier New"/>
                <a:cs typeface="Courier New"/>
                <a:sym typeface="Courier New"/>
              </a:rPr>
              <a:t>Source:   弗雷德里克王子，英国王室成员。为乔治二世之孙，乔治世是之幼弟。</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1100"/>
              <a:buFont typeface="Courier New"/>
              <a:buNone/>
            </a:pPr>
            <a:r>
              <a:rPr b="0" i="0" lang="en-IN" sz="1100" u="none" cap="none" strike="noStrike">
                <a:solidFill>
                  <a:srgbClr val="D5E2F5"/>
                </a:solidFill>
                <a:latin typeface="Courier New"/>
                <a:ea typeface="Courier New"/>
                <a:cs typeface="Courier New"/>
                <a:sym typeface="Courier New"/>
              </a:rPr>
              <a:t>Translation:   Prince Frederick, a member of the British royal family.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1100"/>
              <a:buFont typeface="Courier New"/>
              <a:buNone/>
            </a:pPr>
            <a:r>
              <a:rPr b="0" i="0" lang="en-IN" sz="1100" u="none" cap="none" strike="noStrike">
                <a:solidFill>
                  <a:srgbClr val="D5E2F5"/>
                </a:solidFill>
                <a:latin typeface="Courier New"/>
                <a:ea typeface="Courier New"/>
                <a:cs typeface="Courier New"/>
                <a:sym typeface="Courier New"/>
              </a:rPr>
              <a:t>COMET (Higher=Better,0-1):  0.8441</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1100"/>
              <a:buFont typeface="Courier New"/>
              <a:buNone/>
            </a:pPr>
            <a:r>
              <a:rPr b="0" i="0" lang="en-IN" sz="1100" u="none" cap="none" strike="noStrike">
                <a:solidFill>
                  <a:srgbClr val="D5E2F5"/>
                </a:solidFill>
                <a:latin typeface="Courier New"/>
                <a:ea typeface="Courier New"/>
                <a:cs typeface="Courier New"/>
                <a:sym typeface="Courier New"/>
              </a:rPr>
              <a:t>MetricX (Lower=Better,0-25): 0.699</a:t>
            </a:r>
            <a:endParaRPr b="0" i="0" sz="1100" u="none" cap="none" strike="noStrike">
              <a:solidFill>
                <a:schemeClr val="dk1"/>
              </a:solidFill>
              <a:latin typeface="Calibri"/>
              <a:ea typeface="Calibri"/>
              <a:cs typeface="Calibri"/>
              <a:sym typeface="Calibri"/>
            </a:endParaRPr>
          </a:p>
        </p:txBody>
      </p:sp>
      <p:sp>
        <p:nvSpPr>
          <p:cNvPr id="324" name="Google Shape;324;g3f4a47ca9f1_1_329"/>
          <p:cNvSpPr/>
          <p:nvPr/>
        </p:nvSpPr>
        <p:spPr>
          <a:xfrm>
            <a:off x="8412480" y="3230880"/>
            <a:ext cx="3048000" cy="103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400"/>
              <a:buFont typeface="Arial"/>
              <a:buNone/>
            </a:pPr>
            <a:r>
              <a:rPr b="0" i="0" lang="en-IN" sz="1400" u="none" cap="none" strike="noStrike">
                <a:solidFill>
                  <a:srgbClr val="1A2333"/>
                </a:solidFill>
                <a:latin typeface="Arial"/>
                <a:ea typeface="Arial"/>
                <a:cs typeface="Arial"/>
                <a:sym typeface="Arial"/>
              </a:rPr>
              <a:t>COMET and MetricX measures accuracy of translation</a:t>
            </a:r>
            <a:endParaRPr b="0" i="0" sz="1400" u="none" cap="none" strike="noStrike">
              <a:solidFill>
                <a:schemeClr val="dk1"/>
              </a:solidFill>
              <a:latin typeface="Calibri"/>
              <a:ea typeface="Calibri"/>
              <a:cs typeface="Calibri"/>
              <a:sym typeface="Calibri"/>
            </a:endParaRPr>
          </a:p>
        </p:txBody>
      </p:sp>
      <p:sp>
        <p:nvSpPr>
          <p:cNvPr id="325" name="Google Shape;325;g3f4a47ca9f1_1_329"/>
          <p:cNvSpPr/>
          <p:nvPr/>
        </p:nvSpPr>
        <p:spPr>
          <a:xfrm>
            <a:off x="670560" y="4693920"/>
            <a:ext cx="7437300" cy="1524000"/>
          </a:xfrm>
          <a:prstGeom prst="roundRect">
            <a:avLst>
              <a:gd fmla="val 6400" name="adj"/>
            </a:avLst>
          </a:prstGeom>
          <a:solidFill>
            <a:srgbClr val="14214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6" name="Google Shape;326;g3f4a47ca9f1_1_329"/>
          <p:cNvSpPr/>
          <p:nvPr/>
        </p:nvSpPr>
        <p:spPr>
          <a:xfrm>
            <a:off x="914400" y="4852416"/>
            <a:ext cx="7010400" cy="121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5E2F5"/>
              </a:buClr>
              <a:buSzPts val="1100"/>
              <a:buFont typeface="Courier New"/>
              <a:buNone/>
            </a:pPr>
            <a:r>
              <a:rPr b="0" i="0" lang="en-IN" sz="1100" u="none" cap="none" strike="noStrike">
                <a:solidFill>
                  <a:srgbClr val="D5E2F5"/>
                </a:solidFill>
                <a:latin typeface="Courier New"/>
                <a:ea typeface="Courier New"/>
                <a:cs typeface="Courier New"/>
                <a:sym typeface="Courier New"/>
              </a:rPr>
              <a:t>Text: 弗雷德里克王子英国王室成员,为乔治二世之孙,乔治三世之幼弟。</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1100"/>
              <a:buFont typeface="Courier New"/>
              <a:buNone/>
            </a:pPr>
            <a:r>
              <a:rPr b="0" i="0" lang="en-IN" sz="1100" u="none" cap="none" strike="noStrike">
                <a:solidFill>
                  <a:srgbClr val="D5E2F5"/>
                </a:solidFill>
                <a:latin typeface="Courier New"/>
                <a:ea typeface="Courier New"/>
                <a:cs typeface="Courier New"/>
                <a:sym typeface="Courier New"/>
              </a:rPr>
              <a:t>Label: Neutral, Confidence Score: 0.7563</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1100"/>
              <a:buFont typeface="Courier New"/>
              <a:buNone/>
            </a:pPr>
            <a:r>
              <a:rPr b="0" i="0" lang="en-IN" sz="1100" u="none" cap="none" strike="noStrike">
                <a:solidFill>
                  <a:srgbClr val="D5E2F5"/>
                </a:solidFill>
                <a:latin typeface="Courier New"/>
                <a:ea typeface="Courier New"/>
                <a:cs typeface="Courier New"/>
                <a:sym typeface="Courier New"/>
              </a:rPr>
              <a:t>Text: Prince Frederick, member of British royal family. Grandson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1100"/>
              <a:buFont typeface="Courier New"/>
              <a:buNone/>
            </a:pPr>
            <a:r>
              <a:rPr b="0" i="0" lang="en-IN" sz="1100" u="none" cap="none" strike="noStrike">
                <a:solidFill>
                  <a:srgbClr val="D5E2F5"/>
                </a:solidFill>
                <a:latin typeface="Courier New"/>
                <a:ea typeface="Courier New"/>
                <a:cs typeface="Courier New"/>
                <a:sym typeface="Courier New"/>
              </a:rPr>
              <a:t>Label: Neutral, Confidence Score: 0.6005</a:t>
            </a:r>
            <a:endParaRPr b="0" i="0" sz="1100" u="none" cap="none" strike="noStrike">
              <a:solidFill>
                <a:schemeClr val="dk1"/>
              </a:solidFill>
              <a:latin typeface="Calibri"/>
              <a:ea typeface="Calibri"/>
              <a:cs typeface="Calibri"/>
              <a:sym typeface="Calibri"/>
            </a:endParaRPr>
          </a:p>
        </p:txBody>
      </p:sp>
      <p:sp>
        <p:nvSpPr>
          <p:cNvPr id="327" name="Google Shape;327;g3f4a47ca9f1_1_329"/>
          <p:cNvSpPr/>
          <p:nvPr/>
        </p:nvSpPr>
        <p:spPr>
          <a:xfrm>
            <a:off x="8412480" y="4937760"/>
            <a:ext cx="3048000" cy="103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400"/>
              <a:buFont typeface="Arial"/>
              <a:buNone/>
            </a:pPr>
            <a:r>
              <a:rPr b="0" i="0" lang="en-IN" sz="1400" u="none" cap="none" strike="noStrike">
                <a:solidFill>
                  <a:srgbClr val="1A2333"/>
                </a:solidFill>
                <a:latin typeface="Arial"/>
                <a:ea typeface="Arial"/>
                <a:cs typeface="Arial"/>
                <a:sym typeface="Arial"/>
              </a:rPr>
              <a:t>Sentiment scores show a shift of 0.15 confidence and no sentiment flip</a:t>
            </a:r>
            <a:endParaRPr b="0" i="0" sz="1400" u="none" cap="none" strike="noStrike">
              <a:solidFill>
                <a:schemeClr val="dk1"/>
              </a:solidFill>
              <a:latin typeface="Calibri"/>
              <a:ea typeface="Calibri"/>
              <a:cs typeface="Calibri"/>
              <a:sym typeface="Calibri"/>
            </a:endParaRPr>
          </a:p>
        </p:txBody>
      </p:sp>
      <p:sp>
        <p:nvSpPr>
          <p:cNvPr id="328" name="Google Shape;328;g3f4a47ca9f1_1_329"/>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pic>
        <p:nvPicPr>
          <p:cNvPr descr="logo.png" id="334" name="Google Shape;334;g3f4a47ca9f1_1_349"/>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335" name="Google Shape;335;g3f4a47ca9f1_1_349"/>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Breakdown of Product</a:t>
            </a:r>
            <a:endParaRPr b="0" i="0" sz="3100" u="none" cap="none" strike="noStrike">
              <a:solidFill>
                <a:schemeClr val="dk1"/>
              </a:solidFill>
              <a:latin typeface="Calibri"/>
              <a:ea typeface="Calibri"/>
              <a:cs typeface="Calibri"/>
              <a:sym typeface="Calibri"/>
            </a:endParaRPr>
          </a:p>
        </p:txBody>
      </p:sp>
      <p:sp>
        <p:nvSpPr>
          <p:cNvPr id="336" name="Google Shape;336;g3f4a47ca9f1_1_349"/>
          <p:cNvSpPr/>
          <p:nvPr/>
        </p:nvSpPr>
        <p:spPr>
          <a:xfrm>
            <a:off x="1036320" y="1609344"/>
            <a:ext cx="3048000" cy="1158300"/>
          </a:xfrm>
          <a:prstGeom prst="homePlate">
            <a:avLst>
              <a:gd fmla="val 50000" name="adj"/>
            </a:avLst>
          </a:prstGeom>
          <a:solidFill>
            <a:srgbClr val="1281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7" name="Google Shape;337;g3f4a47ca9f1_1_349"/>
          <p:cNvSpPr/>
          <p:nvPr/>
        </p:nvSpPr>
        <p:spPr>
          <a:xfrm>
            <a:off x="3657600" y="1609344"/>
            <a:ext cx="3048000" cy="1158300"/>
          </a:xfrm>
          <a:prstGeom prst="chevron">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8" name="Google Shape;338;g3f4a47ca9f1_1_349"/>
          <p:cNvSpPr/>
          <p:nvPr/>
        </p:nvSpPr>
        <p:spPr>
          <a:xfrm>
            <a:off x="6278880" y="1609344"/>
            <a:ext cx="3048000" cy="1158300"/>
          </a:xfrm>
          <a:prstGeom prst="chevron">
            <a:avLst>
              <a:gd fmla="val 50000" name="adj"/>
            </a:avLst>
          </a:prstGeom>
          <a:solidFill>
            <a:srgbClr val="3FB8A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9" name="Google Shape;339;g3f4a47ca9f1_1_349"/>
          <p:cNvSpPr/>
          <p:nvPr/>
        </p:nvSpPr>
        <p:spPr>
          <a:xfrm>
            <a:off x="664464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3:</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Translation Quality Intelligence</a:t>
            </a:r>
            <a:endParaRPr b="0" i="0" sz="1500" u="none" cap="none" strike="noStrike">
              <a:solidFill>
                <a:schemeClr val="dk1"/>
              </a:solidFill>
              <a:latin typeface="Calibri"/>
              <a:ea typeface="Calibri"/>
              <a:cs typeface="Calibri"/>
              <a:sym typeface="Calibri"/>
            </a:endParaRPr>
          </a:p>
        </p:txBody>
      </p:sp>
      <p:sp>
        <p:nvSpPr>
          <p:cNvPr id="340" name="Google Shape;340;g3f4a47ca9f1_1_349"/>
          <p:cNvSpPr/>
          <p:nvPr/>
        </p:nvSpPr>
        <p:spPr>
          <a:xfrm>
            <a:off x="8900160" y="1609344"/>
            <a:ext cx="3048000" cy="1158300"/>
          </a:xfrm>
          <a:prstGeom prst="chevron">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1" name="Google Shape;341;g3f4a47ca9f1_1_349"/>
          <p:cNvSpPr/>
          <p:nvPr/>
        </p:nvSpPr>
        <p:spPr>
          <a:xfrm>
            <a:off x="670560" y="2950464"/>
            <a:ext cx="5303700" cy="3352800"/>
          </a:xfrm>
          <a:prstGeom prst="roundRect">
            <a:avLst>
              <a:gd fmla="val 2909" name="adj"/>
            </a:avLst>
          </a:prstGeom>
          <a:solidFill>
            <a:srgbClr val="14214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2" name="Google Shape;342;g3f4a47ca9f1_1_349"/>
          <p:cNvSpPr/>
          <p:nvPr/>
        </p:nvSpPr>
        <p:spPr>
          <a:xfrm>
            <a:off x="829056" y="3048000"/>
            <a:ext cx="5023200" cy="317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Text: The best ramen I've tried was in San Francisco, in Japantown.</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'neutral', 'score': 0.9804010987281799}</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'joy', 'score': 0.021189594641327858}</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'sadness', 'score': 0.009659701026976109}</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'love', 'score': 0.009202788202031136}</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'surprise', 'score': 0.004780713934451342}</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'gratitude', 'score': 0.00427656527608633}</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'contempt', 'score': 0.00318965595215559}</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'fear', 'score': 0.0028861111495643854}</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'anger', 'score': 0.0019509278936311603}</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'frustration', 'score': 0.001924968557432294}</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'disgust', 'score': 0.0015862188301980495}</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Text: El mejor ramen que yo he probado era en San Francisco, en Japantown.</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'neutral', 'score': 0.9860434532165527}</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'joy', 'score': 0.014214379712939262}</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'sadness', 'score': 0.005882089026272297}</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'surprise', 'score': 0.005347041878849268}</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'contempt', 'score': 0.005183507688343525}</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'disgust', 'score': 0.0036648542154580355}</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'love', 'score': 0.003048291429877281}</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'fear', 'score': 0.00271718786098063}</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'frustration', 'score': 0.002542896894738078}</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'gratitude', 'score': 0.002443605335429311}</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5E2F5"/>
              </a:buClr>
              <a:buSzPts val="800"/>
              <a:buFont typeface="Courier New"/>
              <a:buNone/>
            </a:pPr>
            <a:r>
              <a:rPr b="0" i="0" lang="en-IN" sz="800" u="none" cap="none" strike="noStrike">
                <a:solidFill>
                  <a:srgbClr val="D5E2F5"/>
                </a:solidFill>
                <a:latin typeface="Courier New"/>
                <a:ea typeface="Courier New"/>
                <a:cs typeface="Courier New"/>
                <a:sym typeface="Courier New"/>
              </a:rPr>
              <a:t>{'label': 'anger', 'score': 0.0022379241418093443}</a:t>
            </a:r>
            <a:endParaRPr b="0" i="0" sz="800" u="none" cap="none" strike="noStrike">
              <a:solidFill>
                <a:schemeClr val="dk1"/>
              </a:solidFill>
              <a:latin typeface="Calibri"/>
              <a:ea typeface="Calibri"/>
              <a:cs typeface="Calibri"/>
              <a:sym typeface="Calibri"/>
            </a:endParaRPr>
          </a:p>
        </p:txBody>
      </p:sp>
      <p:sp>
        <p:nvSpPr>
          <p:cNvPr id="343" name="Google Shape;343;g3f4a47ca9f1_1_349"/>
          <p:cNvSpPr/>
          <p:nvPr/>
        </p:nvSpPr>
        <p:spPr>
          <a:xfrm>
            <a:off x="6156960" y="2950464"/>
            <a:ext cx="5364300" cy="1401900"/>
          </a:xfrm>
          <a:prstGeom prst="roundRect">
            <a:avLst>
              <a:gd fmla="val 6957" name="adj"/>
            </a:avLst>
          </a:prstGeom>
          <a:solidFill>
            <a:srgbClr val="14214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4" name="Google Shape;344;g3f4a47ca9f1_1_349"/>
          <p:cNvSpPr/>
          <p:nvPr/>
        </p:nvSpPr>
        <p:spPr>
          <a:xfrm>
            <a:off x="6315456" y="3048000"/>
            <a:ext cx="5059500" cy="121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5E2F5"/>
              </a:buClr>
              <a:buSzPts val="900"/>
              <a:buFont typeface="Courier New"/>
              <a:buNone/>
            </a:pPr>
            <a:r>
              <a:rPr b="0" i="0" lang="en-IN" sz="900" u="none" cap="none" strike="noStrike">
                <a:solidFill>
                  <a:srgbClr val="D5E2F5"/>
                </a:solidFill>
                <a:latin typeface="Courier New"/>
                <a:ea typeface="Courier New"/>
                <a:cs typeface="Courier New"/>
                <a:sym typeface="Courier New"/>
              </a:rPr>
              <a:t>Text: The best ramen I've tried was in San Francisco, in Japantown.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900"/>
              <a:buFont typeface="Courier New"/>
              <a:buNone/>
            </a:pPr>
            <a:r>
              <a:rPr b="0" i="0" lang="en-IN" sz="900" u="none" cap="none" strike="noStrike">
                <a:solidFill>
                  <a:srgbClr val="D5E2F5"/>
                </a:solidFill>
                <a:latin typeface="Courier New"/>
                <a:ea typeface="Courier New"/>
                <a:cs typeface="Courier New"/>
                <a:sym typeface="Courier New"/>
              </a:rPr>
              <a:t>Label: Very Positive, Confidence Score: 0.4659</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900"/>
              <a:buFont typeface="Courier New"/>
              <a:buNone/>
            </a:pPr>
            <a:r>
              <a:rPr b="0" i="0" lang="en-IN" sz="900" u="none" cap="none" strike="noStrike">
                <a:solidFill>
                  <a:srgbClr val="D5E2F5"/>
                </a:solidFill>
                <a:latin typeface="Courier New"/>
                <a:ea typeface="Courier New"/>
                <a:cs typeface="Courier New"/>
                <a:sym typeface="Courier New"/>
              </a:rPr>
              <a:t>Text: El mejor ramen que yo he probado era en San Francisco, en Japantown.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5E2F5"/>
              </a:buClr>
              <a:buSzPts val="900"/>
              <a:buFont typeface="Courier New"/>
              <a:buNone/>
            </a:pPr>
            <a:r>
              <a:rPr b="0" i="0" lang="en-IN" sz="900" u="none" cap="none" strike="noStrike">
                <a:solidFill>
                  <a:srgbClr val="D5E2F5"/>
                </a:solidFill>
                <a:latin typeface="Courier New"/>
                <a:ea typeface="Courier New"/>
                <a:cs typeface="Courier New"/>
                <a:sym typeface="Courier New"/>
              </a:rPr>
              <a:t>Label: Neutral, Confidence Score: 0.4960</a:t>
            </a:r>
            <a:endParaRPr b="0" i="0" sz="900" u="none" cap="none" strike="noStrike">
              <a:solidFill>
                <a:schemeClr val="dk1"/>
              </a:solidFill>
              <a:latin typeface="Calibri"/>
              <a:ea typeface="Calibri"/>
              <a:cs typeface="Calibri"/>
              <a:sym typeface="Calibri"/>
            </a:endParaRPr>
          </a:p>
        </p:txBody>
      </p:sp>
      <p:sp>
        <p:nvSpPr>
          <p:cNvPr id="345" name="Google Shape;345;g3f4a47ca9f1_1_349"/>
          <p:cNvSpPr/>
          <p:nvPr/>
        </p:nvSpPr>
        <p:spPr>
          <a:xfrm>
            <a:off x="6315456" y="4535424"/>
            <a:ext cx="5059500" cy="176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Sentiment analysis of the translation shows a shift from very positive to neutral.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List of emotion labels and their confidence score. Shows no significant difference between original and translation.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300"/>
              <a:buFont typeface="Arial"/>
              <a:buNone/>
            </a:pPr>
            <a:r>
              <a:rPr b="0" i="0" lang="en-IN" sz="1300" u="none" cap="none" strike="noStrike">
                <a:solidFill>
                  <a:srgbClr val="1A2333"/>
                </a:solidFill>
                <a:latin typeface="Arial"/>
                <a:ea typeface="Arial"/>
                <a:cs typeface="Arial"/>
                <a:sym typeface="Arial"/>
              </a:rPr>
              <a:t>Worth noting that emotion and sentiment are not directly related to each other.</a:t>
            </a:r>
            <a:endParaRPr b="0" i="0" sz="1300" u="none" cap="none" strike="noStrike">
              <a:solidFill>
                <a:schemeClr val="dk1"/>
              </a:solidFill>
              <a:latin typeface="Calibri"/>
              <a:ea typeface="Calibri"/>
              <a:cs typeface="Calibri"/>
              <a:sym typeface="Calibri"/>
            </a:endParaRPr>
          </a:p>
        </p:txBody>
      </p:sp>
      <p:sp>
        <p:nvSpPr>
          <p:cNvPr id="346" name="Google Shape;346;g3f4a47ca9f1_1_349"/>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pic>
        <p:nvPicPr>
          <p:cNvPr descr="logo.png" id="352" name="Google Shape;352;g3f4a47ca9f1_1_368"/>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353" name="Google Shape;353;g3f4a47ca9f1_1_368"/>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Breakdown of Product</a:t>
            </a:r>
            <a:endParaRPr b="0" i="0" sz="3100" u="none" cap="none" strike="noStrike">
              <a:solidFill>
                <a:schemeClr val="dk1"/>
              </a:solidFill>
              <a:latin typeface="Calibri"/>
              <a:ea typeface="Calibri"/>
              <a:cs typeface="Calibri"/>
              <a:sym typeface="Calibri"/>
            </a:endParaRPr>
          </a:p>
        </p:txBody>
      </p:sp>
      <p:sp>
        <p:nvSpPr>
          <p:cNvPr id="354" name="Google Shape;354;g3f4a47ca9f1_1_368"/>
          <p:cNvSpPr/>
          <p:nvPr/>
        </p:nvSpPr>
        <p:spPr>
          <a:xfrm>
            <a:off x="1036320" y="1609344"/>
            <a:ext cx="3048000" cy="1158300"/>
          </a:xfrm>
          <a:prstGeom prst="homePlate">
            <a:avLst>
              <a:gd fmla="val 50000" name="adj"/>
            </a:avLst>
          </a:prstGeom>
          <a:solidFill>
            <a:srgbClr val="1281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5" name="Google Shape;355;g3f4a47ca9f1_1_368"/>
          <p:cNvSpPr/>
          <p:nvPr/>
        </p:nvSpPr>
        <p:spPr>
          <a:xfrm>
            <a:off x="3657600" y="1609344"/>
            <a:ext cx="3048000" cy="1158300"/>
          </a:xfrm>
          <a:prstGeom prst="chevron">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6" name="Google Shape;356;g3f4a47ca9f1_1_368"/>
          <p:cNvSpPr/>
          <p:nvPr/>
        </p:nvSpPr>
        <p:spPr>
          <a:xfrm>
            <a:off x="6278880" y="1609344"/>
            <a:ext cx="3048000" cy="1158300"/>
          </a:xfrm>
          <a:prstGeom prst="chevron">
            <a:avLst>
              <a:gd fmla="val 50000" name="adj"/>
            </a:avLst>
          </a:prstGeom>
          <a:solidFill>
            <a:srgbClr val="3FB8A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7" name="Google Shape;357;g3f4a47ca9f1_1_368"/>
          <p:cNvSpPr/>
          <p:nvPr/>
        </p:nvSpPr>
        <p:spPr>
          <a:xfrm>
            <a:off x="8900160" y="1609344"/>
            <a:ext cx="3048000" cy="1158300"/>
          </a:xfrm>
          <a:prstGeom prst="chevron">
            <a:avLst>
              <a:gd fmla="val 50000" name="adj"/>
            </a:avLst>
          </a:prstGeom>
          <a:solidFill>
            <a:srgbClr val="8FD8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8" name="Google Shape;358;g3f4a47ca9f1_1_368"/>
          <p:cNvSpPr/>
          <p:nvPr/>
        </p:nvSpPr>
        <p:spPr>
          <a:xfrm>
            <a:off x="9265920" y="1609344"/>
            <a:ext cx="2499300" cy="1158300"/>
          </a:xfrm>
          <a:prstGeom prst="rect">
            <a:avLst/>
          </a:prstGeom>
          <a:noFill/>
          <a:ln>
            <a:noFill/>
          </a:ln>
        </p:spPr>
        <p:txBody>
          <a:bodyPr anchorCtr="0" anchor="ctr" bIns="0" lIns="0" spcFirstLastPara="1" rIns="0" wrap="square" tIns="0">
            <a:noAutofit/>
          </a:bodyPr>
          <a:lstStyle/>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Step 4:</a:t>
            </a:r>
            <a:endParaRPr b="0" i="0" sz="1500" u="none" cap="none" strike="noStrike">
              <a:solidFill>
                <a:schemeClr val="dk1"/>
              </a:solidFill>
              <a:latin typeface="Calibri"/>
              <a:ea typeface="Calibri"/>
              <a:cs typeface="Calibri"/>
              <a:sym typeface="Calibri"/>
            </a:endParaRPr>
          </a:p>
          <a:p>
            <a:pPr indent="0" lvl="0" marL="0" marR="0" rtl="0" algn="ctr">
              <a:lnSpc>
                <a:spcPct val="98000"/>
              </a:lnSpc>
              <a:spcBef>
                <a:spcPts val="0"/>
              </a:spcBef>
              <a:spcAft>
                <a:spcPts val="0"/>
              </a:spcAft>
              <a:buClr>
                <a:srgbClr val="FFFFFF"/>
              </a:buClr>
              <a:buSzPts val="1500"/>
              <a:buFont typeface="Trebuchet MS"/>
              <a:buNone/>
            </a:pPr>
            <a:r>
              <a:rPr b="1" i="0" lang="en-IN" sz="1500" u="none" cap="none" strike="noStrike">
                <a:solidFill>
                  <a:srgbClr val="FFFFFF"/>
                </a:solidFill>
                <a:latin typeface="Trebuchet MS"/>
                <a:ea typeface="Trebuchet MS"/>
                <a:cs typeface="Trebuchet MS"/>
                <a:sym typeface="Trebuchet MS"/>
              </a:rPr>
              <a:t>Automation and Improvement</a:t>
            </a:r>
            <a:endParaRPr b="0" i="0" sz="1500" u="none" cap="none" strike="noStrike">
              <a:solidFill>
                <a:schemeClr val="dk1"/>
              </a:solidFill>
              <a:latin typeface="Calibri"/>
              <a:ea typeface="Calibri"/>
              <a:cs typeface="Calibri"/>
              <a:sym typeface="Calibri"/>
            </a:endParaRPr>
          </a:p>
        </p:txBody>
      </p:sp>
      <p:sp>
        <p:nvSpPr>
          <p:cNvPr id="359" name="Google Shape;359;g3f4a47ca9f1_1_368"/>
          <p:cNvSpPr/>
          <p:nvPr/>
        </p:nvSpPr>
        <p:spPr>
          <a:xfrm>
            <a:off x="670560" y="2950464"/>
            <a:ext cx="3657600" cy="3352800"/>
          </a:xfrm>
          <a:prstGeom prst="roundRect">
            <a:avLst>
              <a:gd fmla="val 2909"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600"/>
          </a:p>
        </p:txBody>
      </p:sp>
      <p:sp>
        <p:nvSpPr>
          <p:cNvPr id="360" name="Google Shape;360;g3f4a47ca9f1_1_368"/>
          <p:cNvSpPr/>
          <p:nvPr/>
        </p:nvSpPr>
        <p:spPr>
          <a:xfrm>
            <a:off x="877824" y="3096768"/>
            <a:ext cx="3291900" cy="195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1200"/>
              <a:buFont typeface="Arial"/>
              <a:buNone/>
            </a:pPr>
            <a:r>
              <a:rPr b="1" i="0" lang="en-IN" u="none" cap="none" strike="noStrike">
                <a:solidFill>
                  <a:srgbClr val="1C2E60"/>
                </a:solidFill>
                <a:latin typeface="Arial"/>
                <a:ea typeface="Arial"/>
                <a:cs typeface="Arial"/>
                <a:sym typeface="Arial"/>
              </a:rPr>
              <a:t>Language Pair  Avg Quality</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200"/>
              <a:buFont typeface="Arial"/>
              <a:buNone/>
            </a:pPr>
            <a:r>
              <a:rPr b="0" i="0" lang="en-IN" u="none" cap="none" strike="noStrike">
                <a:solidFill>
                  <a:srgbClr val="1A2333"/>
                </a:solidFill>
                <a:latin typeface="Arial"/>
                <a:ea typeface="Arial"/>
                <a:cs typeface="Arial"/>
                <a:sym typeface="Arial"/>
              </a:rPr>
              <a:t>English ↔ Spanish  94%</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200"/>
              <a:buFont typeface="Arial"/>
              <a:buNone/>
            </a:pPr>
            <a:r>
              <a:rPr b="0" i="0" lang="en-IN" u="none" cap="none" strike="noStrike">
                <a:solidFill>
                  <a:srgbClr val="1A2333"/>
                </a:solidFill>
                <a:latin typeface="Arial"/>
                <a:ea typeface="Arial"/>
                <a:cs typeface="Arial"/>
                <a:sym typeface="Arial"/>
              </a:rPr>
              <a:t>English ↔ Japanese  87%</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200"/>
              <a:buFont typeface="Arial"/>
              <a:buNone/>
            </a:pPr>
            <a:r>
              <a:rPr b="0" i="0" lang="en-IN" u="none" cap="none" strike="noStrike">
                <a:solidFill>
                  <a:srgbClr val="1A2333"/>
                </a:solidFill>
                <a:latin typeface="Arial"/>
                <a:ea typeface="Arial"/>
                <a:cs typeface="Arial"/>
                <a:sym typeface="Arial"/>
              </a:rPr>
              <a:t>English ↔ Arabic  78%</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E60"/>
              </a:buClr>
              <a:buSzPts val="1200"/>
              <a:buFont typeface="Arial"/>
              <a:buNone/>
            </a:pPr>
            <a:r>
              <a:rPr b="1" i="0" lang="en-IN" u="none" cap="none" strike="noStrike">
                <a:solidFill>
                  <a:srgbClr val="1C2E60"/>
                </a:solidFill>
                <a:latin typeface="Arial"/>
                <a:ea typeface="Arial"/>
                <a:cs typeface="Arial"/>
                <a:sym typeface="Arial"/>
              </a:rPr>
              <a:t>Problem Type  Frequency</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200"/>
              <a:buFont typeface="Arial"/>
              <a:buNone/>
            </a:pPr>
            <a:r>
              <a:rPr b="0" i="0" lang="en-IN" u="none" cap="none" strike="noStrike">
                <a:solidFill>
                  <a:srgbClr val="1A2333"/>
                </a:solidFill>
                <a:latin typeface="Arial"/>
                <a:ea typeface="Arial"/>
                <a:cs typeface="Arial"/>
                <a:sym typeface="Arial"/>
              </a:rPr>
              <a:t>Missing words  32%</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200"/>
              <a:buFont typeface="Arial"/>
              <a:buNone/>
            </a:pPr>
            <a:r>
              <a:rPr b="0" i="0" lang="en-IN" u="none" cap="none" strike="noStrike">
                <a:solidFill>
                  <a:srgbClr val="1A2333"/>
                </a:solidFill>
                <a:latin typeface="Arial"/>
                <a:ea typeface="Arial"/>
                <a:cs typeface="Arial"/>
                <a:sym typeface="Arial"/>
              </a:rPr>
              <a:t>Sentiment loss  21%</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200"/>
              <a:buFont typeface="Arial"/>
              <a:buNone/>
            </a:pPr>
            <a:r>
              <a:rPr b="0" i="0" lang="en-IN" u="none" cap="none" strike="noStrike">
                <a:solidFill>
                  <a:srgbClr val="1A2333"/>
                </a:solidFill>
                <a:latin typeface="Arial"/>
                <a:ea typeface="Arial"/>
                <a:cs typeface="Arial"/>
                <a:sym typeface="Arial"/>
              </a:rPr>
              <a:t>Audio issues  15%</a:t>
            </a:r>
            <a:endParaRPr b="0" i="0" u="none" cap="none" strike="noStrike">
              <a:solidFill>
                <a:schemeClr val="dk1"/>
              </a:solidFill>
              <a:latin typeface="Calibri"/>
              <a:ea typeface="Calibri"/>
              <a:cs typeface="Calibri"/>
              <a:sym typeface="Calibri"/>
            </a:endParaRPr>
          </a:p>
        </p:txBody>
      </p:sp>
      <p:sp>
        <p:nvSpPr>
          <p:cNvPr id="361" name="Google Shape;361;g3f4a47ca9f1_1_368"/>
          <p:cNvSpPr/>
          <p:nvPr/>
        </p:nvSpPr>
        <p:spPr>
          <a:xfrm>
            <a:off x="877824" y="5096256"/>
            <a:ext cx="3291900" cy="115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1000"/>
              <a:buFont typeface="Arial"/>
              <a:buNone/>
            </a:pPr>
            <a:r>
              <a:rPr b="0" i="0" lang="en-IN" sz="1200" u="none" cap="none" strike="noStrike">
                <a:solidFill>
                  <a:srgbClr val="5A6575"/>
                </a:solidFill>
                <a:latin typeface="Arial"/>
                <a:ea typeface="Arial"/>
                <a:cs typeface="Arial"/>
                <a:sym typeface="Arial"/>
              </a:rPr>
              <a:t>• Helps determine which languages need improvement, what main issues are, etc.</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575"/>
              </a:buClr>
              <a:buSzPts val="1000"/>
              <a:buFont typeface="Arial"/>
              <a:buNone/>
            </a:pPr>
            <a:r>
              <a:rPr b="0" i="0" lang="en-IN" sz="1200" u="none" cap="none" strike="noStrike">
                <a:solidFill>
                  <a:srgbClr val="5A6575"/>
                </a:solidFill>
                <a:latin typeface="Arial"/>
                <a:ea typeface="Arial"/>
                <a:cs typeface="Arial"/>
                <a:sym typeface="Arial"/>
              </a:rPr>
              <a:t>• Use AInstein platform to automate the use of these metrics, identify priority tasks, and improve product.</a:t>
            </a:r>
            <a:endParaRPr b="0" i="0" sz="1200" u="none" cap="none" strike="noStrike">
              <a:solidFill>
                <a:schemeClr val="dk1"/>
              </a:solidFill>
              <a:latin typeface="Calibri"/>
              <a:ea typeface="Calibri"/>
              <a:cs typeface="Calibri"/>
              <a:sym typeface="Calibri"/>
            </a:endParaRPr>
          </a:p>
        </p:txBody>
      </p:sp>
      <p:sp>
        <p:nvSpPr>
          <p:cNvPr id="362" name="Google Shape;362;g3f4a47ca9f1_1_368"/>
          <p:cNvSpPr/>
          <p:nvPr/>
        </p:nvSpPr>
        <p:spPr>
          <a:xfrm>
            <a:off x="4572000" y="2950464"/>
            <a:ext cx="6949500" cy="3352800"/>
          </a:xfrm>
          <a:prstGeom prst="roundRect">
            <a:avLst>
              <a:gd fmla="val 3636" name="adj"/>
            </a:avLst>
          </a:prstGeom>
          <a:solidFill>
            <a:srgbClr val="F4F6FA"/>
          </a:solidFill>
          <a:ln cap="flat" cmpd="sng" w="16925">
            <a:solidFill>
              <a:srgbClr val="D8DEE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63" name="Google Shape;363;g3f4a47ca9f1_1_368"/>
          <p:cNvSpPr/>
          <p:nvPr/>
        </p:nvSpPr>
        <p:spPr>
          <a:xfrm>
            <a:off x="4779264" y="3048000"/>
            <a:ext cx="48768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1100"/>
              <a:buFont typeface="Arial"/>
              <a:buNone/>
            </a:pPr>
            <a:r>
              <a:rPr b="1" i="0" lang="en-IN" sz="1500" u="none" cap="none" strike="noStrike">
                <a:solidFill>
                  <a:srgbClr val="5A6575"/>
                </a:solidFill>
                <a:latin typeface="Arial"/>
                <a:ea typeface="Arial"/>
                <a:cs typeface="Arial"/>
                <a:sym typeface="Arial"/>
              </a:rPr>
              <a:t>CompNova  •  Translation Quality</a:t>
            </a:r>
            <a:endParaRPr b="0" i="0" sz="1500" u="none" cap="none" strike="noStrike">
              <a:solidFill>
                <a:schemeClr val="dk1"/>
              </a:solidFill>
              <a:latin typeface="Calibri"/>
              <a:ea typeface="Calibri"/>
              <a:cs typeface="Calibri"/>
              <a:sym typeface="Calibri"/>
            </a:endParaRPr>
          </a:p>
        </p:txBody>
      </p:sp>
      <p:sp>
        <p:nvSpPr>
          <p:cNvPr id="364" name="Google Shape;364;g3f4a47ca9f1_1_368"/>
          <p:cNvSpPr/>
          <p:nvPr/>
        </p:nvSpPr>
        <p:spPr>
          <a:xfrm>
            <a:off x="4779264" y="3340608"/>
            <a:ext cx="1487700" cy="756000"/>
          </a:xfrm>
          <a:prstGeom prst="roundRect">
            <a:avLst>
              <a:gd fmla="val 9677"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65" name="Google Shape;365;g3f4a47ca9f1_1_368"/>
          <p:cNvSpPr/>
          <p:nvPr/>
        </p:nvSpPr>
        <p:spPr>
          <a:xfrm>
            <a:off x="4876800" y="3364992"/>
            <a:ext cx="1341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600"/>
              <a:buFont typeface="Trebuchet MS"/>
              <a:buNone/>
            </a:pPr>
            <a:r>
              <a:rPr b="1" i="0" lang="en-IN" sz="2000" u="none" cap="none" strike="noStrike">
                <a:solidFill>
                  <a:srgbClr val="12816F"/>
                </a:solidFill>
                <a:latin typeface="Trebuchet MS"/>
                <a:ea typeface="Trebuchet MS"/>
                <a:cs typeface="Trebuchet MS"/>
                <a:sym typeface="Trebuchet MS"/>
              </a:rPr>
              <a:t>94.2%</a:t>
            </a:r>
            <a:endParaRPr b="0" i="0" sz="2000" u="none" cap="none" strike="noStrike">
              <a:solidFill>
                <a:schemeClr val="dk1"/>
              </a:solidFill>
              <a:latin typeface="Calibri"/>
              <a:ea typeface="Calibri"/>
              <a:cs typeface="Calibri"/>
              <a:sym typeface="Calibri"/>
            </a:endParaRPr>
          </a:p>
        </p:txBody>
      </p:sp>
      <p:sp>
        <p:nvSpPr>
          <p:cNvPr id="366" name="Google Shape;366;g3f4a47ca9f1_1_368"/>
          <p:cNvSpPr/>
          <p:nvPr/>
        </p:nvSpPr>
        <p:spPr>
          <a:xfrm>
            <a:off x="4876800" y="3730752"/>
            <a:ext cx="1365600" cy="31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800"/>
              <a:buFont typeface="Arial"/>
              <a:buNone/>
            </a:pPr>
            <a:r>
              <a:rPr b="0" i="0" lang="en-IN" sz="1200" u="none" cap="none" strike="noStrike">
                <a:solidFill>
                  <a:srgbClr val="5A6575"/>
                </a:solidFill>
                <a:latin typeface="Arial"/>
                <a:ea typeface="Arial"/>
                <a:cs typeface="Arial"/>
                <a:sym typeface="Arial"/>
              </a:rPr>
              <a:t>sentiment preserved</a:t>
            </a:r>
            <a:endParaRPr b="0" i="0" sz="1200" u="none" cap="none" strike="noStrike">
              <a:solidFill>
                <a:schemeClr val="dk1"/>
              </a:solidFill>
              <a:latin typeface="Calibri"/>
              <a:ea typeface="Calibri"/>
              <a:cs typeface="Calibri"/>
              <a:sym typeface="Calibri"/>
            </a:endParaRPr>
          </a:p>
        </p:txBody>
      </p:sp>
      <p:sp>
        <p:nvSpPr>
          <p:cNvPr id="367" name="Google Shape;367;g3f4a47ca9f1_1_368"/>
          <p:cNvSpPr/>
          <p:nvPr/>
        </p:nvSpPr>
        <p:spPr>
          <a:xfrm>
            <a:off x="6388608" y="3340608"/>
            <a:ext cx="1487700" cy="756000"/>
          </a:xfrm>
          <a:prstGeom prst="roundRect">
            <a:avLst>
              <a:gd fmla="val 9677"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68" name="Google Shape;368;g3f4a47ca9f1_1_368"/>
          <p:cNvSpPr/>
          <p:nvPr/>
        </p:nvSpPr>
        <p:spPr>
          <a:xfrm>
            <a:off x="6486144" y="3364992"/>
            <a:ext cx="1341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1600"/>
              <a:buFont typeface="Trebuchet MS"/>
              <a:buNone/>
            </a:pPr>
            <a:r>
              <a:rPr b="1" i="0" lang="en-IN" sz="2000" u="none" cap="none" strike="noStrike">
                <a:solidFill>
                  <a:srgbClr val="1C2E60"/>
                </a:solidFill>
                <a:latin typeface="Trebuchet MS"/>
                <a:ea typeface="Trebuchet MS"/>
                <a:cs typeface="Trebuchet MS"/>
                <a:sym typeface="Trebuchet MS"/>
              </a:rPr>
              <a:t>86%</a:t>
            </a:r>
            <a:endParaRPr b="0" i="0" sz="2000" u="none" cap="none" strike="noStrike">
              <a:solidFill>
                <a:schemeClr val="dk1"/>
              </a:solidFill>
              <a:latin typeface="Calibri"/>
              <a:ea typeface="Calibri"/>
              <a:cs typeface="Calibri"/>
              <a:sym typeface="Calibri"/>
            </a:endParaRPr>
          </a:p>
        </p:txBody>
      </p:sp>
      <p:sp>
        <p:nvSpPr>
          <p:cNvPr id="369" name="Google Shape;369;g3f4a47ca9f1_1_368"/>
          <p:cNvSpPr/>
          <p:nvPr/>
        </p:nvSpPr>
        <p:spPr>
          <a:xfrm>
            <a:off x="6486144" y="3730752"/>
            <a:ext cx="1365600" cy="31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800"/>
              <a:buFont typeface="Arial"/>
              <a:buNone/>
            </a:pPr>
            <a:r>
              <a:rPr b="0" i="0" lang="en-IN" sz="1200" u="none" cap="none" strike="noStrike">
                <a:solidFill>
                  <a:srgbClr val="5A6575"/>
                </a:solidFill>
                <a:latin typeface="Arial"/>
                <a:ea typeface="Arial"/>
                <a:cs typeface="Arial"/>
                <a:sym typeface="Arial"/>
              </a:rPr>
              <a:t>avg accuracy</a:t>
            </a:r>
            <a:endParaRPr b="0" i="0" sz="1200" u="none" cap="none" strike="noStrike">
              <a:solidFill>
                <a:schemeClr val="dk1"/>
              </a:solidFill>
              <a:latin typeface="Calibri"/>
              <a:ea typeface="Calibri"/>
              <a:cs typeface="Calibri"/>
              <a:sym typeface="Calibri"/>
            </a:endParaRPr>
          </a:p>
        </p:txBody>
      </p:sp>
      <p:sp>
        <p:nvSpPr>
          <p:cNvPr id="370" name="Google Shape;370;g3f4a47ca9f1_1_368"/>
          <p:cNvSpPr/>
          <p:nvPr/>
        </p:nvSpPr>
        <p:spPr>
          <a:xfrm>
            <a:off x="7997952" y="3340608"/>
            <a:ext cx="1487700" cy="756000"/>
          </a:xfrm>
          <a:prstGeom prst="roundRect">
            <a:avLst>
              <a:gd fmla="val 9677"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71" name="Google Shape;371;g3f4a47ca9f1_1_368"/>
          <p:cNvSpPr/>
          <p:nvPr/>
        </p:nvSpPr>
        <p:spPr>
          <a:xfrm>
            <a:off x="8095488" y="3364992"/>
            <a:ext cx="1341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4C"/>
              </a:buClr>
              <a:buSzPts val="1600"/>
              <a:buFont typeface="Trebuchet MS"/>
              <a:buNone/>
            </a:pPr>
            <a:r>
              <a:rPr b="1" i="0" lang="en-IN" sz="2000" u="none" cap="none" strike="noStrike">
                <a:solidFill>
                  <a:srgbClr val="E8604C"/>
                </a:solidFill>
                <a:latin typeface="Trebuchet MS"/>
                <a:ea typeface="Trebuchet MS"/>
                <a:cs typeface="Trebuchet MS"/>
                <a:sym typeface="Trebuchet MS"/>
              </a:rPr>
              <a:t>312</a:t>
            </a:r>
            <a:endParaRPr b="0" i="0" sz="2000" u="none" cap="none" strike="noStrike">
              <a:solidFill>
                <a:schemeClr val="dk1"/>
              </a:solidFill>
              <a:latin typeface="Calibri"/>
              <a:ea typeface="Calibri"/>
              <a:cs typeface="Calibri"/>
              <a:sym typeface="Calibri"/>
            </a:endParaRPr>
          </a:p>
        </p:txBody>
      </p:sp>
      <p:sp>
        <p:nvSpPr>
          <p:cNvPr id="372" name="Google Shape;372;g3f4a47ca9f1_1_368"/>
          <p:cNvSpPr/>
          <p:nvPr/>
        </p:nvSpPr>
        <p:spPr>
          <a:xfrm>
            <a:off x="8095488" y="3730752"/>
            <a:ext cx="1365600" cy="31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800"/>
              <a:buFont typeface="Arial"/>
              <a:buNone/>
            </a:pPr>
            <a:r>
              <a:rPr b="0" i="0" lang="en-IN" sz="1200" u="none" cap="none" strike="noStrike">
                <a:solidFill>
                  <a:srgbClr val="5A6575"/>
                </a:solidFill>
                <a:latin typeface="Arial"/>
                <a:ea typeface="Arial"/>
                <a:cs typeface="Arial"/>
                <a:sym typeface="Arial"/>
              </a:rPr>
              <a:t>calls flagged</a:t>
            </a:r>
            <a:endParaRPr b="0" i="0" sz="1200" u="none" cap="none" strike="noStrike">
              <a:solidFill>
                <a:schemeClr val="dk1"/>
              </a:solidFill>
              <a:latin typeface="Calibri"/>
              <a:ea typeface="Calibri"/>
              <a:cs typeface="Calibri"/>
              <a:sym typeface="Calibri"/>
            </a:endParaRPr>
          </a:p>
        </p:txBody>
      </p:sp>
      <p:sp>
        <p:nvSpPr>
          <p:cNvPr id="373" name="Google Shape;373;g3f4a47ca9f1_1_368"/>
          <p:cNvSpPr/>
          <p:nvPr/>
        </p:nvSpPr>
        <p:spPr>
          <a:xfrm>
            <a:off x="9631680" y="3340608"/>
            <a:ext cx="1731300" cy="756000"/>
          </a:xfrm>
          <a:prstGeom prst="roundRect">
            <a:avLst>
              <a:gd fmla="val 9677"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74" name="Google Shape;374;g3f4a47ca9f1_1_368"/>
          <p:cNvSpPr/>
          <p:nvPr/>
        </p:nvSpPr>
        <p:spPr>
          <a:xfrm>
            <a:off x="9729216" y="3377184"/>
            <a:ext cx="1584900" cy="1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800"/>
              <a:buFont typeface="Arial"/>
              <a:buNone/>
            </a:pPr>
            <a:r>
              <a:rPr b="1" i="0" lang="en-IN" sz="1200" u="none" cap="none" strike="noStrike">
                <a:solidFill>
                  <a:srgbClr val="5A6575"/>
                </a:solidFill>
                <a:latin typeface="Arial"/>
                <a:ea typeface="Arial"/>
                <a:cs typeface="Arial"/>
                <a:sym typeface="Arial"/>
              </a:rPr>
              <a:t>Model benchmark</a:t>
            </a:r>
            <a:endParaRPr b="0" i="0" sz="1200" u="none" cap="none" strike="noStrike">
              <a:solidFill>
                <a:schemeClr val="dk1"/>
              </a:solidFill>
              <a:latin typeface="Calibri"/>
              <a:ea typeface="Calibri"/>
              <a:cs typeface="Calibri"/>
              <a:sym typeface="Calibri"/>
            </a:endParaRPr>
          </a:p>
        </p:txBody>
      </p:sp>
      <p:sp>
        <p:nvSpPr>
          <p:cNvPr id="375" name="Google Shape;375;g3f4a47ca9f1_1_368"/>
          <p:cNvSpPr/>
          <p:nvPr/>
        </p:nvSpPr>
        <p:spPr>
          <a:xfrm>
            <a:off x="9729216" y="3584448"/>
            <a:ext cx="16461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800"/>
              <a:buFont typeface="Courier New"/>
              <a:buNone/>
            </a:pPr>
            <a:r>
              <a:rPr b="0" i="0" lang="en-IN" sz="1200" u="none" cap="none" strike="noStrike">
                <a:solidFill>
                  <a:srgbClr val="1A2333"/>
                </a:solidFill>
                <a:latin typeface="Courier New"/>
                <a:ea typeface="Courier New"/>
                <a:cs typeface="Courier New"/>
                <a:sym typeface="Courier New"/>
              </a:rPr>
              <a:t>Model A  0.89</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604C"/>
              </a:buClr>
              <a:buSzPts val="800"/>
              <a:buFont typeface="Courier New"/>
              <a:buNone/>
            </a:pPr>
            <a:r>
              <a:rPr b="0" i="0" lang="en-IN" sz="1200" u="none" cap="none" strike="noStrike">
                <a:solidFill>
                  <a:srgbClr val="E8604C"/>
                </a:solidFill>
                <a:latin typeface="Courier New"/>
                <a:ea typeface="Courier New"/>
                <a:cs typeface="Courier New"/>
                <a:sym typeface="Courier New"/>
              </a:rPr>
              <a:t>Model B  0.81 ← swap</a:t>
            </a:r>
            <a:endParaRPr b="0" i="0" sz="1200" u="none" cap="none" strike="noStrike">
              <a:solidFill>
                <a:schemeClr val="dk1"/>
              </a:solidFill>
              <a:latin typeface="Calibri"/>
              <a:ea typeface="Calibri"/>
              <a:cs typeface="Calibri"/>
              <a:sym typeface="Calibri"/>
            </a:endParaRPr>
          </a:p>
        </p:txBody>
      </p:sp>
      <p:sp>
        <p:nvSpPr>
          <p:cNvPr id="376" name="Google Shape;376;g3f4a47ca9f1_1_368"/>
          <p:cNvSpPr/>
          <p:nvPr/>
        </p:nvSpPr>
        <p:spPr>
          <a:xfrm>
            <a:off x="4803589" y="4194016"/>
            <a:ext cx="34137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900"/>
              <a:buFont typeface="Arial"/>
              <a:buNone/>
            </a:pPr>
            <a:r>
              <a:rPr b="1" i="0" lang="en-IN" sz="1300" u="none" cap="none" strike="noStrike">
                <a:solidFill>
                  <a:srgbClr val="5A6575"/>
                </a:solidFill>
                <a:latin typeface="Arial"/>
                <a:ea typeface="Arial"/>
                <a:cs typeface="Arial"/>
                <a:sym typeface="Arial"/>
              </a:rPr>
              <a:t>Sentiment preserved, by language</a:t>
            </a:r>
            <a:endParaRPr b="0" i="0" sz="1300" u="none" cap="none" strike="noStrike">
              <a:solidFill>
                <a:schemeClr val="dk1"/>
              </a:solidFill>
              <a:latin typeface="Calibri"/>
              <a:ea typeface="Calibri"/>
              <a:cs typeface="Calibri"/>
              <a:sym typeface="Calibri"/>
            </a:endParaRPr>
          </a:p>
        </p:txBody>
      </p:sp>
      <p:sp>
        <p:nvSpPr>
          <p:cNvPr id="377" name="Google Shape;377;g3f4a47ca9f1_1_368"/>
          <p:cNvSpPr/>
          <p:nvPr/>
        </p:nvSpPr>
        <p:spPr>
          <a:xfrm>
            <a:off x="4779264" y="4486656"/>
            <a:ext cx="878100" cy="1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800"/>
              <a:buFont typeface="Arial"/>
              <a:buNone/>
            </a:pPr>
            <a:r>
              <a:rPr b="0" i="0" lang="en-IN" sz="1200" u="none" cap="none" strike="noStrike">
                <a:solidFill>
                  <a:srgbClr val="1A2333"/>
                </a:solidFill>
                <a:latin typeface="Arial"/>
                <a:ea typeface="Arial"/>
                <a:cs typeface="Arial"/>
                <a:sym typeface="Arial"/>
              </a:rPr>
              <a:t>Spanish</a:t>
            </a:r>
            <a:endParaRPr b="0" i="0" sz="1200" u="none" cap="none" strike="noStrike">
              <a:solidFill>
                <a:schemeClr val="dk1"/>
              </a:solidFill>
              <a:latin typeface="Calibri"/>
              <a:ea typeface="Calibri"/>
              <a:cs typeface="Calibri"/>
              <a:sym typeface="Calibri"/>
            </a:endParaRPr>
          </a:p>
        </p:txBody>
      </p:sp>
      <p:sp>
        <p:nvSpPr>
          <p:cNvPr id="378" name="Google Shape;378;g3f4a47ca9f1_1_368"/>
          <p:cNvSpPr/>
          <p:nvPr/>
        </p:nvSpPr>
        <p:spPr>
          <a:xfrm>
            <a:off x="5705856" y="4511040"/>
            <a:ext cx="1828800" cy="122100"/>
          </a:xfrm>
          <a:prstGeom prst="roundRect">
            <a:avLst>
              <a:gd fmla="val 50000" name="adj"/>
            </a:avLst>
          </a:prstGeom>
          <a:solidFill>
            <a:srgbClr val="E1E6E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79" name="Google Shape;379;g3f4a47ca9f1_1_368"/>
          <p:cNvSpPr/>
          <p:nvPr/>
        </p:nvSpPr>
        <p:spPr>
          <a:xfrm>
            <a:off x="5705856" y="4511040"/>
            <a:ext cx="1755600" cy="122100"/>
          </a:xfrm>
          <a:prstGeom prst="roundRect">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80" name="Google Shape;380;g3f4a47ca9f1_1_368"/>
          <p:cNvSpPr/>
          <p:nvPr/>
        </p:nvSpPr>
        <p:spPr>
          <a:xfrm>
            <a:off x="7583424" y="4462272"/>
            <a:ext cx="487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800"/>
              <a:buFont typeface="Arial"/>
              <a:buNone/>
            </a:pPr>
            <a:r>
              <a:rPr b="1" i="0" lang="en-IN" sz="1200" u="none" cap="none" strike="noStrike">
                <a:solidFill>
                  <a:srgbClr val="12816F"/>
                </a:solidFill>
                <a:latin typeface="Arial"/>
                <a:ea typeface="Arial"/>
                <a:cs typeface="Arial"/>
                <a:sym typeface="Arial"/>
              </a:rPr>
              <a:t>96%</a:t>
            </a:r>
            <a:endParaRPr b="0" i="0" sz="1200" u="none" cap="none" strike="noStrike">
              <a:solidFill>
                <a:schemeClr val="dk1"/>
              </a:solidFill>
              <a:latin typeface="Calibri"/>
              <a:ea typeface="Calibri"/>
              <a:cs typeface="Calibri"/>
              <a:sym typeface="Calibri"/>
            </a:endParaRPr>
          </a:p>
        </p:txBody>
      </p:sp>
      <p:sp>
        <p:nvSpPr>
          <p:cNvPr id="381" name="Google Shape;381;g3f4a47ca9f1_1_368"/>
          <p:cNvSpPr/>
          <p:nvPr/>
        </p:nvSpPr>
        <p:spPr>
          <a:xfrm>
            <a:off x="4779264" y="4901184"/>
            <a:ext cx="878100" cy="1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800"/>
              <a:buFont typeface="Arial"/>
              <a:buNone/>
            </a:pPr>
            <a:r>
              <a:rPr b="0" i="0" lang="en-IN" sz="1200" u="none" cap="none" strike="noStrike">
                <a:solidFill>
                  <a:srgbClr val="1A2333"/>
                </a:solidFill>
                <a:latin typeface="Arial"/>
                <a:ea typeface="Arial"/>
                <a:cs typeface="Arial"/>
                <a:sym typeface="Arial"/>
              </a:rPr>
              <a:t>French</a:t>
            </a:r>
            <a:endParaRPr b="0" i="0" sz="1200" u="none" cap="none" strike="noStrike">
              <a:solidFill>
                <a:schemeClr val="dk1"/>
              </a:solidFill>
              <a:latin typeface="Calibri"/>
              <a:ea typeface="Calibri"/>
              <a:cs typeface="Calibri"/>
              <a:sym typeface="Calibri"/>
            </a:endParaRPr>
          </a:p>
        </p:txBody>
      </p:sp>
      <p:sp>
        <p:nvSpPr>
          <p:cNvPr id="382" name="Google Shape;382;g3f4a47ca9f1_1_368"/>
          <p:cNvSpPr/>
          <p:nvPr/>
        </p:nvSpPr>
        <p:spPr>
          <a:xfrm>
            <a:off x="5705856" y="4925568"/>
            <a:ext cx="1828800" cy="122100"/>
          </a:xfrm>
          <a:prstGeom prst="roundRect">
            <a:avLst>
              <a:gd fmla="val 50000" name="adj"/>
            </a:avLst>
          </a:prstGeom>
          <a:solidFill>
            <a:srgbClr val="E1E6E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83" name="Google Shape;383;g3f4a47ca9f1_1_368"/>
          <p:cNvSpPr/>
          <p:nvPr/>
        </p:nvSpPr>
        <p:spPr>
          <a:xfrm>
            <a:off x="5705856" y="4925568"/>
            <a:ext cx="1664400" cy="122100"/>
          </a:xfrm>
          <a:prstGeom prst="roundRect">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84" name="Google Shape;384;g3f4a47ca9f1_1_368"/>
          <p:cNvSpPr/>
          <p:nvPr/>
        </p:nvSpPr>
        <p:spPr>
          <a:xfrm>
            <a:off x="7583424" y="4876800"/>
            <a:ext cx="487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800"/>
              <a:buFont typeface="Arial"/>
              <a:buNone/>
            </a:pPr>
            <a:r>
              <a:rPr b="1" i="0" lang="en-IN" sz="1200" u="none" cap="none" strike="noStrike">
                <a:solidFill>
                  <a:srgbClr val="12816F"/>
                </a:solidFill>
                <a:latin typeface="Arial"/>
                <a:ea typeface="Arial"/>
                <a:cs typeface="Arial"/>
                <a:sym typeface="Arial"/>
              </a:rPr>
              <a:t>91%</a:t>
            </a:r>
            <a:endParaRPr b="0" i="0" sz="1200" u="none" cap="none" strike="noStrike">
              <a:solidFill>
                <a:schemeClr val="dk1"/>
              </a:solidFill>
              <a:latin typeface="Calibri"/>
              <a:ea typeface="Calibri"/>
              <a:cs typeface="Calibri"/>
              <a:sym typeface="Calibri"/>
            </a:endParaRPr>
          </a:p>
        </p:txBody>
      </p:sp>
      <p:sp>
        <p:nvSpPr>
          <p:cNvPr id="385" name="Google Shape;385;g3f4a47ca9f1_1_368"/>
          <p:cNvSpPr/>
          <p:nvPr/>
        </p:nvSpPr>
        <p:spPr>
          <a:xfrm>
            <a:off x="4779264" y="5315712"/>
            <a:ext cx="878100" cy="1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800"/>
              <a:buFont typeface="Arial"/>
              <a:buNone/>
            </a:pPr>
            <a:r>
              <a:rPr b="0" i="0" lang="en-IN" sz="1200" u="none" cap="none" strike="noStrike">
                <a:solidFill>
                  <a:srgbClr val="1A2333"/>
                </a:solidFill>
                <a:latin typeface="Arial"/>
                <a:ea typeface="Arial"/>
                <a:cs typeface="Arial"/>
                <a:sym typeface="Arial"/>
              </a:rPr>
              <a:t>Portuguese</a:t>
            </a:r>
            <a:endParaRPr b="0" i="0" sz="1200" u="none" cap="none" strike="noStrike">
              <a:solidFill>
                <a:schemeClr val="dk1"/>
              </a:solidFill>
              <a:latin typeface="Calibri"/>
              <a:ea typeface="Calibri"/>
              <a:cs typeface="Calibri"/>
              <a:sym typeface="Calibri"/>
            </a:endParaRPr>
          </a:p>
        </p:txBody>
      </p:sp>
      <p:sp>
        <p:nvSpPr>
          <p:cNvPr id="386" name="Google Shape;386;g3f4a47ca9f1_1_368"/>
          <p:cNvSpPr/>
          <p:nvPr/>
        </p:nvSpPr>
        <p:spPr>
          <a:xfrm>
            <a:off x="5705856" y="5340096"/>
            <a:ext cx="1828800" cy="122100"/>
          </a:xfrm>
          <a:prstGeom prst="roundRect">
            <a:avLst>
              <a:gd fmla="val 50000" name="adj"/>
            </a:avLst>
          </a:prstGeom>
          <a:solidFill>
            <a:srgbClr val="E1E6E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87" name="Google Shape;387;g3f4a47ca9f1_1_368"/>
          <p:cNvSpPr/>
          <p:nvPr/>
        </p:nvSpPr>
        <p:spPr>
          <a:xfrm>
            <a:off x="5705856" y="5340096"/>
            <a:ext cx="1609200" cy="122100"/>
          </a:xfrm>
          <a:prstGeom prst="roundRect">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88" name="Google Shape;388;g3f4a47ca9f1_1_368"/>
          <p:cNvSpPr/>
          <p:nvPr/>
        </p:nvSpPr>
        <p:spPr>
          <a:xfrm>
            <a:off x="7583424" y="5291328"/>
            <a:ext cx="487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800"/>
              <a:buFont typeface="Arial"/>
              <a:buNone/>
            </a:pPr>
            <a:r>
              <a:rPr b="1" i="0" lang="en-IN" sz="1200" u="none" cap="none" strike="noStrike">
                <a:solidFill>
                  <a:srgbClr val="12816F"/>
                </a:solidFill>
                <a:latin typeface="Arial"/>
                <a:ea typeface="Arial"/>
                <a:cs typeface="Arial"/>
                <a:sym typeface="Arial"/>
              </a:rPr>
              <a:t>88%</a:t>
            </a:r>
            <a:endParaRPr b="0" i="0" sz="1200" u="none" cap="none" strike="noStrike">
              <a:solidFill>
                <a:schemeClr val="dk1"/>
              </a:solidFill>
              <a:latin typeface="Calibri"/>
              <a:ea typeface="Calibri"/>
              <a:cs typeface="Calibri"/>
              <a:sym typeface="Calibri"/>
            </a:endParaRPr>
          </a:p>
        </p:txBody>
      </p:sp>
      <p:sp>
        <p:nvSpPr>
          <p:cNvPr id="389" name="Google Shape;389;g3f4a47ca9f1_1_368"/>
          <p:cNvSpPr/>
          <p:nvPr/>
        </p:nvSpPr>
        <p:spPr>
          <a:xfrm>
            <a:off x="4779264" y="5730240"/>
            <a:ext cx="878100" cy="1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800"/>
              <a:buFont typeface="Arial"/>
              <a:buNone/>
            </a:pPr>
            <a:r>
              <a:rPr b="0" i="0" lang="en-IN" sz="1200" u="none" cap="none" strike="noStrike">
                <a:solidFill>
                  <a:srgbClr val="1A2333"/>
                </a:solidFill>
                <a:latin typeface="Arial"/>
                <a:ea typeface="Arial"/>
                <a:cs typeface="Arial"/>
                <a:sym typeface="Arial"/>
              </a:rPr>
              <a:t>Mandarin</a:t>
            </a:r>
            <a:endParaRPr b="0" i="0" sz="1200" u="none" cap="none" strike="noStrike">
              <a:solidFill>
                <a:schemeClr val="dk1"/>
              </a:solidFill>
              <a:latin typeface="Calibri"/>
              <a:ea typeface="Calibri"/>
              <a:cs typeface="Calibri"/>
              <a:sym typeface="Calibri"/>
            </a:endParaRPr>
          </a:p>
        </p:txBody>
      </p:sp>
      <p:sp>
        <p:nvSpPr>
          <p:cNvPr id="390" name="Google Shape;390;g3f4a47ca9f1_1_368"/>
          <p:cNvSpPr/>
          <p:nvPr/>
        </p:nvSpPr>
        <p:spPr>
          <a:xfrm>
            <a:off x="5705856" y="5754624"/>
            <a:ext cx="1828800" cy="122100"/>
          </a:xfrm>
          <a:prstGeom prst="roundRect">
            <a:avLst>
              <a:gd fmla="val 50000" name="adj"/>
            </a:avLst>
          </a:prstGeom>
          <a:solidFill>
            <a:srgbClr val="E1E6E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91" name="Google Shape;391;g3f4a47ca9f1_1_368"/>
          <p:cNvSpPr/>
          <p:nvPr/>
        </p:nvSpPr>
        <p:spPr>
          <a:xfrm>
            <a:off x="5705856" y="5754624"/>
            <a:ext cx="1444800" cy="122100"/>
          </a:xfrm>
          <a:prstGeom prst="roundRect">
            <a:avLst>
              <a:gd fmla="val 50000" name="adj"/>
            </a:avLst>
          </a:prstGeom>
          <a:solidFill>
            <a:srgbClr val="E8604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92" name="Google Shape;392;g3f4a47ca9f1_1_368"/>
          <p:cNvSpPr/>
          <p:nvPr/>
        </p:nvSpPr>
        <p:spPr>
          <a:xfrm>
            <a:off x="7583424" y="5705856"/>
            <a:ext cx="487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4C"/>
              </a:buClr>
              <a:buSzPts val="800"/>
              <a:buFont typeface="Arial"/>
              <a:buNone/>
            </a:pPr>
            <a:r>
              <a:rPr b="1" i="0" lang="en-IN" sz="1200" u="none" cap="none" strike="noStrike">
                <a:solidFill>
                  <a:srgbClr val="E8604C"/>
                </a:solidFill>
                <a:latin typeface="Arial"/>
                <a:ea typeface="Arial"/>
                <a:cs typeface="Arial"/>
                <a:sym typeface="Arial"/>
              </a:rPr>
              <a:t>79%</a:t>
            </a:r>
            <a:endParaRPr b="0" i="0" sz="1200" u="none" cap="none" strike="noStrike">
              <a:solidFill>
                <a:schemeClr val="dk1"/>
              </a:solidFill>
              <a:latin typeface="Calibri"/>
              <a:ea typeface="Calibri"/>
              <a:cs typeface="Calibri"/>
              <a:sym typeface="Calibri"/>
            </a:endParaRPr>
          </a:p>
        </p:txBody>
      </p:sp>
      <p:sp>
        <p:nvSpPr>
          <p:cNvPr id="393" name="Google Shape;393;g3f4a47ca9f1_1_368"/>
          <p:cNvSpPr/>
          <p:nvPr/>
        </p:nvSpPr>
        <p:spPr>
          <a:xfrm>
            <a:off x="8229600" y="4242816"/>
            <a:ext cx="3048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900"/>
              <a:buFont typeface="Arial"/>
              <a:buNone/>
            </a:pPr>
            <a:r>
              <a:rPr b="1" i="0" lang="en-IN" sz="1300" u="none" cap="none" strike="noStrike">
                <a:solidFill>
                  <a:srgbClr val="5A6575"/>
                </a:solidFill>
                <a:latin typeface="Arial"/>
                <a:ea typeface="Arial"/>
                <a:cs typeface="Arial"/>
                <a:sym typeface="Arial"/>
              </a:rPr>
              <a:t>Flagged for review</a:t>
            </a:r>
            <a:endParaRPr b="0" i="0" sz="1300" u="none" cap="none" strike="noStrike">
              <a:solidFill>
                <a:schemeClr val="dk1"/>
              </a:solidFill>
              <a:latin typeface="Calibri"/>
              <a:ea typeface="Calibri"/>
              <a:cs typeface="Calibri"/>
              <a:sym typeface="Calibri"/>
            </a:endParaRPr>
          </a:p>
        </p:txBody>
      </p:sp>
      <p:sp>
        <p:nvSpPr>
          <p:cNvPr id="394" name="Google Shape;394;g3f4a47ca9f1_1_368"/>
          <p:cNvSpPr/>
          <p:nvPr/>
        </p:nvSpPr>
        <p:spPr>
          <a:xfrm>
            <a:off x="8229600" y="4486656"/>
            <a:ext cx="3121200" cy="341100"/>
          </a:xfrm>
          <a:prstGeom prst="roundRect">
            <a:avLst>
              <a:gd fmla="val 14286"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95" name="Google Shape;395;g3f4a47ca9f1_1_368"/>
          <p:cNvSpPr/>
          <p:nvPr/>
        </p:nvSpPr>
        <p:spPr>
          <a:xfrm>
            <a:off x="8327136" y="4511040"/>
            <a:ext cx="12192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800"/>
              <a:buFont typeface="Courier New"/>
              <a:buNone/>
            </a:pPr>
            <a:r>
              <a:rPr b="1" i="0" lang="en-IN" sz="1200" u="none" cap="none" strike="noStrike">
                <a:solidFill>
                  <a:srgbClr val="1C2E60"/>
                </a:solidFill>
                <a:latin typeface="Courier New"/>
                <a:ea typeface="Courier New"/>
                <a:cs typeface="Courier New"/>
                <a:sym typeface="Courier New"/>
              </a:rPr>
              <a:t>#48211 ES→EN</a:t>
            </a:r>
            <a:endParaRPr b="0" i="0" sz="1200" u="none" cap="none" strike="noStrike">
              <a:solidFill>
                <a:schemeClr val="dk1"/>
              </a:solidFill>
              <a:latin typeface="Calibri"/>
              <a:ea typeface="Calibri"/>
              <a:cs typeface="Calibri"/>
              <a:sym typeface="Calibri"/>
            </a:endParaRPr>
          </a:p>
        </p:txBody>
      </p:sp>
      <p:sp>
        <p:nvSpPr>
          <p:cNvPr id="396" name="Google Shape;396;g3f4a47ca9f1_1_368"/>
          <p:cNvSpPr/>
          <p:nvPr/>
        </p:nvSpPr>
        <p:spPr>
          <a:xfrm>
            <a:off x="9570720" y="4511040"/>
            <a:ext cx="17313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4C"/>
              </a:buClr>
              <a:buSzPts val="800"/>
              <a:buFont typeface="Arial"/>
              <a:buNone/>
            </a:pPr>
            <a:r>
              <a:rPr b="0" i="0" lang="en-IN" sz="1200" u="none" cap="none" strike="noStrike">
                <a:solidFill>
                  <a:srgbClr val="E8604C"/>
                </a:solidFill>
                <a:latin typeface="Arial"/>
                <a:ea typeface="Arial"/>
                <a:cs typeface="Arial"/>
                <a:sym typeface="Arial"/>
              </a:rPr>
              <a:t>Anger read as neutral</a:t>
            </a:r>
            <a:endParaRPr b="0" i="0" sz="1200" u="none" cap="none" strike="noStrike">
              <a:solidFill>
                <a:schemeClr val="dk1"/>
              </a:solidFill>
              <a:latin typeface="Calibri"/>
              <a:ea typeface="Calibri"/>
              <a:cs typeface="Calibri"/>
              <a:sym typeface="Calibri"/>
            </a:endParaRPr>
          </a:p>
        </p:txBody>
      </p:sp>
      <p:sp>
        <p:nvSpPr>
          <p:cNvPr id="397" name="Google Shape;397;g3f4a47ca9f1_1_368"/>
          <p:cNvSpPr/>
          <p:nvPr/>
        </p:nvSpPr>
        <p:spPr>
          <a:xfrm>
            <a:off x="8229600" y="4901184"/>
            <a:ext cx="3121200" cy="341100"/>
          </a:xfrm>
          <a:prstGeom prst="roundRect">
            <a:avLst>
              <a:gd fmla="val 14286"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398" name="Google Shape;398;g3f4a47ca9f1_1_368"/>
          <p:cNvSpPr/>
          <p:nvPr/>
        </p:nvSpPr>
        <p:spPr>
          <a:xfrm>
            <a:off x="8327136" y="4925568"/>
            <a:ext cx="12192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800"/>
              <a:buFont typeface="Courier New"/>
              <a:buNone/>
            </a:pPr>
            <a:r>
              <a:rPr b="1" i="0" lang="en-IN" sz="1200" u="none" cap="none" strike="noStrike">
                <a:solidFill>
                  <a:srgbClr val="1C2E60"/>
                </a:solidFill>
                <a:latin typeface="Courier New"/>
                <a:ea typeface="Courier New"/>
                <a:cs typeface="Courier New"/>
                <a:sym typeface="Courier New"/>
              </a:rPr>
              <a:t>#48307 ZH→EN</a:t>
            </a:r>
            <a:endParaRPr b="0" i="0" sz="1200" u="none" cap="none" strike="noStrike">
              <a:solidFill>
                <a:schemeClr val="dk1"/>
              </a:solidFill>
              <a:latin typeface="Calibri"/>
              <a:ea typeface="Calibri"/>
              <a:cs typeface="Calibri"/>
              <a:sym typeface="Calibri"/>
            </a:endParaRPr>
          </a:p>
        </p:txBody>
      </p:sp>
      <p:sp>
        <p:nvSpPr>
          <p:cNvPr id="399" name="Google Shape;399;g3f4a47ca9f1_1_368"/>
          <p:cNvSpPr/>
          <p:nvPr/>
        </p:nvSpPr>
        <p:spPr>
          <a:xfrm>
            <a:off x="9570720" y="4925568"/>
            <a:ext cx="17313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4C"/>
              </a:buClr>
              <a:buSzPts val="800"/>
              <a:buFont typeface="Arial"/>
              <a:buNone/>
            </a:pPr>
            <a:r>
              <a:rPr b="0" i="0" lang="en-IN" sz="1200" u="none" cap="none" strike="noStrike">
                <a:solidFill>
                  <a:srgbClr val="E8604C"/>
                </a:solidFill>
                <a:latin typeface="Arial"/>
                <a:ea typeface="Arial"/>
                <a:cs typeface="Arial"/>
                <a:sym typeface="Arial"/>
              </a:rPr>
              <a:t>Account number dropped</a:t>
            </a:r>
            <a:endParaRPr b="0" i="0" sz="1200" u="none" cap="none" strike="noStrike">
              <a:solidFill>
                <a:schemeClr val="dk1"/>
              </a:solidFill>
              <a:latin typeface="Calibri"/>
              <a:ea typeface="Calibri"/>
              <a:cs typeface="Calibri"/>
              <a:sym typeface="Calibri"/>
            </a:endParaRPr>
          </a:p>
        </p:txBody>
      </p:sp>
      <p:sp>
        <p:nvSpPr>
          <p:cNvPr id="400" name="Google Shape;400;g3f4a47ca9f1_1_368"/>
          <p:cNvSpPr/>
          <p:nvPr/>
        </p:nvSpPr>
        <p:spPr>
          <a:xfrm>
            <a:off x="8229600" y="5315712"/>
            <a:ext cx="3121200" cy="341100"/>
          </a:xfrm>
          <a:prstGeom prst="roundRect">
            <a:avLst>
              <a:gd fmla="val 14286" name="adj"/>
            </a:avLst>
          </a:prstGeom>
          <a:solidFill>
            <a:srgbClr val="FFFFFF"/>
          </a:solidFill>
          <a:ln cap="flat" cmpd="sng" w="16925">
            <a:solidFill>
              <a:srgbClr val="E1E6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00"/>
          </a:p>
        </p:txBody>
      </p:sp>
      <p:sp>
        <p:nvSpPr>
          <p:cNvPr id="401" name="Google Shape;401;g3f4a47ca9f1_1_368"/>
          <p:cNvSpPr/>
          <p:nvPr/>
        </p:nvSpPr>
        <p:spPr>
          <a:xfrm>
            <a:off x="8327136" y="5340096"/>
            <a:ext cx="12192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800"/>
              <a:buFont typeface="Courier New"/>
              <a:buNone/>
            </a:pPr>
            <a:r>
              <a:rPr b="1" i="0" lang="en-IN" sz="1200" u="none" cap="none" strike="noStrike">
                <a:solidFill>
                  <a:srgbClr val="1C2E60"/>
                </a:solidFill>
                <a:latin typeface="Courier New"/>
                <a:ea typeface="Courier New"/>
                <a:cs typeface="Courier New"/>
                <a:sym typeface="Courier New"/>
              </a:rPr>
              <a:t>#48334 FR→EN</a:t>
            </a:r>
            <a:endParaRPr b="0" i="0" sz="1200" u="none" cap="none" strike="noStrike">
              <a:solidFill>
                <a:schemeClr val="dk1"/>
              </a:solidFill>
              <a:latin typeface="Calibri"/>
              <a:ea typeface="Calibri"/>
              <a:cs typeface="Calibri"/>
              <a:sym typeface="Calibri"/>
            </a:endParaRPr>
          </a:p>
        </p:txBody>
      </p:sp>
      <p:sp>
        <p:nvSpPr>
          <p:cNvPr id="402" name="Google Shape;402;g3f4a47ca9f1_1_368"/>
          <p:cNvSpPr/>
          <p:nvPr/>
        </p:nvSpPr>
        <p:spPr>
          <a:xfrm>
            <a:off x="9570720" y="5340096"/>
            <a:ext cx="17313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4C"/>
              </a:buClr>
              <a:buSzPts val="800"/>
              <a:buFont typeface="Arial"/>
              <a:buNone/>
            </a:pPr>
            <a:r>
              <a:rPr b="0" i="0" lang="en-IN" sz="1200" u="none" cap="none" strike="noStrike">
                <a:solidFill>
                  <a:srgbClr val="E8604C"/>
                </a:solidFill>
                <a:latin typeface="Arial"/>
                <a:ea typeface="Arial"/>
                <a:cs typeface="Arial"/>
                <a:sym typeface="Arial"/>
              </a:rPr>
              <a:t>Urgency lost</a:t>
            </a:r>
            <a:endParaRPr b="0" i="0" sz="1200" u="none" cap="none" strike="noStrike">
              <a:solidFill>
                <a:schemeClr val="dk1"/>
              </a:solidFill>
              <a:latin typeface="Calibri"/>
              <a:ea typeface="Calibri"/>
              <a:cs typeface="Calibri"/>
              <a:sym typeface="Calibri"/>
            </a:endParaRPr>
          </a:p>
        </p:txBody>
      </p:sp>
      <p:sp>
        <p:nvSpPr>
          <p:cNvPr id="403" name="Google Shape;403;g3f4a47ca9f1_1_368"/>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E60"/>
        </a:solidFill>
      </p:bgPr>
    </p:bg>
    <p:spTree>
      <p:nvGrpSpPr>
        <p:cNvPr id="408" name="Shape 408"/>
        <p:cNvGrpSpPr/>
        <p:nvPr/>
      </p:nvGrpSpPr>
      <p:grpSpPr>
        <a:xfrm>
          <a:off x="0" y="0"/>
          <a:ext cx="0" cy="0"/>
          <a:chOff x="0" y="0"/>
          <a:chExt cx="0" cy="0"/>
        </a:xfrm>
      </p:grpSpPr>
      <p:sp>
        <p:nvSpPr>
          <p:cNvPr id="409" name="Google Shape;409;g3f4a47ca9f1_1_426"/>
          <p:cNvSpPr/>
          <p:nvPr/>
        </p:nvSpPr>
        <p:spPr>
          <a:xfrm>
            <a:off x="853440" y="512064"/>
            <a:ext cx="10363200" cy="34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8CC"/>
              </a:buClr>
              <a:buSzPts val="1600"/>
              <a:buFont typeface="Arial"/>
              <a:buNone/>
            </a:pPr>
            <a:r>
              <a:rPr b="0" i="1" lang="en-IN" sz="1600" u="none" cap="none" strike="noStrike">
                <a:solidFill>
                  <a:srgbClr val="8FD8CC"/>
                </a:solidFill>
                <a:latin typeface="Arial"/>
                <a:ea typeface="Arial"/>
                <a:cs typeface="Arial"/>
                <a:sym typeface="Arial"/>
              </a:rPr>
              <a:t>T-Mobile said it themselves:</a:t>
            </a:r>
            <a:endParaRPr b="0" i="0" sz="1600" u="none" cap="none" strike="noStrike">
              <a:solidFill>
                <a:schemeClr val="dk1"/>
              </a:solidFill>
              <a:latin typeface="Calibri"/>
              <a:ea typeface="Calibri"/>
              <a:cs typeface="Calibri"/>
              <a:sym typeface="Calibri"/>
            </a:endParaRPr>
          </a:p>
        </p:txBody>
      </p:sp>
      <p:sp>
        <p:nvSpPr>
          <p:cNvPr id="410" name="Google Shape;410;g3f4a47ca9f1_1_426"/>
          <p:cNvSpPr/>
          <p:nvPr/>
        </p:nvSpPr>
        <p:spPr>
          <a:xfrm>
            <a:off x="853440" y="877824"/>
            <a:ext cx="104853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Trebuchet MS"/>
              <a:buNone/>
            </a:pPr>
            <a:r>
              <a:rPr b="0" i="0" lang="en-IN" sz="2400" u="none" cap="none" strike="noStrike">
                <a:solidFill>
                  <a:srgbClr val="FFFFFF"/>
                </a:solidFill>
                <a:latin typeface="Trebuchet MS"/>
                <a:ea typeface="Trebuchet MS"/>
                <a:cs typeface="Trebuchet MS"/>
                <a:sym typeface="Trebuchet MS"/>
              </a:rPr>
              <a:t>“Accuracy is </a:t>
            </a:r>
            <a:r>
              <a:rPr b="1" i="0" lang="en-IN" sz="2400" u="none" cap="none" strike="noStrike">
                <a:solidFill>
                  <a:srgbClr val="8FD8CC"/>
                </a:solidFill>
                <a:latin typeface="Trebuchet MS"/>
                <a:ea typeface="Trebuchet MS"/>
                <a:cs typeface="Trebuchet MS"/>
                <a:sym typeface="Trebuchet MS"/>
              </a:rPr>
              <a:t>not guaranteed.”</a:t>
            </a:r>
            <a:r>
              <a:rPr b="0" i="0" lang="en-IN" sz="1700" u="none" cap="none" strike="noStrike">
                <a:solidFill>
                  <a:srgbClr val="C9D6EF"/>
                </a:solidFill>
                <a:latin typeface="Trebuchet MS"/>
                <a:ea typeface="Trebuchet MS"/>
                <a:cs typeface="Trebuchet MS"/>
                <a:sym typeface="Trebuchet MS"/>
              </a:rPr>
              <a:t>   - T-Mobile Live Translation disclaimer</a:t>
            </a:r>
            <a:endParaRPr b="0" i="0" sz="2400" u="none" cap="none" strike="noStrike">
              <a:solidFill>
                <a:schemeClr val="dk1"/>
              </a:solidFill>
              <a:latin typeface="Calibri"/>
              <a:ea typeface="Calibri"/>
              <a:cs typeface="Calibri"/>
              <a:sym typeface="Calibri"/>
            </a:endParaRPr>
          </a:p>
        </p:txBody>
      </p:sp>
      <p:sp>
        <p:nvSpPr>
          <p:cNvPr id="411" name="Google Shape;411;g3f4a47ca9f1_1_426"/>
          <p:cNvSpPr/>
          <p:nvPr/>
        </p:nvSpPr>
        <p:spPr>
          <a:xfrm>
            <a:off x="853440" y="1463040"/>
            <a:ext cx="10485300" cy="243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2" name="Google Shape;412;g3f4a47ca9f1_1_426"/>
          <p:cNvSpPr/>
          <p:nvPr/>
        </p:nvSpPr>
        <p:spPr>
          <a:xfrm>
            <a:off x="853440" y="1584960"/>
            <a:ext cx="104853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500"/>
              <a:buFont typeface="Trebuchet MS"/>
              <a:buNone/>
            </a:pPr>
            <a:r>
              <a:rPr b="1" i="0" lang="en-IN" sz="3500" u="none" cap="none" strike="noStrike">
                <a:solidFill>
                  <a:srgbClr val="FFFFFF"/>
                </a:solidFill>
                <a:latin typeface="Trebuchet MS"/>
                <a:ea typeface="Trebuchet MS"/>
                <a:cs typeface="Trebuchet MS"/>
                <a:sym typeface="Trebuchet MS"/>
              </a:rPr>
              <a:t>That gap is our contract.</a:t>
            </a:r>
            <a:endParaRPr b="0" i="0" sz="3500" u="none" cap="none" strike="noStrike">
              <a:solidFill>
                <a:schemeClr val="dk1"/>
              </a:solidFill>
              <a:latin typeface="Calibri"/>
              <a:ea typeface="Calibri"/>
              <a:cs typeface="Calibri"/>
              <a:sym typeface="Calibri"/>
            </a:endParaRPr>
          </a:p>
        </p:txBody>
      </p:sp>
      <p:sp>
        <p:nvSpPr>
          <p:cNvPr id="413" name="Google Shape;413;g3f4a47ca9f1_1_426"/>
          <p:cNvSpPr/>
          <p:nvPr/>
        </p:nvSpPr>
        <p:spPr>
          <a:xfrm>
            <a:off x="853440" y="2377440"/>
            <a:ext cx="5120700" cy="3474900"/>
          </a:xfrm>
          <a:prstGeom prst="roundRect">
            <a:avLst>
              <a:gd fmla="val 4211" name="adj"/>
            </a:avLst>
          </a:prstGeom>
          <a:solidFill>
            <a:srgbClr val="142147"/>
          </a:solidFill>
          <a:ln cap="flat" cmpd="sng" w="16925">
            <a:solidFill>
              <a:srgbClr val="1FA893"/>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4" name="Google Shape;414;g3f4a47ca9f1_1_426"/>
          <p:cNvSpPr/>
          <p:nvPr/>
        </p:nvSpPr>
        <p:spPr>
          <a:xfrm>
            <a:off x="1158240" y="2535936"/>
            <a:ext cx="4511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8CC"/>
              </a:buClr>
              <a:buSzPts val="1700"/>
              <a:buFont typeface="Trebuchet MS"/>
              <a:buNone/>
            </a:pPr>
            <a:r>
              <a:rPr b="1" i="0" lang="en-IN" sz="1700" u="none" cap="none" strike="noStrike">
                <a:solidFill>
                  <a:srgbClr val="8FD8CC"/>
                </a:solidFill>
                <a:latin typeface="Trebuchet MS"/>
                <a:ea typeface="Trebuchet MS"/>
                <a:cs typeface="Trebuchet MS"/>
                <a:sym typeface="Trebuchet MS"/>
              </a:rPr>
              <a:t>Why Our Product</a:t>
            </a:r>
            <a:endParaRPr b="0" i="0" sz="1700" u="none" cap="none" strike="noStrike">
              <a:solidFill>
                <a:schemeClr val="dk1"/>
              </a:solidFill>
              <a:latin typeface="Calibri"/>
              <a:ea typeface="Calibri"/>
              <a:cs typeface="Calibri"/>
              <a:sym typeface="Calibri"/>
            </a:endParaRPr>
          </a:p>
        </p:txBody>
      </p:sp>
      <p:pic>
        <p:nvPicPr>
          <p:cNvPr descr="preencoded.png" id="415" name="Google Shape;415;g3f4a47ca9f1_1_426"/>
          <p:cNvPicPr preferRelativeResize="0"/>
          <p:nvPr/>
        </p:nvPicPr>
        <p:blipFill rotWithShape="1">
          <a:blip r:embed="rId3">
            <a:alphaModFix/>
          </a:blip>
          <a:srcRect b="0" l="0" r="0" t="0"/>
          <a:stretch/>
        </p:blipFill>
        <p:spPr>
          <a:xfrm>
            <a:off x="1158240" y="3011424"/>
            <a:ext cx="243840" cy="243840"/>
          </a:xfrm>
          <a:prstGeom prst="rect">
            <a:avLst/>
          </a:prstGeom>
          <a:noFill/>
          <a:ln>
            <a:noFill/>
          </a:ln>
        </p:spPr>
      </p:pic>
      <p:sp>
        <p:nvSpPr>
          <p:cNvPr id="416" name="Google Shape;416;g3f4a47ca9f1_1_426"/>
          <p:cNvSpPr/>
          <p:nvPr/>
        </p:nvSpPr>
        <p:spPr>
          <a:xfrm>
            <a:off x="1524000" y="2974848"/>
            <a:ext cx="42672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One of the only platforms evaluating all four dimensions of translation quality in one product</a:t>
            </a:r>
            <a:endParaRPr b="0" i="0" sz="1200" u="none" cap="none" strike="noStrike">
              <a:solidFill>
                <a:schemeClr val="dk1"/>
              </a:solidFill>
              <a:latin typeface="Calibri"/>
              <a:ea typeface="Calibri"/>
              <a:cs typeface="Calibri"/>
              <a:sym typeface="Calibri"/>
            </a:endParaRPr>
          </a:p>
        </p:txBody>
      </p:sp>
      <p:pic>
        <p:nvPicPr>
          <p:cNvPr descr="preencoded.png" id="417" name="Google Shape;417;g3f4a47ca9f1_1_426"/>
          <p:cNvPicPr preferRelativeResize="0"/>
          <p:nvPr/>
        </p:nvPicPr>
        <p:blipFill rotWithShape="1">
          <a:blip r:embed="rId4">
            <a:alphaModFix/>
          </a:blip>
          <a:srcRect b="0" l="0" r="0" t="0"/>
          <a:stretch/>
        </p:blipFill>
        <p:spPr>
          <a:xfrm>
            <a:off x="1158240" y="3718560"/>
            <a:ext cx="243840" cy="243840"/>
          </a:xfrm>
          <a:prstGeom prst="rect">
            <a:avLst/>
          </a:prstGeom>
          <a:noFill/>
          <a:ln>
            <a:noFill/>
          </a:ln>
        </p:spPr>
      </p:pic>
      <p:sp>
        <p:nvSpPr>
          <p:cNvPr id="418" name="Google Shape;418;g3f4a47ca9f1_1_426"/>
          <p:cNvSpPr/>
          <p:nvPr/>
        </p:nvSpPr>
        <p:spPr>
          <a:xfrm>
            <a:off x="1524000" y="3681984"/>
            <a:ext cx="42672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Automated quality scoring across thousands of calls - no manual review required</a:t>
            </a:r>
            <a:endParaRPr b="0" i="0" sz="1200" u="none" cap="none" strike="noStrike">
              <a:solidFill>
                <a:schemeClr val="dk1"/>
              </a:solidFill>
              <a:latin typeface="Calibri"/>
              <a:ea typeface="Calibri"/>
              <a:cs typeface="Calibri"/>
              <a:sym typeface="Calibri"/>
            </a:endParaRPr>
          </a:p>
        </p:txBody>
      </p:sp>
      <p:pic>
        <p:nvPicPr>
          <p:cNvPr descr="preencoded.png" id="419" name="Google Shape;419;g3f4a47ca9f1_1_426"/>
          <p:cNvPicPr preferRelativeResize="0"/>
          <p:nvPr/>
        </p:nvPicPr>
        <p:blipFill rotWithShape="1">
          <a:blip r:embed="rId5">
            <a:alphaModFix/>
          </a:blip>
          <a:srcRect b="0" l="0" r="0" t="0"/>
          <a:stretch/>
        </p:blipFill>
        <p:spPr>
          <a:xfrm>
            <a:off x="1158240" y="4425696"/>
            <a:ext cx="243840" cy="243840"/>
          </a:xfrm>
          <a:prstGeom prst="rect">
            <a:avLst/>
          </a:prstGeom>
          <a:noFill/>
          <a:ln>
            <a:noFill/>
          </a:ln>
        </p:spPr>
      </p:pic>
      <p:sp>
        <p:nvSpPr>
          <p:cNvPr id="420" name="Google Shape;420;g3f4a47ca9f1_1_426"/>
          <p:cNvSpPr/>
          <p:nvPr/>
        </p:nvSpPr>
        <p:spPr>
          <a:xfrm>
            <a:off x="1524000" y="4389120"/>
            <a:ext cx="42672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Vendor-agnostic observability - works with any LLM T-Mobile uses today or swaps in tomorrow</a:t>
            </a:r>
            <a:endParaRPr b="0" i="0" sz="1200" u="none" cap="none" strike="noStrike">
              <a:solidFill>
                <a:schemeClr val="dk1"/>
              </a:solidFill>
              <a:latin typeface="Calibri"/>
              <a:ea typeface="Calibri"/>
              <a:cs typeface="Calibri"/>
              <a:sym typeface="Calibri"/>
            </a:endParaRPr>
          </a:p>
        </p:txBody>
      </p:sp>
      <p:pic>
        <p:nvPicPr>
          <p:cNvPr descr="preencoded.png" id="421" name="Google Shape;421;g3f4a47ca9f1_1_426"/>
          <p:cNvPicPr preferRelativeResize="0"/>
          <p:nvPr/>
        </p:nvPicPr>
        <p:blipFill rotWithShape="1">
          <a:blip r:embed="rId6">
            <a:alphaModFix/>
          </a:blip>
          <a:srcRect b="0" l="0" r="0" t="0"/>
          <a:stretch/>
        </p:blipFill>
        <p:spPr>
          <a:xfrm>
            <a:off x="1158240" y="5132832"/>
            <a:ext cx="243840" cy="243840"/>
          </a:xfrm>
          <a:prstGeom prst="rect">
            <a:avLst/>
          </a:prstGeom>
          <a:noFill/>
          <a:ln>
            <a:noFill/>
          </a:ln>
        </p:spPr>
      </p:pic>
      <p:sp>
        <p:nvSpPr>
          <p:cNvPr id="422" name="Google Shape;422;g3f4a47ca9f1_1_426"/>
          <p:cNvSpPr/>
          <p:nvPr/>
        </p:nvSpPr>
        <p:spPr>
          <a:xfrm>
            <a:off x="1524000" y="5096256"/>
            <a:ext cx="42672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Faster model improvement cycles through data-driven translation diagnostics and testing</a:t>
            </a:r>
            <a:endParaRPr b="0" i="0" sz="1200" u="none" cap="none" strike="noStrike">
              <a:solidFill>
                <a:schemeClr val="dk1"/>
              </a:solidFill>
              <a:latin typeface="Calibri"/>
              <a:ea typeface="Calibri"/>
              <a:cs typeface="Calibri"/>
              <a:sym typeface="Calibri"/>
            </a:endParaRPr>
          </a:p>
        </p:txBody>
      </p:sp>
      <p:sp>
        <p:nvSpPr>
          <p:cNvPr id="423" name="Google Shape;423;g3f4a47ca9f1_1_426"/>
          <p:cNvSpPr/>
          <p:nvPr/>
        </p:nvSpPr>
        <p:spPr>
          <a:xfrm>
            <a:off x="6217920" y="2377440"/>
            <a:ext cx="5120700" cy="3474900"/>
          </a:xfrm>
          <a:prstGeom prst="roundRect">
            <a:avLst>
              <a:gd fmla="val 4211" name="adj"/>
            </a:avLst>
          </a:prstGeom>
          <a:solidFill>
            <a:srgbClr val="142147"/>
          </a:solidFill>
          <a:ln cap="flat" cmpd="sng" w="16925">
            <a:solidFill>
              <a:srgbClr val="1FA893"/>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4" name="Google Shape;424;g3f4a47ca9f1_1_426"/>
          <p:cNvSpPr/>
          <p:nvPr/>
        </p:nvSpPr>
        <p:spPr>
          <a:xfrm>
            <a:off x="6522720" y="2535936"/>
            <a:ext cx="4511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8CC"/>
              </a:buClr>
              <a:buSzPts val="1700"/>
              <a:buFont typeface="Trebuchet MS"/>
              <a:buNone/>
            </a:pPr>
            <a:r>
              <a:rPr b="1" i="0" lang="en-IN" sz="1700" u="none" cap="none" strike="noStrike">
                <a:solidFill>
                  <a:srgbClr val="8FD8CC"/>
                </a:solidFill>
                <a:latin typeface="Trebuchet MS"/>
                <a:ea typeface="Trebuchet MS"/>
                <a:cs typeface="Trebuchet MS"/>
                <a:sym typeface="Trebuchet MS"/>
              </a:rPr>
              <a:t>Business Value for T-Mobile</a:t>
            </a:r>
            <a:endParaRPr b="0" i="0" sz="1700" u="none" cap="none" strike="noStrike">
              <a:solidFill>
                <a:schemeClr val="dk1"/>
              </a:solidFill>
              <a:latin typeface="Calibri"/>
              <a:ea typeface="Calibri"/>
              <a:cs typeface="Calibri"/>
              <a:sym typeface="Calibri"/>
            </a:endParaRPr>
          </a:p>
        </p:txBody>
      </p:sp>
      <p:pic>
        <p:nvPicPr>
          <p:cNvPr descr="preencoded.png" id="425" name="Google Shape;425;g3f4a47ca9f1_1_426"/>
          <p:cNvPicPr preferRelativeResize="0"/>
          <p:nvPr/>
        </p:nvPicPr>
        <p:blipFill rotWithShape="1">
          <a:blip r:embed="rId7">
            <a:alphaModFix/>
          </a:blip>
          <a:srcRect b="0" l="0" r="0" t="0"/>
          <a:stretch/>
        </p:blipFill>
        <p:spPr>
          <a:xfrm>
            <a:off x="6522720" y="3011424"/>
            <a:ext cx="243840" cy="243840"/>
          </a:xfrm>
          <a:prstGeom prst="rect">
            <a:avLst/>
          </a:prstGeom>
          <a:noFill/>
          <a:ln>
            <a:noFill/>
          </a:ln>
        </p:spPr>
      </p:pic>
      <p:sp>
        <p:nvSpPr>
          <p:cNvPr id="426" name="Google Shape;426;g3f4a47ca9f1_1_426"/>
          <p:cNvSpPr/>
          <p:nvPr/>
        </p:nvSpPr>
        <p:spPr>
          <a:xfrm>
            <a:off x="6888480" y="2974848"/>
            <a:ext cx="42672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Higher customer satisfaction - fewer misunderstandings, more trust in Live Translation</a:t>
            </a:r>
            <a:endParaRPr b="0" i="0" sz="1200" u="none" cap="none" strike="noStrike">
              <a:solidFill>
                <a:schemeClr val="dk1"/>
              </a:solidFill>
              <a:latin typeface="Calibri"/>
              <a:ea typeface="Calibri"/>
              <a:cs typeface="Calibri"/>
              <a:sym typeface="Calibri"/>
            </a:endParaRPr>
          </a:p>
        </p:txBody>
      </p:sp>
      <p:pic>
        <p:nvPicPr>
          <p:cNvPr descr="preencoded.png" id="427" name="Google Shape;427;g3f4a47ca9f1_1_426"/>
          <p:cNvPicPr preferRelativeResize="0"/>
          <p:nvPr/>
        </p:nvPicPr>
        <p:blipFill rotWithShape="1">
          <a:blip r:embed="rId8">
            <a:alphaModFix/>
          </a:blip>
          <a:srcRect b="0" l="0" r="0" t="0"/>
          <a:stretch/>
        </p:blipFill>
        <p:spPr>
          <a:xfrm>
            <a:off x="6522720" y="3718560"/>
            <a:ext cx="243840" cy="243840"/>
          </a:xfrm>
          <a:prstGeom prst="rect">
            <a:avLst/>
          </a:prstGeom>
          <a:noFill/>
          <a:ln>
            <a:noFill/>
          </a:ln>
        </p:spPr>
      </p:pic>
      <p:sp>
        <p:nvSpPr>
          <p:cNvPr id="428" name="Google Shape;428;g3f4a47ca9f1_1_426"/>
          <p:cNvSpPr/>
          <p:nvPr/>
        </p:nvSpPr>
        <p:spPr>
          <a:xfrm>
            <a:off x="6888480" y="3681984"/>
            <a:ext cx="42672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Continuous quality scorecards replace large-scale manual review</a:t>
            </a:r>
            <a:endParaRPr b="0" i="0" sz="1200" u="none" cap="none" strike="noStrike">
              <a:solidFill>
                <a:schemeClr val="dk1"/>
              </a:solidFill>
              <a:latin typeface="Calibri"/>
              <a:ea typeface="Calibri"/>
              <a:cs typeface="Calibri"/>
              <a:sym typeface="Calibri"/>
            </a:endParaRPr>
          </a:p>
        </p:txBody>
      </p:sp>
      <p:pic>
        <p:nvPicPr>
          <p:cNvPr descr="preencoded.png" id="429" name="Google Shape;429;g3f4a47ca9f1_1_426"/>
          <p:cNvPicPr preferRelativeResize="0"/>
          <p:nvPr/>
        </p:nvPicPr>
        <p:blipFill rotWithShape="1">
          <a:blip r:embed="rId9">
            <a:alphaModFix/>
          </a:blip>
          <a:srcRect b="0" l="0" r="0" t="0"/>
          <a:stretch/>
        </p:blipFill>
        <p:spPr>
          <a:xfrm>
            <a:off x="6522720" y="4425696"/>
            <a:ext cx="243840" cy="243840"/>
          </a:xfrm>
          <a:prstGeom prst="rect">
            <a:avLst/>
          </a:prstGeom>
          <a:noFill/>
          <a:ln>
            <a:noFill/>
          </a:ln>
        </p:spPr>
      </p:pic>
      <p:sp>
        <p:nvSpPr>
          <p:cNvPr id="430" name="Google Shape;430;g3f4a47ca9f1_1_426"/>
          <p:cNvSpPr/>
          <p:nvPr/>
        </p:nvSpPr>
        <p:spPr>
          <a:xfrm>
            <a:off x="6888480" y="4389120"/>
            <a:ext cx="42672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Root-cause detection by layer (ASR, translation, audio, network) accelerates fixes</a:t>
            </a:r>
            <a:endParaRPr b="0" i="0" sz="1200" u="none" cap="none" strike="noStrike">
              <a:solidFill>
                <a:schemeClr val="dk1"/>
              </a:solidFill>
              <a:latin typeface="Calibri"/>
              <a:ea typeface="Calibri"/>
              <a:cs typeface="Calibri"/>
              <a:sym typeface="Calibri"/>
            </a:endParaRPr>
          </a:p>
        </p:txBody>
      </p:sp>
      <p:pic>
        <p:nvPicPr>
          <p:cNvPr descr="preencoded.png" id="431" name="Google Shape;431;g3f4a47ca9f1_1_426"/>
          <p:cNvPicPr preferRelativeResize="0"/>
          <p:nvPr/>
        </p:nvPicPr>
        <p:blipFill rotWithShape="1">
          <a:blip r:embed="rId10">
            <a:alphaModFix/>
          </a:blip>
          <a:srcRect b="0" l="0" r="0" t="0"/>
          <a:stretch/>
        </p:blipFill>
        <p:spPr>
          <a:xfrm>
            <a:off x="6522720" y="5132832"/>
            <a:ext cx="243840" cy="243840"/>
          </a:xfrm>
          <a:prstGeom prst="rect">
            <a:avLst/>
          </a:prstGeom>
          <a:noFill/>
          <a:ln>
            <a:noFill/>
          </a:ln>
        </p:spPr>
      </p:pic>
      <p:sp>
        <p:nvSpPr>
          <p:cNvPr id="432" name="Google Shape;432;g3f4a47ca9f1_1_426"/>
          <p:cNvSpPr/>
          <p:nvPr/>
        </p:nvSpPr>
        <p:spPr>
          <a:xfrm>
            <a:off x="6888480" y="5096256"/>
            <a:ext cx="42672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200"/>
              <a:buFont typeface="Arial"/>
              <a:buNone/>
            </a:pPr>
            <a:r>
              <a:rPr b="0" i="0" lang="en-IN" sz="1200" u="none" cap="none" strike="noStrike">
                <a:solidFill>
                  <a:srgbClr val="DFE8F7"/>
                </a:solidFill>
                <a:latin typeface="Arial"/>
                <a:ea typeface="Arial"/>
                <a:cs typeface="Arial"/>
                <a:sym typeface="Arial"/>
              </a:rPr>
              <a:t>Intelligent issue prioritization drives engineering decisions by business impact</a:t>
            </a:r>
            <a:endParaRPr b="0" i="0" sz="1200" u="none" cap="none" strike="noStrike">
              <a:solidFill>
                <a:schemeClr val="dk1"/>
              </a:solidFill>
              <a:latin typeface="Calibri"/>
              <a:ea typeface="Calibri"/>
              <a:cs typeface="Calibri"/>
              <a:sym typeface="Calibri"/>
            </a:endParaRPr>
          </a:p>
        </p:txBody>
      </p:sp>
      <p:sp>
        <p:nvSpPr>
          <p:cNvPr id="433" name="Google Shape;433;g3f4a47ca9f1_1_426"/>
          <p:cNvSpPr/>
          <p:nvPr/>
        </p:nvSpPr>
        <p:spPr>
          <a:xfrm>
            <a:off x="853440" y="5925312"/>
            <a:ext cx="10485300" cy="487500"/>
          </a:xfrm>
          <a:prstGeom prst="roundRect">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4" name="Google Shape;434;g3f4a47ca9f1_1_426"/>
          <p:cNvSpPr/>
          <p:nvPr/>
        </p:nvSpPr>
        <p:spPr>
          <a:xfrm>
            <a:off x="1097280" y="5949696"/>
            <a:ext cx="99975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147"/>
              </a:buClr>
              <a:buSzPts val="1400"/>
              <a:buFont typeface="Arial"/>
              <a:buNone/>
            </a:pPr>
            <a:r>
              <a:rPr b="1" i="0" lang="en-IN" sz="1400" u="none" cap="none" strike="noStrike">
                <a:solidFill>
                  <a:srgbClr val="142147"/>
                </a:solidFill>
                <a:latin typeface="Arial"/>
                <a:ea typeface="Arial"/>
                <a:cs typeface="Arial"/>
                <a:sym typeface="Arial"/>
              </a:rPr>
              <a:t>Our translation evaluation is the observability layer Live Translation needs to scale with confidence.</a:t>
            </a:r>
            <a:endParaRPr b="0" i="0" sz="1400" u="none" cap="none" strike="noStrike">
              <a:solidFill>
                <a:schemeClr val="dk1"/>
              </a:solidFill>
              <a:latin typeface="Calibri"/>
              <a:ea typeface="Calibri"/>
              <a:cs typeface="Calibri"/>
              <a:sym typeface="Calibri"/>
            </a:endParaRPr>
          </a:p>
        </p:txBody>
      </p:sp>
      <p:sp>
        <p:nvSpPr>
          <p:cNvPr id="435" name="Google Shape;435;g3f4a47ca9f1_1_426"/>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3C9"/>
              </a:buClr>
              <a:buSzPts val="1100"/>
              <a:buFont typeface="Arial"/>
              <a:buNone/>
            </a:pPr>
            <a:r>
              <a:rPr b="0" i="0" lang="en-IN" sz="1100" u="none" cap="none" strike="noStrike">
                <a:solidFill>
                  <a:srgbClr val="8FA3C9"/>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0" name="Shape 440"/>
        <p:cNvGrpSpPr/>
        <p:nvPr/>
      </p:nvGrpSpPr>
      <p:grpSpPr>
        <a:xfrm>
          <a:off x="0" y="0"/>
          <a:ext cx="0" cy="0"/>
          <a:chOff x="0" y="0"/>
          <a:chExt cx="0" cy="0"/>
        </a:xfrm>
      </p:grpSpPr>
      <p:sp>
        <p:nvSpPr>
          <p:cNvPr id="441" name="Google Shape;441;g3f4a47ca9f1_1_459"/>
          <p:cNvSpPr/>
          <p:nvPr/>
        </p:nvSpPr>
        <p:spPr>
          <a:xfrm>
            <a:off x="0" y="0"/>
            <a:ext cx="5547300" cy="6858000"/>
          </a:xfrm>
          <a:prstGeom prst="rect">
            <a:avLst/>
          </a:prstGeom>
          <a:solidFill>
            <a:srgbClr val="1C2E6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2" name="Google Shape;442;g3f4a47ca9f1_1_459"/>
          <p:cNvSpPr/>
          <p:nvPr/>
        </p:nvSpPr>
        <p:spPr>
          <a:xfrm>
            <a:off x="3081985" y="4876800"/>
            <a:ext cx="2925900" cy="2925900"/>
          </a:xfrm>
          <a:prstGeom prst="ellipse">
            <a:avLst/>
          </a:prstGeom>
          <a:solidFill>
            <a:srgbClr val="14214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3" name="Google Shape;443;g3f4a47ca9f1_1_459"/>
          <p:cNvSpPr/>
          <p:nvPr/>
        </p:nvSpPr>
        <p:spPr>
          <a:xfrm>
            <a:off x="609600" y="1524000"/>
            <a:ext cx="43893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Trebuchet MS"/>
              <a:buNone/>
            </a:pPr>
            <a:r>
              <a:rPr b="1" i="0" lang="en-IN" sz="4000" u="none" cap="none" strike="noStrike">
                <a:solidFill>
                  <a:srgbClr val="FFFFFF"/>
                </a:solidFill>
                <a:latin typeface="Trebuchet MS"/>
                <a:ea typeface="Trebuchet MS"/>
                <a:cs typeface="Trebuchet MS"/>
                <a:sym typeface="Trebuchet MS"/>
              </a:rPr>
              <a:t>Why CompNova.</a:t>
            </a:r>
            <a:endParaRPr b="0" i="0" sz="4000" u="none" cap="none" strike="noStrike">
              <a:solidFill>
                <a:schemeClr val="dk1"/>
              </a:solidFill>
              <a:latin typeface="Calibri"/>
              <a:ea typeface="Calibri"/>
              <a:cs typeface="Calibri"/>
              <a:sym typeface="Calibri"/>
            </a:endParaRPr>
          </a:p>
        </p:txBody>
      </p:sp>
      <p:sp>
        <p:nvSpPr>
          <p:cNvPr id="444" name="Google Shape;444;g3f4a47ca9f1_1_459"/>
          <p:cNvSpPr/>
          <p:nvPr/>
        </p:nvSpPr>
        <p:spPr>
          <a:xfrm>
            <a:off x="609600" y="2499360"/>
            <a:ext cx="4267200" cy="195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FE8F7"/>
              </a:buClr>
              <a:buSzPts val="1900"/>
              <a:buFont typeface="Arial"/>
              <a:buNone/>
            </a:pPr>
            <a:r>
              <a:rPr b="0" i="0" lang="en-IN" sz="1900" u="none" cap="none" strike="noStrike">
                <a:solidFill>
                  <a:srgbClr val="DFE8F7"/>
                </a:solidFill>
                <a:latin typeface="Arial"/>
                <a:ea typeface="Arial"/>
                <a:cs typeface="Arial"/>
                <a:sym typeface="Arial"/>
              </a:rPr>
              <a:t>No one else grades live translated calls. Point metrics check sentences. CX tools watch one language. We watch it all.</a:t>
            </a:r>
            <a:endParaRPr b="0" i="0" sz="1900" u="none" cap="none" strike="noStrike">
              <a:solidFill>
                <a:schemeClr val="dk1"/>
              </a:solidFill>
              <a:latin typeface="Calibri"/>
              <a:ea typeface="Calibri"/>
              <a:cs typeface="Calibri"/>
              <a:sym typeface="Calibri"/>
            </a:endParaRPr>
          </a:p>
        </p:txBody>
      </p:sp>
      <p:sp>
        <p:nvSpPr>
          <p:cNvPr id="445" name="Google Shape;445;g3f4a47ca9f1_1_459"/>
          <p:cNvSpPr/>
          <p:nvPr/>
        </p:nvSpPr>
        <p:spPr>
          <a:xfrm>
            <a:off x="6096000" y="1085088"/>
            <a:ext cx="85200" cy="9507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6" name="Google Shape;446;g3f4a47ca9f1_1_459"/>
          <p:cNvSpPr/>
          <p:nvPr/>
        </p:nvSpPr>
        <p:spPr>
          <a:xfrm>
            <a:off x="6364224" y="1036320"/>
            <a:ext cx="5120700" cy="39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2000"/>
              <a:buFont typeface="Trebuchet MS"/>
              <a:buNone/>
            </a:pPr>
            <a:r>
              <a:rPr b="1" i="0" lang="en-IN" sz="2000" u="none" cap="none" strike="noStrike">
                <a:solidFill>
                  <a:srgbClr val="1C2E60"/>
                </a:solidFill>
                <a:latin typeface="Trebuchet MS"/>
                <a:ea typeface="Trebuchet MS"/>
                <a:cs typeface="Trebuchet MS"/>
                <a:sym typeface="Trebuchet MS"/>
              </a:rPr>
              <a:t>Independent</a:t>
            </a:r>
            <a:endParaRPr b="0" i="0" sz="2000" u="none" cap="none" strike="noStrike">
              <a:solidFill>
                <a:schemeClr val="dk1"/>
              </a:solidFill>
              <a:latin typeface="Calibri"/>
              <a:ea typeface="Calibri"/>
              <a:cs typeface="Calibri"/>
              <a:sym typeface="Calibri"/>
            </a:endParaRPr>
          </a:p>
        </p:txBody>
      </p:sp>
      <p:sp>
        <p:nvSpPr>
          <p:cNvPr id="447" name="Google Shape;447;g3f4a47ca9f1_1_459"/>
          <p:cNvSpPr/>
          <p:nvPr/>
        </p:nvSpPr>
        <p:spPr>
          <a:xfrm>
            <a:off x="6364224" y="1450848"/>
            <a:ext cx="51207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1500"/>
              <a:buFont typeface="Arial"/>
              <a:buNone/>
            </a:pPr>
            <a:r>
              <a:rPr b="0" i="0" lang="en-IN" sz="1500" u="none" cap="none" strike="noStrike">
                <a:solidFill>
                  <a:srgbClr val="5A6575"/>
                </a:solidFill>
                <a:latin typeface="Arial"/>
                <a:ea typeface="Arial"/>
                <a:cs typeface="Arial"/>
                <a:sym typeface="Arial"/>
              </a:rPr>
              <a:t>We don't sell translation.</a:t>
            </a:r>
            <a:endParaRPr b="0" i="0" sz="1500" u="none" cap="none" strike="noStrike">
              <a:solidFill>
                <a:schemeClr val="dk1"/>
              </a:solidFill>
              <a:latin typeface="Calibri"/>
              <a:ea typeface="Calibri"/>
              <a:cs typeface="Calibri"/>
              <a:sym typeface="Calibri"/>
            </a:endParaRPr>
          </a:p>
        </p:txBody>
      </p:sp>
      <p:sp>
        <p:nvSpPr>
          <p:cNvPr id="448" name="Google Shape;448;g3f4a47ca9f1_1_459"/>
          <p:cNvSpPr/>
          <p:nvPr/>
        </p:nvSpPr>
        <p:spPr>
          <a:xfrm>
            <a:off x="6096000" y="2365248"/>
            <a:ext cx="85200" cy="9507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9" name="Google Shape;449;g3f4a47ca9f1_1_459"/>
          <p:cNvSpPr/>
          <p:nvPr/>
        </p:nvSpPr>
        <p:spPr>
          <a:xfrm>
            <a:off x="6364224" y="2316480"/>
            <a:ext cx="5120700" cy="39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2000"/>
              <a:buFont typeface="Trebuchet MS"/>
              <a:buNone/>
            </a:pPr>
            <a:r>
              <a:rPr b="1" lang="en-IN" sz="2000">
                <a:solidFill>
                  <a:srgbClr val="1C2E60"/>
                </a:solidFill>
                <a:latin typeface="Trebuchet MS"/>
                <a:ea typeface="Trebuchet MS"/>
                <a:cs typeface="Trebuchet MS"/>
                <a:sym typeface="Trebuchet MS"/>
              </a:rPr>
              <a:t>Built for all</a:t>
            </a:r>
            <a:endParaRPr b="0" i="0" sz="2000" u="none" cap="none" strike="noStrike">
              <a:solidFill>
                <a:schemeClr val="dk1"/>
              </a:solidFill>
              <a:latin typeface="Calibri"/>
              <a:ea typeface="Calibri"/>
              <a:cs typeface="Calibri"/>
              <a:sym typeface="Calibri"/>
            </a:endParaRPr>
          </a:p>
        </p:txBody>
      </p:sp>
      <p:sp>
        <p:nvSpPr>
          <p:cNvPr id="450" name="Google Shape;450;g3f4a47ca9f1_1_459"/>
          <p:cNvSpPr/>
          <p:nvPr/>
        </p:nvSpPr>
        <p:spPr>
          <a:xfrm>
            <a:off x="6364224" y="2731008"/>
            <a:ext cx="51207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1500"/>
              <a:buFont typeface="Arial"/>
              <a:buNone/>
            </a:pPr>
            <a:r>
              <a:rPr lang="en-IN" sz="1500">
                <a:solidFill>
                  <a:srgbClr val="5A6575"/>
                </a:solidFill>
              </a:rPr>
              <a:t>Can be used if you switch your model. </a:t>
            </a:r>
            <a:endParaRPr b="0" i="0" sz="1500" u="none" cap="none" strike="noStrike">
              <a:solidFill>
                <a:schemeClr val="dk1"/>
              </a:solidFill>
              <a:latin typeface="Calibri"/>
              <a:ea typeface="Calibri"/>
              <a:cs typeface="Calibri"/>
              <a:sym typeface="Calibri"/>
            </a:endParaRPr>
          </a:p>
        </p:txBody>
      </p:sp>
      <p:sp>
        <p:nvSpPr>
          <p:cNvPr id="451" name="Google Shape;451;g3f4a47ca9f1_1_459"/>
          <p:cNvSpPr/>
          <p:nvPr/>
        </p:nvSpPr>
        <p:spPr>
          <a:xfrm>
            <a:off x="6096000" y="3645408"/>
            <a:ext cx="85200" cy="9507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2" name="Google Shape;452;g3f4a47ca9f1_1_459"/>
          <p:cNvSpPr/>
          <p:nvPr/>
        </p:nvSpPr>
        <p:spPr>
          <a:xfrm>
            <a:off x="6364224" y="3596640"/>
            <a:ext cx="5120700" cy="39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2000"/>
              <a:buFont typeface="Trebuchet MS"/>
              <a:buNone/>
            </a:pPr>
            <a:r>
              <a:rPr b="1" i="0" lang="en-IN" sz="2000" u="none" cap="none" strike="noStrike">
                <a:solidFill>
                  <a:srgbClr val="1C2E60"/>
                </a:solidFill>
                <a:latin typeface="Trebuchet MS"/>
                <a:ea typeface="Trebuchet MS"/>
                <a:cs typeface="Trebuchet MS"/>
                <a:sym typeface="Trebuchet MS"/>
              </a:rPr>
              <a:t>Trusted metrics</a:t>
            </a:r>
            <a:endParaRPr b="0" i="0" sz="2000" u="none" cap="none" strike="noStrike">
              <a:solidFill>
                <a:schemeClr val="dk1"/>
              </a:solidFill>
              <a:latin typeface="Calibri"/>
              <a:ea typeface="Calibri"/>
              <a:cs typeface="Calibri"/>
              <a:sym typeface="Calibri"/>
            </a:endParaRPr>
          </a:p>
        </p:txBody>
      </p:sp>
      <p:sp>
        <p:nvSpPr>
          <p:cNvPr id="453" name="Google Shape;453;g3f4a47ca9f1_1_459"/>
          <p:cNvSpPr/>
          <p:nvPr/>
        </p:nvSpPr>
        <p:spPr>
          <a:xfrm>
            <a:off x="6364224" y="4011168"/>
            <a:ext cx="51207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1500"/>
              <a:buFont typeface="Arial"/>
              <a:buNone/>
            </a:pPr>
            <a:r>
              <a:rPr b="0" i="0" lang="en-IN" sz="1500" u="none" cap="none" strike="noStrike">
                <a:solidFill>
                  <a:srgbClr val="5A6575"/>
                </a:solidFill>
                <a:latin typeface="Arial"/>
                <a:ea typeface="Arial"/>
                <a:cs typeface="Arial"/>
                <a:sym typeface="Arial"/>
              </a:rPr>
              <a:t>Industry standard and research grade metrics.</a:t>
            </a:r>
            <a:endParaRPr b="0" i="0" sz="1500" u="none" cap="none" strike="noStrike">
              <a:solidFill>
                <a:schemeClr val="dk1"/>
              </a:solidFill>
              <a:latin typeface="Calibri"/>
              <a:ea typeface="Calibri"/>
              <a:cs typeface="Calibri"/>
              <a:sym typeface="Calibri"/>
            </a:endParaRPr>
          </a:p>
        </p:txBody>
      </p:sp>
      <p:sp>
        <p:nvSpPr>
          <p:cNvPr id="454" name="Google Shape;454;g3f4a47ca9f1_1_459"/>
          <p:cNvSpPr/>
          <p:nvPr/>
        </p:nvSpPr>
        <p:spPr>
          <a:xfrm>
            <a:off x="6096000" y="4925568"/>
            <a:ext cx="85200" cy="9507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5" name="Google Shape;455;g3f4a47ca9f1_1_459"/>
          <p:cNvSpPr/>
          <p:nvPr/>
        </p:nvSpPr>
        <p:spPr>
          <a:xfrm>
            <a:off x="6364224" y="4876800"/>
            <a:ext cx="5120700" cy="39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E60"/>
              </a:buClr>
              <a:buSzPts val="2000"/>
              <a:buFont typeface="Trebuchet MS"/>
              <a:buNone/>
            </a:pPr>
            <a:r>
              <a:rPr b="1" i="0" lang="en-IN" sz="2000" u="none" cap="none" strike="noStrike">
                <a:solidFill>
                  <a:srgbClr val="1C2E60"/>
                </a:solidFill>
                <a:latin typeface="Trebuchet MS"/>
                <a:ea typeface="Trebuchet MS"/>
                <a:cs typeface="Trebuchet MS"/>
                <a:sym typeface="Trebuchet MS"/>
              </a:rPr>
              <a:t>Expert team</a:t>
            </a:r>
            <a:endParaRPr b="0" i="0" sz="2000" u="none" cap="none" strike="noStrike">
              <a:solidFill>
                <a:schemeClr val="dk1"/>
              </a:solidFill>
              <a:latin typeface="Calibri"/>
              <a:ea typeface="Calibri"/>
              <a:cs typeface="Calibri"/>
              <a:sym typeface="Calibri"/>
            </a:endParaRPr>
          </a:p>
        </p:txBody>
      </p:sp>
      <p:sp>
        <p:nvSpPr>
          <p:cNvPr id="456" name="Google Shape;456;g3f4a47ca9f1_1_459"/>
          <p:cNvSpPr/>
          <p:nvPr/>
        </p:nvSpPr>
        <p:spPr>
          <a:xfrm>
            <a:off x="6364224" y="5291328"/>
            <a:ext cx="51207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575"/>
              </a:buClr>
              <a:buSzPts val="1500"/>
              <a:buFont typeface="Arial"/>
              <a:buNone/>
            </a:pPr>
            <a:r>
              <a:rPr b="0" i="0" lang="en-IN" sz="1500" u="none" cap="none" strike="noStrike">
                <a:solidFill>
                  <a:srgbClr val="5A6575"/>
                </a:solidFill>
                <a:latin typeface="Arial"/>
                <a:ea typeface="Arial"/>
                <a:cs typeface="Arial"/>
                <a:sym typeface="Arial"/>
              </a:rPr>
              <a:t>AI, NLP, linguistics, telecom. PhD collaborators.</a:t>
            </a:r>
            <a:endParaRPr b="0" i="0" sz="1500" u="none" cap="none" strike="noStrike">
              <a:solidFill>
                <a:schemeClr val="dk1"/>
              </a:solidFill>
              <a:latin typeface="Calibri"/>
              <a:ea typeface="Calibri"/>
              <a:cs typeface="Calibri"/>
              <a:sym typeface="Calibri"/>
            </a:endParaRPr>
          </a:p>
        </p:txBody>
      </p:sp>
      <p:sp>
        <p:nvSpPr>
          <p:cNvPr id="457" name="Google Shape;457;g3f4a47ca9f1_1_459"/>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A893"/>
        </a:solidFill>
      </p:bgPr>
    </p:bg>
    <p:spTree>
      <p:nvGrpSpPr>
        <p:cNvPr id="462" name="Shape 462"/>
        <p:cNvGrpSpPr/>
        <p:nvPr/>
      </p:nvGrpSpPr>
      <p:grpSpPr>
        <a:xfrm>
          <a:off x="0" y="0"/>
          <a:ext cx="0" cy="0"/>
          <a:chOff x="0" y="0"/>
          <a:chExt cx="0" cy="0"/>
        </a:xfrm>
      </p:grpSpPr>
      <p:sp>
        <p:nvSpPr>
          <p:cNvPr id="463" name="Google Shape;463;g3f4a47ca9f1_1_482"/>
          <p:cNvSpPr/>
          <p:nvPr/>
        </p:nvSpPr>
        <p:spPr>
          <a:xfrm>
            <a:off x="9265920" y="-1584960"/>
            <a:ext cx="4389300" cy="4389300"/>
          </a:xfrm>
          <a:prstGeom prst="ellipse">
            <a:avLst/>
          </a:prstGeom>
          <a:solidFill>
            <a:srgbClr val="1281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4" name="Google Shape;464;g3f4a47ca9f1_1_482"/>
          <p:cNvSpPr/>
          <p:nvPr/>
        </p:nvSpPr>
        <p:spPr>
          <a:xfrm>
            <a:off x="853440" y="731520"/>
            <a:ext cx="10363200" cy="7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Trebuchet MS"/>
              <a:buNone/>
            </a:pPr>
            <a:r>
              <a:rPr b="1" i="0" lang="en-IN" sz="4000" u="none" cap="none" strike="noStrike">
                <a:solidFill>
                  <a:srgbClr val="FFFFFF"/>
                </a:solidFill>
                <a:latin typeface="Trebuchet MS"/>
                <a:ea typeface="Trebuchet MS"/>
                <a:cs typeface="Trebuchet MS"/>
                <a:sym typeface="Trebuchet MS"/>
              </a:rPr>
              <a:t>Initial Steps</a:t>
            </a:r>
            <a:endParaRPr b="0" i="0" sz="4000" u="none" cap="none" strike="noStrike">
              <a:solidFill>
                <a:schemeClr val="dk1"/>
              </a:solidFill>
              <a:latin typeface="Calibri"/>
              <a:ea typeface="Calibri"/>
              <a:cs typeface="Calibri"/>
              <a:sym typeface="Calibri"/>
            </a:endParaRPr>
          </a:p>
        </p:txBody>
      </p:sp>
      <p:sp>
        <p:nvSpPr>
          <p:cNvPr id="465" name="Google Shape;465;g3f4a47ca9f1_1_482"/>
          <p:cNvSpPr/>
          <p:nvPr/>
        </p:nvSpPr>
        <p:spPr>
          <a:xfrm>
            <a:off x="853440" y="1584960"/>
            <a:ext cx="10119300" cy="103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F7F3"/>
              </a:buClr>
              <a:buSzPts val="1800"/>
              <a:buFont typeface="Arial"/>
              <a:buNone/>
            </a:pPr>
            <a:r>
              <a:rPr b="0" i="0" lang="en-IN" sz="1800" u="none" cap="none" strike="noStrike">
                <a:solidFill>
                  <a:srgbClr val="E4F7F3"/>
                </a:solidFill>
                <a:latin typeface="Arial"/>
                <a:ea typeface="Arial"/>
                <a:cs typeface="Arial"/>
                <a:sym typeface="Arial"/>
              </a:rPr>
              <a:t>Give us 100 to 500 conversations from your beta. We'll evaluate them and hand your team a quality report, language-by-language insights, sentiment and emotion analysis, and clear recommendations.</a:t>
            </a:r>
            <a:endParaRPr b="0" i="0" sz="1800" u="none" cap="none" strike="noStrike">
              <a:solidFill>
                <a:schemeClr val="dk1"/>
              </a:solidFill>
              <a:latin typeface="Calibri"/>
              <a:ea typeface="Calibri"/>
              <a:cs typeface="Calibri"/>
              <a:sym typeface="Calibri"/>
            </a:endParaRPr>
          </a:p>
        </p:txBody>
      </p:sp>
      <p:sp>
        <p:nvSpPr>
          <p:cNvPr id="466" name="Google Shape;466;g3f4a47ca9f1_1_482"/>
          <p:cNvSpPr/>
          <p:nvPr/>
        </p:nvSpPr>
        <p:spPr>
          <a:xfrm>
            <a:off x="853440" y="2682240"/>
            <a:ext cx="10119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1" lang="en-IN" sz="1600" u="none" cap="none" strike="noStrike">
                <a:solidFill>
                  <a:srgbClr val="FFFFFF"/>
                </a:solidFill>
                <a:latin typeface="Arial"/>
                <a:ea typeface="Arial"/>
                <a:cs typeface="Arial"/>
                <a:sym typeface="Arial"/>
              </a:rPr>
              <a:t>The goal is simply to learn whether this solves a problem you're already starting to see.</a:t>
            </a:r>
            <a:endParaRPr b="0" i="0" sz="1600" u="none" cap="none" strike="noStrike">
              <a:solidFill>
                <a:schemeClr val="dk1"/>
              </a:solidFill>
              <a:latin typeface="Calibri"/>
              <a:ea typeface="Calibri"/>
              <a:cs typeface="Calibri"/>
              <a:sym typeface="Calibri"/>
            </a:endParaRPr>
          </a:p>
        </p:txBody>
      </p:sp>
      <p:sp>
        <p:nvSpPr>
          <p:cNvPr id="467" name="Google Shape;467;g3f4a47ca9f1_1_482"/>
          <p:cNvSpPr/>
          <p:nvPr/>
        </p:nvSpPr>
        <p:spPr>
          <a:xfrm>
            <a:off x="853440" y="3535680"/>
            <a:ext cx="10485300" cy="2560500"/>
          </a:xfrm>
          <a:prstGeom prst="roundRect">
            <a:avLst>
              <a:gd fmla="val 5714" name="adj"/>
            </a:avLst>
          </a:prstGeom>
          <a:solidFill>
            <a:srgbClr val="1C2E6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8" name="Google Shape;468;g3f4a47ca9f1_1_482"/>
          <p:cNvSpPr/>
          <p:nvPr/>
        </p:nvSpPr>
        <p:spPr>
          <a:xfrm>
            <a:off x="1219200" y="3730752"/>
            <a:ext cx="9753600" cy="39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8CC"/>
              </a:buClr>
              <a:buSzPts val="1800"/>
              <a:buFont typeface="Trebuchet MS"/>
              <a:buNone/>
            </a:pPr>
            <a:r>
              <a:rPr b="1" i="0" lang="en-IN" sz="1800" u="none" cap="none" strike="noStrike">
                <a:solidFill>
                  <a:srgbClr val="8FD8CC"/>
                </a:solidFill>
                <a:latin typeface="Trebuchet MS"/>
                <a:ea typeface="Trebuchet MS"/>
                <a:cs typeface="Trebuchet MS"/>
                <a:sym typeface="Trebuchet MS"/>
              </a:rPr>
              <a:t>Questions we'd love your perspective on</a:t>
            </a:r>
            <a:endParaRPr b="0" i="0" sz="1800" u="none" cap="none" strike="noStrike">
              <a:solidFill>
                <a:schemeClr val="dk1"/>
              </a:solidFill>
              <a:latin typeface="Calibri"/>
              <a:ea typeface="Calibri"/>
              <a:cs typeface="Calibri"/>
              <a:sym typeface="Calibri"/>
            </a:endParaRPr>
          </a:p>
        </p:txBody>
      </p:sp>
      <p:sp>
        <p:nvSpPr>
          <p:cNvPr id="469" name="Google Shape;469;g3f4a47ca9f1_1_482"/>
          <p:cNvSpPr/>
          <p:nvPr/>
        </p:nvSpPr>
        <p:spPr>
          <a:xfrm>
            <a:off x="1219200" y="4242816"/>
            <a:ext cx="97536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0" i="0" lang="en-IN" sz="1600" u="none" cap="none" strike="noStrike">
                <a:solidFill>
                  <a:srgbClr val="FFFFFF"/>
                </a:solidFill>
                <a:latin typeface="Arial"/>
                <a:ea typeface="Arial"/>
                <a:cs typeface="Arial"/>
                <a:sym typeface="Arial"/>
              </a:rPr>
              <a:t>•  How do you evaluate Live Translation today, beyond user feedback?</a:t>
            </a:r>
            <a:endParaRPr b="0" i="0" sz="1600" u="none" cap="none" strike="noStrike">
              <a:solidFill>
                <a:schemeClr val="dk1"/>
              </a:solidFill>
              <a:latin typeface="Calibri"/>
              <a:ea typeface="Calibri"/>
              <a:cs typeface="Calibri"/>
              <a:sym typeface="Calibri"/>
            </a:endParaRPr>
          </a:p>
        </p:txBody>
      </p:sp>
      <p:sp>
        <p:nvSpPr>
          <p:cNvPr id="470" name="Google Shape;470;g3f4a47ca9f1_1_482"/>
          <p:cNvSpPr/>
          <p:nvPr/>
        </p:nvSpPr>
        <p:spPr>
          <a:xfrm>
            <a:off x="1219200" y="4803648"/>
            <a:ext cx="97536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0" i="0" lang="en-IN" sz="1600" u="none" cap="none" strike="noStrike">
                <a:solidFill>
                  <a:srgbClr val="FFFFFF"/>
                </a:solidFill>
                <a:latin typeface="Arial"/>
                <a:ea typeface="Arial"/>
                <a:cs typeface="Arial"/>
                <a:sym typeface="Arial"/>
              </a:rPr>
              <a:t>•  What does a successful translated conversation mean for T-Mobile?</a:t>
            </a:r>
            <a:endParaRPr b="0" i="0" sz="1600" u="none" cap="none" strike="noStrike">
              <a:solidFill>
                <a:schemeClr val="dk1"/>
              </a:solidFill>
              <a:latin typeface="Calibri"/>
              <a:ea typeface="Calibri"/>
              <a:cs typeface="Calibri"/>
              <a:sym typeface="Calibri"/>
            </a:endParaRPr>
          </a:p>
        </p:txBody>
      </p:sp>
      <p:sp>
        <p:nvSpPr>
          <p:cNvPr id="471" name="Google Shape;471;g3f4a47ca9f1_1_482"/>
          <p:cNvSpPr/>
          <p:nvPr/>
        </p:nvSpPr>
        <p:spPr>
          <a:xfrm>
            <a:off x="1219200" y="5364480"/>
            <a:ext cx="9753600" cy="48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0" i="0" lang="en-IN" sz="1600" u="none" cap="none" strike="noStrike">
                <a:solidFill>
                  <a:srgbClr val="FFFFFF"/>
                </a:solidFill>
                <a:latin typeface="Arial"/>
                <a:ea typeface="Arial"/>
                <a:cs typeface="Arial"/>
                <a:sym typeface="Arial"/>
              </a:rPr>
              <a:t>•  Which languages and use cases matter most as the beta expands?</a:t>
            </a:r>
            <a:endParaRPr b="0" i="0" sz="1600" u="none" cap="none" strike="noStrike">
              <a:solidFill>
                <a:schemeClr val="dk1"/>
              </a:solidFill>
              <a:latin typeface="Calibri"/>
              <a:ea typeface="Calibri"/>
              <a:cs typeface="Calibri"/>
              <a:sym typeface="Calibri"/>
            </a:endParaRPr>
          </a:p>
        </p:txBody>
      </p:sp>
      <p:sp>
        <p:nvSpPr>
          <p:cNvPr id="472" name="Google Shape;472;g3f4a47ca9f1_1_482"/>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3C9"/>
              </a:buClr>
              <a:buSzPts val="1100"/>
              <a:buFont typeface="Arial"/>
              <a:buNone/>
            </a:pPr>
            <a:r>
              <a:rPr b="0" i="0" lang="en-IN" sz="1100" u="none" cap="none" strike="noStrike">
                <a:solidFill>
                  <a:srgbClr val="8FA3C9"/>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pic>
        <p:nvPicPr>
          <p:cNvPr descr="logo.png" id="478" name="Google Shape;478;g3f4a47ca9f1_1_498"/>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479" name="Google Shape;479;g3f4a47ca9f1_1_498"/>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Next steps, other potential ideas</a:t>
            </a:r>
            <a:endParaRPr b="0" i="0" sz="3100" u="none" cap="none" strike="noStrike">
              <a:solidFill>
                <a:schemeClr val="dk1"/>
              </a:solidFill>
              <a:latin typeface="Calibri"/>
              <a:ea typeface="Calibri"/>
              <a:cs typeface="Calibri"/>
              <a:sym typeface="Calibri"/>
            </a:endParaRPr>
          </a:p>
        </p:txBody>
      </p:sp>
      <p:sp>
        <p:nvSpPr>
          <p:cNvPr id="480" name="Google Shape;480;g3f4a47ca9f1_1_498"/>
          <p:cNvSpPr/>
          <p:nvPr/>
        </p:nvSpPr>
        <p:spPr>
          <a:xfrm>
            <a:off x="670560" y="1828800"/>
            <a:ext cx="9021900" cy="1889700"/>
          </a:xfrm>
          <a:prstGeom prst="roundRect">
            <a:avLst>
              <a:gd fmla="val 7742"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1" name="Google Shape;481;g3f4a47ca9f1_1_498"/>
          <p:cNvSpPr/>
          <p:nvPr/>
        </p:nvSpPr>
        <p:spPr>
          <a:xfrm>
            <a:off x="670560" y="1999488"/>
            <a:ext cx="85200" cy="15483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2" name="Google Shape;482;g3f4a47ca9f1_1_498"/>
          <p:cNvSpPr/>
          <p:nvPr/>
        </p:nvSpPr>
        <p:spPr>
          <a:xfrm>
            <a:off x="1036320" y="1975104"/>
            <a:ext cx="8412300" cy="164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500"/>
              <a:buFont typeface="Arial"/>
              <a:buNone/>
            </a:pPr>
            <a:r>
              <a:rPr b="0" i="0" lang="en-IN" sz="1500" u="none" cap="none" strike="noStrike">
                <a:solidFill>
                  <a:srgbClr val="1A2333"/>
                </a:solidFill>
                <a:latin typeface="Arial"/>
                <a:ea typeface="Arial"/>
                <a:cs typeface="Arial"/>
                <a:sym typeface="Arial"/>
              </a:rPr>
              <a:t>Run automated testing using existing translation datasets, rather than directly evaluating customer calls.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3"/>
              </a:buClr>
              <a:buSzPts val="1500"/>
              <a:buFont typeface="Arial"/>
              <a:buNone/>
            </a:pPr>
            <a:r>
              <a:rPr b="0" i="0" lang="en-IN" sz="1500" u="none" cap="none" strike="noStrike">
                <a:solidFill>
                  <a:srgbClr val="1A2333"/>
                </a:solidFill>
                <a:latin typeface="Arial"/>
                <a:ea typeface="Arial"/>
                <a:cs typeface="Arial"/>
                <a:sym typeface="Arial"/>
              </a:rPr>
              <a:t>Integrate CompNova's AInstein platform to help automate data gathering and use of dashboard.</a:t>
            </a:r>
            <a:endParaRPr b="0" i="0" sz="1500" u="none" cap="none" strike="noStrike">
              <a:solidFill>
                <a:schemeClr val="dk1"/>
              </a:solidFill>
              <a:latin typeface="Calibri"/>
              <a:ea typeface="Calibri"/>
              <a:cs typeface="Calibri"/>
              <a:sym typeface="Calibri"/>
            </a:endParaRPr>
          </a:p>
        </p:txBody>
      </p:sp>
      <p:sp>
        <p:nvSpPr>
          <p:cNvPr id="483" name="Google Shape;483;g3f4a47ca9f1_1_498"/>
          <p:cNvSpPr/>
          <p:nvPr/>
        </p:nvSpPr>
        <p:spPr>
          <a:xfrm>
            <a:off x="10119360" y="2255520"/>
            <a:ext cx="1036500" cy="1036500"/>
          </a:xfrm>
          <a:prstGeom prst="ellipse">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484" name="Google Shape;484;g3f4a47ca9f1_1_498"/>
          <p:cNvPicPr preferRelativeResize="0"/>
          <p:nvPr/>
        </p:nvPicPr>
        <p:blipFill rotWithShape="1">
          <a:blip r:embed="rId4">
            <a:alphaModFix/>
          </a:blip>
          <a:srcRect b="0" l="0" r="0" t="0"/>
          <a:stretch/>
        </p:blipFill>
        <p:spPr>
          <a:xfrm>
            <a:off x="10375392" y="2511552"/>
            <a:ext cx="524257" cy="524257"/>
          </a:xfrm>
          <a:prstGeom prst="rect">
            <a:avLst/>
          </a:prstGeom>
          <a:noFill/>
          <a:ln>
            <a:noFill/>
          </a:ln>
        </p:spPr>
      </p:pic>
      <p:sp>
        <p:nvSpPr>
          <p:cNvPr id="485" name="Google Shape;485;g3f4a47ca9f1_1_498"/>
          <p:cNvSpPr/>
          <p:nvPr/>
        </p:nvSpPr>
        <p:spPr>
          <a:xfrm>
            <a:off x="670560" y="4084320"/>
            <a:ext cx="9021900" cy="1524000"/>
          </a:xfrm>
          <a:prstGeom prst="roundRect">
            <a:avLst>
              <a:gd fmla="val 9600"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6" name="Google Shape;486;g3f4a47ca9f1_1_498"/>
          <p:cNvSpPr/>
          <p:nvPr/>
        </p:nvSpPr>
        <p:spPr>
          <a:xfrm>
            <a:off x="670560" y="4255008"/>
            <a:ext cx="85200" cy="1182900"/>
          </a:xfrm>
          <a:prstGeom prst="rect">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7" name="Google Shape;487;g3f4a47ca9f1_1_498"/>
          <p:cNvSpPr/>
          <p:nvPr/>
        </p:nvSpPr>
        <p:spPr>
          <a:xfrm>
            <a:off x="1036320" y="4267200"/>
            <a:ext cx="8412300" cy="115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500"/>
              <a:buFont typeface="Arial"/>
              <a:buNone/>
            </a:pPr>
            <a:r>
              <a:rPr b="0" i="0" lang="en-IN" sz="1500" u="none" cap="none" strike="noStrike">
                <a:solidFill>
                  <a:srgbClr val="1A2333"/>
                </a:solidFill>
                <a:latin typeface="Arial"/>
                <a:ea typeface="Arial"/>
                <a:cs typeface="Arial"/>
                <a:sym typeface="Arial"/>
              </a:rPr>
              <a:t>Include even more metrics such as standard BLEU and CHRF++, or BLASER2 for direct audio evaluations, include models that can explain errors</a:t>
            </a:r>
            <a:endParaRPr b="0" i="0" sz="1500" u="none" cap="none" strike="noStrike">
              <a:solidFill>
                <a:schemeClr val="dk1"/>
              </a:solidFill>
              <a:latin typeface="Calibri"/>
              <a:ea typeface="Calibri"/>
              <a:cs typeface="Calibri"/>
              <a:sym typeface="Calibri"/>
            </a:endParaRPr>
          </a:p>
        </p:txBody>
      </p:sp>
      <p:sp>
        <p:nvSpPr>
          <p:cNvPr id="488" name="Google Shape;488;g3f4a47ca9f1_1_498"/>
          <p:cNvSpPr/>
          <p:nvPr/>
        </p:nvSpPr>
        <p:spPr>
          <a:xfrm>
            <a:off x="10119360" y="4328160"/>
            <a:ext cx="1036500" cy="1036500"/>
          </a:xfrm>
          <a:prstGeom prst="ellipse">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489" name="Google Shape;489;g3f4a47ca9f1_1_498"/>
          <p:cNvPicPr preferRelativeResize="0"/>
          <p:nvPr/>
        </p:nvPicPr>
        <p:blipFill rotWithShape="1">
          <a:blip r:embed="rId5">
            <a:alphaModFix/>
          </a:blip>
          <a:srcRect b="0" l="0" r="0" t="0"/>
          <a:stretch/>
        </p:blipFill>
        <p:spPr>
          <a:xfrm>
            <a:off x="10375392" y="4584192"/>
            <a:ext cx="524257" cy="524257"/>
          </a:xfrm>
          <a:prstGeom prst="rect">
            <a:avLst/>
          </a:prstGeom>
          <a:noFill/>
          <a:ln>
            <a:noFill/>
          </a:ln>
        </p:spPr>
      </p:pic>
      <p:sp>
        <p:nvSpPr>
          <p:cNvPr id="490" name="Google Shape;490;g3f4a47ca9f1_1_498"/>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95" name="Shape 495"/>
        <p:cNvGrpSpPr/>
        <p:nvPr/>
      </p:nvGrpSpPr>
      <p:grpSpPr>
        <a:xfrm>
          <a:off x="0" y="0"/>
          <a:ext cx="0" cy="0"/>
          <a:chOff x="0" y="0"/>
          <a:chExt cx="0" cy="0"/>
        </a:xfrm>
      </p:grpSpPr>
      <p:pic>
        <p:nvPicPr>
          <p:cNvPr descr="logo.png" id="496" name="Google Shape;496;g3f4a47ca9f1_1_517"/>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497" name="Google Shape;497;g3f4a47ca9f1_1_517"/>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3100"/>
              <a:buFont typeface="Trebuchet MS"/>
              <a:buNone/>
            </a:pPr>
            <a:r>
              <a:rPr b="1" i="0" lang="en-IN" sz="3100" u="none" cap="none" strike="noStrike">
                <a:solidFill>
                  <a:srgbClr val="1A2333"/>
                </a:solidFill>
                <a:latin typeface="Trebuchet MS"/>
                <a:ea typeface="Trebuchet MS"/>
                <a:cs typeface="Trebuchet MS"/>
                <a:sym typeface="Trebuchet MS"/>
              </a:rPr>
              <a:t>Executive Summary</a:t>
            </a:r>
            <a:endParaRPr b="0" i="0" sz="3100" u="none" cap="none" strike="noStrike">
              <a:solidFill>
                <a:schemeClr val="dk1"/>
              </a:solidFill>
              <a:latin typeface="Calibri"/>
              <a:ea typeface="Calibri"/>
              <a:cs typeface="Calibri"/>
              <a:sym typeface="Calibri"/>
            </a:endParaRPr>
          </a:p>
        </p:txBody>
      </p:sp>
      <p:sp>
        <p:nvSpPr>
          <p:cNvPr id="498" name="Google Shape;498;g3f4a47ca9f1_1_517"/>
          <p:cNvSpPr/>
          <p:nvPr/>
        </p:nvSpPr>
        <p:spPr>
          <a:xfrm>
            <a:off x="670560" y="1645920"/>
            <a:ext cx="3413700" cy="792300"/>
          </a:xfrm>
          <a:prstGeom prst="homePlate">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9" name="Google Shape;499;g3f4a47ca9f1_1_517"/>
          <p:cNvSpPr/>
          <p:nvPr/>
        </p:nvSpPr>
        <p:spPr>
          <a:xfrm>
            <a:off x="792480" y="1645920"/>
            <a:ext cx="2804100" cy="79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Trebuchet MS"/>
              <a:buNone/>
            </a:pPr>
            <a:r>
              <a:rPr b="1" i="0" lang="en-IN" sz="1800" u="none" cap="none" strike="noStrike">
                <a:solidFill>
                  <a:srgbClr val="FFFFFF"/>
                </a:solidFill>
                <a:latin typeface="Trebuchet MS"/>
                <a:ea typeface="Trebuchet MS"/>
                <a:cs typeface="Trebuchet MS"/>
                <a:sym typeface="Trebuchet MS"/>
              </a:rPr>
              <a:t>Objective</a:t>
            </a:r>
            <a:endParaRPr b="0" i="0" sz="1800" u="none" cap="none" strike="noStrike">
              <a:solidFill>
                <a:schemeClr val="dk1"/>
              </a:solidFill>
              <a:latin typeface="Calibri"/>
              <a:ea typeface="Calibri"/>
              <a:cs typeface="Calibri"/>
              <a:sym typeface="Calibri"/>
            </a:endParaRPr>
          </a:p>
        </p:txBody>
      </p:sp>
      <p:sp>
        <p:nvSpPr>
          <p:cNvPr id="500" name="Google Shape;500;g3f4a47ca9f1_1_517"/>
          <p:cNvSpPr/>
          <p:nvPr/>
        </p:nvSpPr>
        <p:spPr>
          <a:xfrm>
            <a:off x="4267200" y="1645920"/>
            <a:ext cx="7254300" cy="792300"/>
          </a:xfrm>
          <a:prstGeom prst="roundRect">
            <a:avLst>
              <a:gd fmla="val 12308"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1" name="Google Shape;501;g3f4a47ca9f1_1_517"/>
          <p:cNvSpPr/>
          <p:nvPr/>
        </p:nvSpPr>
        <p:spPr>
          <a:xfrm>
            <a:off x="4535424" y="1743456"/>
            <a:ext cx="6766500" cy="59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400"/>
              <a:buFont typeface="Arial"/>
              <a:buNone/>
            </a:pPr>
            <a:r>
              <a:rPr b="0" i="0" lang="en-IN" sz="1400" u="none" cap="none" strike="noStrike">
                <a:solidFill>
                  <a:srgbClr val="1A2333"/>
                </a:solidFill>
                <a:latin typeface="Arial"/>
                <a:ea typeface="Arial"/>
                <a:cs typeface="Arial"/>
                <a:sym typeface="Arial"/>
              </a:rPr>
              <a:t>•  Develop next-generation translation quality evaluation platform for T-Mobile</a:t>
            </a:r>
            <a:endParaRPr b="0" i="0" sz="1400" u="none" cap="none" strike="noStrike">
              <a:solidFill>
                <a:schemeClr val="dk1"/>
              </a:solidFill>
              <a:latin typeface="Calibri"/>
              <a:ea typeface="Calibri"/>
              <a:cs typeface="Calibri"/>
              <a:sym typeface="Calibri"/>
            </a:endParaRPr>
          </a:p>
        </p:txBody>
      </p:sp>
      <p:sp>
        <p:nvSpPr>
          <p:cNvPr id="502" name="Google Shape;502;g3f4a47ca9f1_1_517"/>
          <p:cNvSpPr/>
          <p:nvPr/>
        </p:nvSpPr>
        <p:spPr>
          <a:xfrm>
            <a:off x="670560" y="2621280"/>
            <a:ext cx="3413700" cy="1097100"/>
          </a:xfrm>
          <a:prstGeom prst="homePlate">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3" name="Google Shape;503;g3f4a47ca9f1_1_517"/>
          <p:cNvSpPr/>
          <p:nvPr/>
        </p:nvSpPr>
        <p:spPr>
          <a:xfrm>
            <a:off x="792480" y="2621280"/>
            <a:ext cx="2804100" cy="109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Trebuchet MS"/>
              <a:buNone/>
            </a:pPr>
            <a:r>
              <a:rPr b="1" i="0" lang="en-IN" sz="1800" u="none" cap="none" strike="noStrike">
                <a:solidFill>
                  <a:srgbClr val="FFFFFF"/>
                </a:solidFill>
                <a:latin typeface="Trebuchet MS"/>
                <a:ea typeface="Trebuchet MS"/>
                <a:cs typeface="Trebuchet MS"/>
                <a:sym typeface="Trebuchet MS"/>
              </a:rPr>
              <a:t>Key Differentiators</a:t>
            </a:r>
            <a:endParaRPr b="0" i="0" sz="1800" u="none" cap="none" strike="noStrike">
              <a:solidFill>
                <a:schemeClr val="dk1"/>
              </a:solidFill>
              <a:latin typeface="Calibri"/>
              <a:ea typeface="Calibri"/>
              <a:cs typeface="Calibri"/>
              <a:sym typeface="Calibri"/>
            </a:endParaRPr>
          </a:p>
        </p:txBody>
      </p:sp>
      <p:sp>
        <p:nvSpPr>
          <p:cNvPr id="504" name="Google Shape;504;g3f4a47ca9f1_1_517"/>
          <p:cNvSpPr/>
          <p:nvPr/>
        </p:nvSpPr>
        <p:spPr>
          <a:xfrm>
            <a:off x="4267200" y="2621280"/>
            <a:ext cx="7254300" cy="1097100"/>
          </a:xfrm>
          <a:prstGeom prst="roundRect">
            <a:avLst>
              <a:gd fmla="val 8889"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5" name="Google Shape;505;g3f4a47ca9f1_1_517"/>
          <p:cNvSpPr/>
          <p:nvPr/>
        </p:nvSpPr>
        <p:spPr>
          <a:xfrm>
            <a:off x="4535424" y="2718816"/>
            <a:ext cx="6766500" cy="90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400"/>
              <a:buFont typeface="Arial"/>
              <a:buNone/>
            </a:pPr>
            <a:r>
              <a:rPr b="0" i="0" lang="en-IN" sz="1400" u="none" cap="none" strike="noStrike">
                <a:solidFill>
                  <a:srgbClr val="1A2333"/>
                </a:solidFill>
                <a:latin typeface="Arial"/>
                <a:ea typeface="Arial"/>
                <a:cs typeface="Arial"/>
                <a:sym typeface="Arial"/>
              </a:rPr>
              <a:t>•  Reference-free translation accuracy evaluation</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A2333"/>
              </a:buClr>
              <a:buSzPts val="1400"/>
              <a:buFont typeface="Arial"/>
              <a:buNone/>
            </a:pPr>
            <a:r>
              <a:rPr b="0" i="0" lang="en-IN" sz="1400" u="none" cap="none" strike="noStrike">
                <a:solidFill>
                  <a:srgbClr val="1A2333"/>
                </a:solidFill>
                <a:latin typeface="Arial"/>
                <a:ea typeface="Arial"/>
                <a:cs typeface="Arial"/>
                <a:sym typeface="Arial"/>
              </a:rPr>
              <a:t>•  Sentiment preservation analysis</a:t>
            </a:r>
            <a:endParaRPr b="0" i="0" sz="1400" u="none" cap="none" strike="noStrike">
              <a:solidFill>
                <a:schemeClr val="dk1"/>
              </a:solidFill>
              <a:latin typeface="Calibri"/>
              <a:ea typeface="Calibri"/>
              <a:cs typeface="Calibri"/>
              <a:sym typeface="Calibri"/>
            </a:endParaRPr>
          </a:p>
        </p:txBody>
      </p:sp>
      <p:sp>
        <p:nvSpPr>
          <p:cNvPr id="506" name="Google Shape;506;g3f4a47ca9f1_1_517"/>
          <p:cNvSpPr/>
          <p:nvPr/>
        </p:nvSpPr>
        <p:spPr>
          <a:xfrm>
            <a:off x="670560" y="3901440"/>
            <a:ext cx="3413700" cy="2133600"/>
          </a:xfrm>
          <a:prstGeom prst="homePlate">
            <a:avLst>
              <a:gd fmla="val 50000" name="adj"/>
            </a:avLst>
          </a:prstGeom>
          <a:solidFill>
            <a:srgbClr val="1FA89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7" name="Google Shape;507;g3f4a47ca9f1_1_517"/>
          <p:cNvSpPr/>
          <p:nvPr/>
        </p:nvSpPr>
        <p:spPr>
          <a:xfrm>
            <a:off x="792480" y="3901440"/>
            <a:ext cx="2804100" cy="213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Trebuchet MS"/>
              <a:buNone/>
            </a:pPr>
            <a:r>
              <a:rPr b="1" i="0" lang="en-IN" sz="1800" u="none" cap="none" strike="noStrike">
                <a:solidFill>
                  <a:srgbClr val="FFFFFF"/>
                </a:solidFill>
                <a:latin typeface="Trebuchet MS"/>
                <a:ea typeface="Trebuchet MS"/>
                <a:cs typeface="Trebuchet MS"/>
                <a:sym typeface="Trebuchet MS"/>
              </a:rPr>
              <a:t>Team Contributions</a:t>
            </a:r>
            <a:endParaRPr b="0" i="0" sz="1800" u="none" cap="none" strike="noStrike">
              <a:solidFill>
                <a:schemeClr val="dk1"/>
              </a:solidFill>
              <a:latin typeface="Calibri"/>
              <a:ea typeface="Calibri"/>
              <a:cs typeface="Calibri"/>
              <a:sym typeface="Calibri"/>
            </a:endParaRPr>
          </a:p>
        </p:txBody>
      </p:sp>
      <p:sp>
        <p:nvSpPr>
          <p:cNvPr id="508" name="Google Shape;508;g3f4a47ca9f1_1_517"/>
          <p:cNvSpPr/>
          <p:nvPr/>
        </p:nvSpPr>
        <p:spPr>
          <a:xfrm>
            <a:off x="4267200" y="3901440"/>
            <a:ext cx="7254300" cy="2133600"/>
          </a:xfrm>
          <a:prstGeom prst="roundRect">
            <a:avLst>
              <a:gd fmla="val 4571" name="adj"/>
            </a:avLst>
          </a:prstGeom>
          <a:solidFill>
            <a:srgbClr val="E9F6F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9" name="Google Shape;509;g3f4a47ca9f1_1_517"/>
          <p:cNvSpPr/>
          <p:nvPr/>
        </p:nvSpPr>
        <p:spPr>
          <a:xfrm>
            <a:off x="4535424" y="3998976"/>
            <a:ext cx="6766500" cy="193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400"/>
              <a:buFont typeface="Arial"/>
              <a:buNone/>
            </a:pPr>
            <a:r>
              <a:rPr b="0" i="0" lang="en-IN" sz="1400" u="none" cap="none" strike="noStrike">
                <a:solidFill>
                  <a:srgbClr val="1A2333"/>
                </a:solidFill>
                <a:latin typeface="Arial"/>
                <a:ea typeface="Arial"/>
                <a:cs typeface="Arial"/>
                <a:sym typeface="Arial"/>
              </a:rPr>
              <a:t>•  Interns collaborated on this project</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A2333"/>
              </a:buClr>
              <a:buSzPts val="1400"/>
              <a:buFont typeface="Arial"/>
              <a:buNone/>
            </a:pPr>
            <a:r>
              <a:rPr b="0" i="0" lang="en-IN" sz="1400" u="none" cap="none" strike="noStrike">
                <a:solidFill>
                  <a:srgbClr val="1A2333"/>
                </a:solidFill>
                <a:latin typeface="Arial"/>
                <a:ea typeface="Arial"/>
                <a:cs typeface="Arial"/>
                <a:sym typeface="Arial"/>
              </a:rPr>
              <a:t>•  Linguistics experts provided translation quality insights</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A2333"/>
              </a:buClr>
              <a:buSzPts val="1400"/>
              <a:buFont typeface="Arial"/>
              <a:buNone/>
            </a:pPr>
            <a:r>
              <a:rPr b="0" i="0" lang="en-IN" sz="1400" u="none" cap="none" strike="noStrike">
                <a:solidFill>
                  <a:srgbClr val="1A2333"/>
                </a:solidFill>
                <a:latin typeface="Arial"/>
                <a:ea typeface="Arial"/>
                <a:cs typeface="Arial"/>
                <a:sym typeface="Arial"/>
              </a:rPr>
              <a:t>•  Cross-functional effort combining AI, NLP, linguistics, and telecommunications expertise</a:t>
            </a:r>
            <a:endParaRPr b="0" i="0" sz="1400" u="none" cap="none" strike="noStrike">
              <a:solidFill>
                <a:schemeClr val="dk1"/>
              </a:solidFill>
              <a:latin typeface="Calibri"/>
              <a:ea typeface="Calibri"/>
              <a:cs typeface="Calibri"/>
              <a:sym typeface="Calibri"/>
            </a:endParaRPr>
          </a:p>
        </p:txBody>
      </p:sp>
      <p:sp>
        <p:nvSpPr>
          <p:cNvPr id="510" name="Google Shape;510;g3f4a47ca9f1_1_517"/>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pic>
        <p:nvPicPr>
          <p:cNvPr descr="logo.png" id="516" name="Google Shape;516;g3f4a47ca9f1_1_538"/>
          <p:cNvPicPr preferRelativeResize="0"/>
          <p:nvPr/>
        </p:nvPicPr>
        <p:blipFill rotWithShape="1">
          <a:blip r:embed="rId3">
            <a:alphaModFix/>
          </a:blip>
          <a:srcRect b="0" l="0" r="0" t="0"/>
          <a:stretch/>
        </p:blipFill>
        <p:spPr>
          <a:xfrm>
            <a:off x="548640" y="341376"/>
            <a:ext cx="1280160" cy="300037"/>
          </a:xfrm>
          <a:prstGeom prst="rect">
            <a:avLst/>
          </a:prstGeom>
          <a:noFill/>
          <a:ln>
            <a:noFill/>
          </a:ln>
        </p:spPr>
      </p:pic>
      <p:sp>
        <p:nvSpPr>
          <p:cNvPr id="517" name="Google Shape;517;g3f4a47ca9f1_1_538"/>
          <p:cNvSpPr/>
          <p:nvPr/>
        </p:nvSpPr>
        <p:spPr>
          <a:xfrm>
            <a:off x="548640" y="853440"/>
            <a:ext cx="110949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2800"/>
              <a:buFont typeface="Trebuchet MS"/>
              <a:buNone/>
            </a:pPr>
            <a:r>
              <a:rPr b="1" lang="en-IN" sz="2800">
                <a:solidFill>
                  <a:srgbClr val="1A2333"/>
                </a:solidFill>
                <a:latin typeface="Trebuchet MS"/>
                <a:ea typeface="Trebuchet MS"/>
                <a:cs typeface="Trebuchet MS"/>
                <a:sym typeface="Trebuchet MS"/>
              </a:rPr>
              <a:t>R</a:t>
            </a:r>
            <a:r>
              <a:rPr b="1" i="0" lang="en-IN" sz="2800" u="none" cap="none" strike="noStrike">
                <a:solidFill>
                  <a:srgbClr val="1A2333"/>
                </a:solidFill>
                <a:latin typeface="Trebuchet MS"/>
                <a:ea typeface="Trebuchet MS"/>
                <a:cs typeface="Trebuchet MS"/>
                <a:sym typeface="Trebuchet MS"/>
              </a:rPr>
              <a:t>esearch </a:t>
            </a:r>
            <a:endParaRPr b="0" i="0" sz="2800" u="none" cap="none" strike="noStrike">
              <a:solidFill>
                <a:schemeClr val="dk1"/>
              </a:solidFill>
              <a:latin typeface="Calibri"/>
              <a:ea typeface="Calibri"/>
              <a:cs typeface="Calibri"/>
              <a:sym typeface="Calibri"/>
            </a:endParaRPr>
          </a:p>
        </p:txBody>
      </p:sp>
      <p:sp>
        <p:nvSpPr>
          <p:cNvPr id="518" name="Google Shape;518;g3f4a47ca9f1_1_538"/>
          <p:cNvSpPr/>
          <p:nvPr/>
        </p:nvSpPr>
        <p:spPr>
          <a:xfrm>
            <a:off x="670560" y="160934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A review of the BLEU metric. T</a:t>
            </a:r>
            <a:r>
              <a:rPr b="1" i="0" lang="en-IN" sz="1300" u="none" cap="none" strike="noStrike">
                <a:solidFill>
                  <a:srgbClr val="1A2333"/>
                </a:solidFill>
                <a:latin typeface="Arial"/>
                <a:ea typeface="Arial"/>
                <a:cs typeface="Arial"/>
                <a:sym typeface="Arial"/>
              </a:rPr>
              <a:t>he most common method for translation evaluation has many problems, is best used as </a:t>
            </a:r>
            <a:r>
              <a:rPr b="1" lang="en-IN" sz="1300">
                <a:solidFill>
                  <a:srgbClr val="1A2333"/>
                </a:solidFill>
              </a:rPr>
              <a:t>quick diagnostic.</a:t>
            </a:r>
            <a:endParaRPr b="0" i="0" sz="1300" u="none" cap="none" strike="noStrike">
              <a:solidFill>
                <a:schemeClr val="dk1"/>
              </a:solidFill>
              <a:latin typeface="Calibri"/>
              <a:ea typeface="Calibri"/>
              <a:cs typeface="Calibri"/>
              <a:sym typeface="Calibri"/>
            </a:endParaRPr>
          </a:p>
        </p:txBody>
      </p:sp>
      <p:sp>
        <p:nvSpPr>
          <p:cNvPr id="519" name="Google Shape;519;g3f4a47ca9f1_1_538"/>
          <p:cNvSpPr/>
          <p:nvPr/>
        </p:nvSpPr>
        <p:spPr>
          <a:xfrm>
            <a:off x="670560" y="188976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4"/>
              </a:rPr>
              <a:t>https://direct.mit.edu/coli/article/44/3/393/1598/A-Structured-Review-of-the-Validity-of-BLEU</a:t>
            </a:r>
            <a:endParaRPr b="0" i="0" sz="1100" u="none" cap="none" strike="noStrike">
              <a:solidFill>
                <a:schemeClr val="dk1"/>
              </a:solidFill>
              <a:latin typeface="Calibri"/>
              <a:ea typeface="Calibri"/>
              <a:cs typeface="Calibri"/>
              <a:sym typeface="Calibri"/>
            </a:endParaRPr>
          </a:p>
        </p:txBody>
      </p:sp>
      <p:sp>
        <p:nvSpPr>
          <p:cNvPr id="520" name="Google Shape;520;g3f4a47ca9f1_1_538"/>
          <p:cNvSpPr/>
          <p:nvPr/>
        </p:nvSpPr>
        <p:spPr>
          <a:xfrm>
            <a:off x="670560" y="212750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Q</a:t>
            </a:r>
            <a:r>
              <a:rPr b="1" i="0" lang="en-IN" sz="1300" u="none" cap="none" strike="noStrike">
                <a:solidFill>
                  <a:srgbClr val="1A2333"/>
                </a:solidFill>
                <a:latin typeface="Arial"/>
                <a:ea typeface="Arial"/>
                <a:cs typeface="Arial"/>
                <a:sym typeface="Arial"/>
              </a:rPr>
              <a:t>uality estimation, translation quality without reference translation. Methods and </a:t>
            </a:r>
            <a:r>
              <a:rPr b="1" lang="en-IN" sz="1300">
                <a:solidFill>
                  <a:srgbClr val="1A2333"/>
                </a:solidFill>
              </a:rPr>
              <a:t>challenges for the task.</a:t>
            </a:r>
            <a:endParaRPr b="0" i="0" sz="1300" u="none" cap="none" strike="noStrike">
              <a:solidFill>
                <a:schemeClr val="dk1"/>
              </a:solidFill>
              <a:latin typeface="Calibri"/>
              <a:ea typeface="Calibri"/>
              <a:cs typeface="Calibri"/>
              <a:sym typeface="Calibri"/>
            </a:endParaRPr>
          </a:p>
        </p:txBody>
      </p:sp>
      <p:sp>
        <p:nvSpPr>
          <p:cNvPr id="521" name="Google Shape;521;g3f4a47ca9f1_1_538"/>
          <p:cNvSpPr/>
          <p:nvPr/>
        </p:nvSpPr>
        <p:spPr>
          <a:xfrm>
            <a:off x="670560" y="240792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5"/>
              </a:rPr>
              <a:t>https://arxiv.org/abs/2403.14118</a:t>
            </a:r>
            <a:endParaRPr b="0" i="0" sz="1100" u="none" cap="none" strike="noStrike">
              <a:solidFill>
                <a:schemeClr val="dk1"/>
              </a:solidFill>
              <a:latin typeface="Calibri"/>
              <a:ea typeface="Calibri"/>
              <a:cs typeface="Calibri"/>
              <a:sym typeface="Calibri"/>
            </a:endParaRPr>
          </a:p>
        </p:txBody>
      </p:sp>
      <p:sp>
        <p:nvSpPr>
          <p:cNvPr id="522" name="Google Shape;522;g3f4a47ca9f1_1_538"/>
          <p:cNvSpPr/>
          <p:nvPr/>
        </p:nvSpPr>
        <p:spPr>
          <a:xfrm>
            <a:off x="670560" y="264566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T</a:t>
            </a:r>
            <a:r>
              <a:rPr b="1" i="0" lang="en-IN" sz="1300" u="none" cap="none" strike="noStrike">
                <a:solidFill>
                  <a:srgbClr val="1A2333"/>
                </a:solidFill>
                <a:latin typeface="Arial"/>
                <a:ea typeface="Arial"/>
                <a:cs typeface="Arial"/>
                <a:sym typeface="Arial"/>
              </a:rPr>
              <a:t>ranslation quality evaluation</a:t>
            </a:r>
            <a:r>
              <a:rPr b="1" lang="en-IN" sz="1300">
                <a:solidFill>
                  <a:srgbClr val="1A2333"/>
                </a:solidFill>
              </a:rPr>
              <a:t>.</a:t>
            </a:r>
            <a:r>
              <a:rPr b="1" i="0" lang="en-IN" sz="1300" u="none" cap="none" strike="noStrike">
                <a:solidFill>
                  <a:srgbClr val="1A2333"/>
                </a:solidFill>
                <a:latin typeface="Arial"/>
                <a:ea typeface="Arial"/>
                <a:cs typeface="Arial"/>
                <a:sym typeface="Arial"/>
              </a:rPr>
              <a:t> </a:t>
            </a:r>
            <a:r>
              <a:rPr b="1" lang="en-IN" sz="1300">
                <a:solidFill>
                  <a:srgbClr val="1A2333"/>
                </a:solidFill>
              </a:rPr>
              <a:t>How is </a:t>
            </a:r>
            <a:r>
              <a:rPr b="1" i="0" lang="en-IN" sz="1300" u="none" cap="none" strike="noStrike">
                <a:solidFill>
                  <a:srgbClr val="1A2333"/>
                </a:solidFill>
                <a:latin typeface="Arial"/>
                <a:ea typeface="Arial"/>
                <a:cs typeface="Arial"/>
                <a:sym typeface="Arial"/>
              </a:rPr>
              <a:t>COMET used, </a:t>
            </a:r>
            <a:r>
              <a:rPr b="1" lang="en-IN" sz="1300">
                <a:solidFill>
                  <a:srgbClr val="1A2333"/>
                </a:solidFill>
              </a:rPr>
              <a:t>what problems it has, how does it differ from human evaluations.</a:t>
            </a:r>
            <a:endParaRPr b="0" i="0" sz="1300" u="none" cap="none" strike="noStrike">
              <a:solidFill>
                <a:schemeClr val="dk1"/>
              </a:solidFill>
              <a:latin typeface="Calibri"/>
              <a:ea typeface="Calibri"/>
              <a:cs typeface="Calibri"/>
              <a:sym typeface="Calibri"/>
            </a:endParaRPr>
          </a:p>
        </p:txBody>
      </p:sp>
      <p:sp>
        <p:nvSpPr>
          <p:cNvPr id="523" name="Google Shape;523;g3f4a47ca9f1_1_538"/>
          <p:cNvSpPr/>
          <p:nvPr/>
        </p:nvSpPr>
        <p:spPr>
          <a:xfrm>
            <a:off x="670560" y="292608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6"/>
              </a:rPr>
              <a:t>https://translated.com/mt-quality-evaluation-in-the-age-of-llm-based-mt</a:t>
            </a:r>
            <a:endParaRPr b="0" i="0" sz="1100" u="none" cap="none" strike="noStrike">
              <a:solidFill>
                <a:schemeClr val="dk1"/>
              </a:solidFill>
              <a:latin typeface="Calibri"/>
              <a:ea typeface="Calibri"/>
              <a:cs typeface="Calibri"/>
              <a:sym typeface="Calibri"/>
            </a:endParaRPr>
          </a:p>
        </p:txBody>
      </p:sp>
      <p:sp>
        <p:nvSpPr>
          <p:cNvPr id="524" name="Google Shape;524;g3f4a47ca9f1_1_538"/>
          <p:cNvSpPr/>
          <p:nvPr/>
        </p:nvSpPr>
        <p:spPr>
          <a:xfrm>
            <a:off x="670560" y="316382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R</a:t>
            </a:r>
            <a:r>
              <a:rPr b="1" i="0" lang="en-IN" sz="1300" u="none" cap="none" strike="noStrike">
                <a:solidFill>
                  <a:srgbClr val="1A2333"/>
                </a:solidFill>
                <a:latin typeface="Arial"/>
                <a:ea typeface="Arial"/>
                <a:cs typeface="Arial"/>
                <a:sym typeface="Arial"/>
              </a:rPr>
              <a:t>eview of </a:t>
            </a:r>
            <a:r>
              <a:rPr b="1" lang="en-IN" sz="1300">
                <a:solidFill>
                  <a:srgbClr val="1A2333"/>
                </a:solidFill>
              </a:rPr>
              <a:t>end to end(E2E)</a:t>
            </a:r>
            <a:r>
              <a:rPr b="1" i="0" lang="en-IN" sz="1300" u="none" cap="none" strike="noStrike">
                <a:solidFill>
                  <a:srgbClr val="1A2333"/>
                </a:solidFill>
                <a:latin typeface="Arial"/>
                <a:ea typeface="Arial"/>
                <a:cs typeface="Arial"/>
                <a:sym typeface="Arial"/>
              </a:rPr>
              <a:t> speech to text(S2T) translation systems.</a:t>
            </a:r>
            <a:endParaRPr b="0" i="0" sz="1300" u="none" cap="none" strike="noStrike">
              <a:solidFill>
                <a:schemeClr val="dk1"/>
              </a:solidFill>
              <a:latin typeface="Calibri"/>
              <a:ea typeface="Calibri"/>
              <a:cs typeface="Calibri"/>
              <a:sym typeface="Calibri"/>
            </a:endParaRPr>
          </a:p>
        </p:txBody>
      </p:sp>
      <p:sp>
        <p:nvSpPr>
          <p:cNvPr id="525" name="Google Shape;525;g3f4a47ca9f1_1_538"/>
          <p:cNvSpPr/>
          <p:nvPr/>
        </p:nvSpPr>
        <p:spPr>
          <a:xfrm>
            <a:off x="670560" y="344424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7"/>
              </a:rPr>
              <a:t>https://www.sciencedirect.com/science/article/pii/S0885230824001347</a:t>
            </a:r>
            <a:endParaRPr b="0" i="0" sz="1100" u="none" cap="none" strike="noStrike">
              <a:solidFill>
                <a:schemeClr val="dk1"/>
              </a:solidFill>
              <a:latin typeface="Calibri"/>
              <a:ea typeface="Calibri"/>
              <a:cs typeface="Calibri"/>
              <a:sym typeface="Calibri"/>
            </a:endParaRPr>
          </a:p>
        </p:txBody>
      </p:sp>
      <p:sp>
        <p:nvSpPr>
          <p:cNvPr id="526" name="Google Shape;526;g3f4a47ca9f1_1_538"/>
          <p:cNvSpPr/>
          <p:nvPr/>
        </p:nvSpPr>
        <p:spPr>
          <a:xfrm>
            <a:off x="670560" y="368198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R</a:t>
            </a:r>
            <a:r>
              <a:rPr b="1" i="0" lang="en-IN" sz="1300" u="none" cap="none" strike="noStrike">
                <a:solidFill>
                  <a:srgbClr val="1A2333"/>
                </a:solidFill>
                <a:latin typeface="Arial"/>
                <a:ea typeface="Arial"/>
                <a:cs typeface="Arial"/>
                <a:sym typeface="Arial"/>
              </a:rPr>
              <a:t>eview of speech to speech(S2S) translation </a:t>
            </a:r>
            <a:r>
              <a:rPr b="1" lang="en-IN" sz="1300">
                <a:solidFill>
                  <a:srgbClr val="1A2333"/>
                </a:solidFill>
              </a:rPr>
              <a:t>systems. Cascaded systems and direct E2E systems.</a:t>
            </a:r>
            <a:endParaRPr b="0" i="0" sz="1300" u="none" cap="none" strike="noStrike">
              <a:solidFill>
                <a:schemeClr val="dk1"/>
              </a:solidFill>
              <a:latin typeface="Calibri"/>
              <a:ea typeface="Calibri"/>
              <a:cs typeface="Calibri"/>
              <a:sym typeface="Calibri"/>
            </a:endParaRPr>
          </a:p>
        </p:txBody>
      </p:sp>
      <p:sp>
        <p:nvSpPr>
          <p:cNvPr id="527" name="Google Shape;527;g3f4a47ca9f1_1_538"/>
          <p:cNvSpPr/>
          <p:nvPr/>
        </p:nvSpPr>
        <p:spPr>
          <a:xfrm>
            <a:off x="670560" y="396240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8"/>
              </a:rPr>
              <a:t>https://arxiv.org/abs/2503.04799</a:t>
            </a:r>
            <a:endParaRPr b="0" i="0" sz="1100" u="none" cap="none" strike="noStrike">
              <a:solidFill>
                <a:schemeClr val="dk1"/>
              </a:solidFill>
              <a:latin typeface="Calibri"/>
              <a:ea typeface="Calibri"/>
              <a:cs typeface="Calibri"/>
              <a:sym typeface="Calibri"/>
            </a:endParaRPr>
          </a:p>
        </p:txBody>
      </p:sp>
      <p:sp>
        <p:nvSpPr>
          <p:cNvPr id="528" name="Google Shape;528;g3f4a47ca9f1_1_538"/>
          <p:cNvSpPr/>
          <p:nvPr/>
        </p:nvSpPr>
        <p:spPr>
          <a:xfrm>
            <a:off x="670560" y="420014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Use of </a:t>
            </a:r>
            <a:r>
              <a:rPr b="1" i="0" lang="en-IN" sz="1300" u="none" cap="none" strike="noStrike">
                <a:solidFill>
                  <a:srgbClr val="1A2333"/>
                </a:solidFill>
                <a:latin typeface="Arial"/>
                <a:ea typeface="Arial"/>
                <a:cs typeface="Arial"/>
                <a:sym typeface="Arial"/>
              </a:rPr>
              <a:t>S2S in real life clinical scenario. H</a:t>
            </a:r>
            <a:r>
              <a:rPr b="1" lang="en-IN" sz="1300">
                <a:solidFill>
                  <a:srgbClr val="1A2333"/>
                </a:solidFill>
              </a:rPr>
              <a:t>umans still better at naturalness and delivery. </a:t>
            </a:r>
            <a:r>
              <a:rPr b="1" lang="en-IN" sz="1300">
                <a:solidFill>
                  <a:srgbClr val="1A2333"/>
                </a:solidFill>
              </a:rPr>
              <a:t>Better</a:t>
            </a:r>
            <a:r>
              <a:rPr b="1" lang="en-IN" sz="1300">
                <a:solidFill>
                  <a:srgbClr val="1A2333"/>
                </a:solidFill>
              </a:rPr>
              <a:t> tone, empathy, and contextual nuance.</a:t>
            </a:r>
            <a:endParaRPr b="0" i="0" sz="1300" u="none" cap="none" strike="noStrike">
              <a:solidFill>
                <a:schemeClr val="dk1"/>
              </a:solidFill>
              <a:latin typeface="Calibri"/>
              <a:ea typeface="Calibri"/>
              <a:cs typeface="Calibri"/>
              <a:sym typeface="Calibri"/>
            </a:endParaRPr>
          </a:p>
        </p:txBody>
      </p:sp>
      <p:sp>
        <p:nvSpPr>
          <p:cNvPr id="529" name="Google Shape;529;g3f4a47ca9f1_1_538"/>
          <p:cNvSpPr/>
          <p:nvPr/>
        </p:nvSpPr>
        <p:spPr>
          <a:xfrm>
            <a:off x="670560" y="448056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9"/>
              </a:rPr>
              <a:t>https://www.nature.com/articles/s44401-026-00080-5</a:t>
            </a:r>
            <a:endParaRPr b="0" i="0" sz="1100" u="none" cap="none" strike="noStrike">
              <a:solidFill>
                <a:schemeClr val="dk1"/>
              </a:solidFill>
              <a:latin typeface="Calibri"/>
              <a:ea typeface="Calibri"/>
              <a:cs typeface="Calibri"/>
              <a:sym typeface="Calibri"/>
            </a:endParaRPr>
          </a:p>
        </p:txBody>
      </p:sp>
      <p:sp>
        <p:nvSpPr>
          <p:cNvPr id="530" name="Google Shape;530;g3f4a47ca9f1_1_538"/>
          <p:cNvSpPr/>
          <p:nvPr/>
        </p:nvSpPr>
        <p:spPr>
          <a:xfrm>
            <a:off x="670560" y="471830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R</a:t>
            </a:r>
            <a:r>
              <a:rPr b="1" i="0" lang="en-IN" sz="1300" u="none" cap="none" strike="noStrike">
                <a:solidFill>
                  <a:srgbClr val="1A2333"/>
                </a:solidFill>
                <a:latin typeface="Arial"/>
                <a:ea typeface="Arial"/>
                <a:cs typeface="Arial"/>
                <a:sym typeface="Arial"/>
              </a:rPr>
              <a:t>eview of sentiment in the context of translation. Ho</a:t>
            </a:r>
            <a:r>
              <a:rPr b="1" lang="en-IN" sz="1300">
                <a:solidFill>
                  <a:srgbClr val="1A2333"/>
                </a:solidFill>
              </a:rPr>
              <a:t>w can sentiment polarity affect translations.</a:t>
            </a:r>
            <a:endParaRPr b="0" i="0" sz="1300" u="none" cap="none" strike="noStrike">
              <a:solidFill>
                <a:schemeClr val="dk1"/>
              </a:solidFill>
              <a:latin typeface="Calibri"/>
              <a:ea typeface="Calibri"/>
              <a:cs typeface="Calibri"/>
              <a:sym typeface="Calibri"/>
            </a:endParaRPr>
          </a:p>
        </p:txBody>
      </p:sp>
      <p:sp>
        <p:nvSpPr>
          <p:cNvPr id="531" name="Google Shape;531;g3f4a47ca9f1_1_538"/>
          <p:cNvSpPr/>
          <p:nvPr/>
        </p:nvSpPr>
        <p:spPr>
          <a:xfrm>
            <a:off x="670560" y="499872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10"/>
              </a:rPr>
              <a:t>https://dl.acm.org/doi/10.1145/3709026.3709092</a:t>
            </a:r>
            <a:endParaRPr b="0" i="0" sz="1100" u="none" cap="none" strike="noStrike">
              <a:solidFill>
                <a:schemeClr val="dk1"/>
              </a:solidFill>
              <a:latin typeface="Calibri"/>
              <a:ea typeface="Calibri"/>
              <a:cs typeface="Calibri"/>
              <a:sym typeface="Calibri"/>
            </a:endParaRPr>
          </a:p>
        </p:txBody>
      </p:sp>
      <p:sp>
        <p:nvSpPr>
          <p:cNvPr id="532" name="Google Shape;532;g3f4a47ca9f1_1_538"/>
          <p:cNvSpPr/>
          <p:nvPr/>
        </p:nvSpPr>
        <p:spPr>
          <a:xfrm>
            <a:off x="670560" y="523646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R</a:t>
            </a:r>
            <a:r>
              <a:rPr b="1" i="0" lang="en-IN" sz="1300" u="none" cap="none" strike="noStrike">
                <a:solidFill>
                  <a:srgbClr val="1A2333"/>
                </a:solidFill>
                <a:latin typeface="Arial"/>
                <a:ea typeface="Arial"/>
                <a:cs typeface="Arial"/>
                <a:sym typeface="Arial"/>
              </a:rPr>
              <a:t>esearch in pragmatics translation </a:t>
            </a:r>
            <a:r>
              <a:rPr b="1" lang="en-IN" sz="1300">
                <a:solidFill>
                  <a:srgbClr val="1A2333"/>
                </a:solidFill>
              </a:rPr>
              <a:t>for</a:t>
            </a:r>
            <a:r>
              <a:rPr b="1" i="0" lang="en-IN" sz="1300" u="none" cap="none" strike="noStrike">
                <a:solidFill>
                  <a:srgbClr val="1A2333"/>
                </a:solidFill>
                <a:latin typeface="Arial"/>
                <a:ea typeface="Arial"/>
                <a:cs typeface="Arial"/>
                <a:sym typeface="Arial"/>
              </a:rPr>
              <a:t> S2S</a:t>
            </a:r>
            <a:r>
              <a:rPr b="1" lang="en-IN" sz="1300">
                <a:solidFill>
                  <a:srgbClr val="1A2333"/>
                </a:solidFill>
              </a:rPr>
              <a:t>.</a:t>
            </a:r>
            <a:r>
              <a:rPr b="1" i="0" lang="en-IN" sz="1300" u="none" cap="none" strike="noStrike">
                <a:solidFill>
                  <a:srgbClr val="1A2333"/>
                </a:solidFill>
                <a:latin typeface="Arial"/>
                <a:ea typeface="Arial"/>
                <a:cs typeface="Arial"/>
                <a:sym typeface="Arial"/>
              </a:rPr>
              <a:t> </a:t>
            </a:r>
            <a:r>
              <a:rPr b="1" lang="en-IN" sz="1300">
                <a:solidFill>
                  <a:srgbClr val="1A2333"/>
                </a:solidFill>
              </a:rPr>
              <a:t>Still a proposed task </a:t>
            </a:r>
            <a:r>
              <a:rPr b="1" lang="en-IN" sz="1300">
                <a:solidFill>
                  <a:srgbClr val="1A2333"/>
                </a:solidFill>
              </a:rPr>
              <a:t>gathering</a:t>
            </a:r>
            <a:r>
              <a:rPr b="1" lang="en-IN" sz="1300">
                <a:solidFill>
                  <a:srgbClr val="1A2333"/>
                </a:solidFill>
              </a:rPr>
              <a:t> papers to be presented in September at Interspeech 2026. </a:t>
            </a:r>
            <a:endParaRPr b="0" i="0" sz="1300" u="none" cap="none" strike="noStrike">
              <a:solidFill>
                <a:schemeClr val="dk1"/>
              </a:solidFill>
              <a:latin typeface="Calibri"/>
              <a:ea typeface="Calibri"/>
              <a:cs typeface="Calibri"/>
              <a:sym typeface="Calibri"/>
            </a:endParaRPr>
          </a:p>
        </p:txBody>
      </p:sp>
      <p:sp>
        <p:nvSpPr>
          <p:cNvPr id="533" name="Google Shape;533;g3f4a47ca9f1_1_538"/>
          <p:cNvSpPr/>
          <p:nvPr/>
        </p:nvSpPr>
        <p:spPr>
          <a:xfrm>
            <a:off x="670560" y="551688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11"/>
              </a:rPr>
              <a:t>https://www.cs.utep.edu/topi/</a:t>
            </a:r>
            <a:endParaRPr b="0" i="0" sz="1100" u="none" cap="none" strike="noStrike">
              <a:solidFill>
                <a:schemeClr val="dk1"/>
              </a:solidFill>
              <a:latin typeface="Calibri"/>
              <a:ea typeface="Calibri"/>
              <a:cs typeface="Calibri"/>
              <a:sym typeface="Calibri"/>
            </a:endParaRPr>
          </a:p>
        </p:txBody>
      </p:sp>
      <p:sp>
        <p:nvSpPr>
          <p:cNvPr id="534" name="Google Shape;534;g3f4a47ca9f1_1_538"/>
          <p:cNvSpPr/>
          <p:nvPr/>
        </p:nvSpPr>
        <p:spPr>
          <a:xfrm>
            <a:off x="670560" y="5754624"/>
            <a:ext cx="10850700" cy="29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3"/>
              </a:buClr>
              <a:buSzPts val="1300"/>
              <a:buFont typeface="Arial"/>
              <a:buNone/>
            </a:pPr>
            <a:r>
              <a:rPr b="1" lang="en-IN" sz="1300">
                <a:solidFill>
                  <a:srgbClr val="1A2333"/>
                </a:solidFill>
              </a:rPr>
              <a:t>E</a:t>
            </a:r>
            <a:r>
              <a:rPr b="1" i="0" lang="en-IN" sz="1300" u="none" cap="none" strike="noStrike">
                <a:solidFill>
                  <a:srgbClr val="1A2333"/>
                </a:solidFill>
                <a:latin typeface="Arial"/>
                <a:ea typeface="Arial"/>
                <a:cs typeface="Arial"/>
                <a:sym typeface="Arial"/>
              </a:rPr>
              <a:t>xploration of </a:t>
            </a:r>
            <a:r>
              <a:rPr b="1" lang="en-IN" sz="1300">
                <a:solidFill>
                  <a:srgbClr val="1A2333"/>
                </a:solidFill>
              </a:rPr>
              <a:t>lexical</a:t>
            </a:r>
            <a:r>
              <a:rPr b="1" i="0" lang="en-IN" sz="1300" u="none" cap="none" strike="noStrike">
                <a:solidFill>
                  <a:srgbClr val="1A2333"/>
                </a:solidFill>
                <a:latin typeface="Arial"/>
                <a:ea typeface="Arial"/>
                <a:cs typeface="Arial"/>
                <a:sym typeface="Arial"/>
              </a:rPr>
              <a:t> stress in translation specifically </a:t>
            </a:r>
            <a:r>
              <a:rPr b="1" lang="en-IN" sz="1300">
                <a:solidFill>
                  <a:srgbClr val="1A2333"/>
                </a:solidFill>
              </a:rPr>
              <a:t>for</a:t>
            </a:r>
            <a:r>
              <a:rPr b="1" i="0" lang="en-IN" sz="1300" u="none" cap="none" strike="noStrike">
                <a:solidFill>
                  <a:srgbClr val="1A2333"/>
                </a:solidFill>
                <a:latin typeface="Arial"/>
                <a:ea typeface="Arial"/>
                <a:cs typeface="Arial"/>
                <a:sym typeface="Arial"/>
              </a:rPr>
              <a:t> English</a:t>
            </a:r>
            <a:r>
              <a:rPr b="1" lang="en-IN" sz="1300">
                <a:solidFill>
                  <a:srgbClr val="1A2333"/>
                </a:solidFill>
              </a:rPr>
              <a:t>-Mandarin.</a:t>
            </a:r>
            <a:r>
              <a:rPr b="1" i="0" lang="en-IN" sz="1300" u="none" cap="none" strike="noStrike">
                <a:solidFill>
                  <a:srgbClr val="1A2333"/>
                </a:solidFill>
                <a:latin typeface="Arial"/>
                <a:ea typeface="Arial"/>
                <a:cs typeface="Arial"/>
                <a:sym typeface="Arial"/>
              </a:rPr>
              <a:t> </a:t>
            </a:r>
            <a:r>
              <a:rPr b="1" lang="en-IN" sz="1300">
                <a:solidFill>
                  <a:srgbClr val="1A2333"/>
                </a:solidFill>
              </a:rPr>
              <a:t>P</a:t>
            </a:r>
            <a:r>
              <a:rPr b="1" i="0" lang="en-IN" sz="1300" u="none" cap="none" strike="noStrike">
                <a:solidFill>
                  <a:srgbClr val="1A2333"/>
                </a:solidFill>
                <a:latin typeface="Arial"/>
                <a:ea typeface="Arial"/>
                <a:cs typeface="Arial"/>
                <a:sym typeface="Arial"/>
              </a:rPr>
              <a:t>rosody is still not adequately leveraged in S2S systems</a:t>
            </a:r>
            <a:endParaRPr b="0" i="0" sz="1300" u="none" cap="none" strike="noStrike">
              <a:solidFill>
                <a:schemeClr val="dk1"/>
              </a:solidFill>
              <a:latin typeface="Calibri"/>
              <a:ea typeface="Calibri"/>
              <a:cs typeface="Calibri"/>
              <a:sym typeface="Calibri"/>
            </a:endParaRPr>
          </a:p>
        </p:txBody>
      </p:sp>
      <p:sp>
        <p:nvSpPr>
          <p:cNvPr id="535" name="Google Shape;535;g3f4a47ca9f1_1_538"/>
          <p:cNvSpPr/>
          <p:nvPr/>
        </p:nvSpPr>
        <p:spPr>
          <a:xfrm>
            <a:off x="670560" y="6035040"/>
            <a:ext cx="10850700" cy="23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816F"/>
              </a:buClr>
              <a:buSzPts val="1100"/>
              <a:buFont typeface="Courier New"/>
              <a:buNone/>
            </a:pPr>
            <a:r>
              <a:rPr b="0" i="0" lang="en-IN" sz="1100" u="sng" cap="none" strike="noStrike">
                <a:solidFill>
                  <a:schemeClr val="hlink"/>
                </a:solidFill>
                <a:latin typeface="Courier New"/>
                <a:ea typeface="Courier New"/>
                <a:cs typeface="Courier New"/>
                <a:sym typeface="Courier New"/>
                <a:hlinkClick r:id="rId12"/>
              </a:rPr>
              <a:t>https://arxiv.org/html/2606.15266v1</a:t>
            </a:r>
            <a:endParaRPr b="0" i="0" sz="1100" u="none" cap="none" strike="noStrike">
              <a:solidFill>
                <a:schemeClr val="dk1"/>
              </a:solidFill>
              <a:latin typeface="Calibri"/>
              <a:ea typeface="Calibri"/>
              <a:cs typeface="Calibri"/>
              <a:sym typeface="Calibri"/>
            </a:endParaRPr>
          </a:p>
        </p:txBody>
      </p:sp>
      <p:sp>
        <p:nvSpPr>
          <p:cNvPr id="536" name="Google Shape;536;g3f4a47ca9f1_1_538"/>
          <p:cNvSpPr/>
          <p:nvPr/>
        </p:nvSpPr>
        <p:spPr>
          <a:xfrm>
            <a:off x="3901440" y="6498336"/>
            <a:ext cx="4389300" cy="24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B1"/>
              </a:buClr>
              <a:buSzPts val="1100"/>
              <a:buFont typeface="Arial"/>
              <a:buNone/>
            </a:pPr>
            <a:r>
              <a:rPr b="0" i="0" lang="en-IN" sz="1100" u="none" cap="none" strike="noStrike">
                <a:solidFill>
                  <a:srgbClr val="9AA5B1"/>
                </a:solidFill>
                <a:latin typeface="Arial"/>
                <a:ea typeface="Arial"/>
                <a:cs typeface="Arial"/>
                <a:sym typeface="Arial"/>
              </a:rPr>
              <a:t>Confidential 2026  •  Prepared for T-Mobile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1" name="Shape 541"/>
        <p:cNvGrpSpPr/>
        <p:nvPr/>
      </p:nvGrpSpPr>
      <p:grpSpPr>
        <a:xfrm>
          <a:off x="0" y="0"/>
          <a:ext cx="0" cy="0"/>
          <a:chOff x="0" y="0"/>
          <a:chExt cx="0" cy="0"/>
        </a:xfrm>
      </p:grpSpPr>
      <p:sp>
        <p:nvSpPr>
          <p:cNvPr id="542" name="Google Shape;542;g3fab3e3dc87_0_0"/>
          <p:cNvSpPr txBox="1"/>
          <p:nvPr/>
        </p:nvSpPr>
        <p:spPr>
          <a:xfrm>
            <a:off x="716625" y="409850"/>
            <a:ext cx="10094700" cy="58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a:t>This is still far from an actual finished product, most of it is still just a proof of concept.</a:t>
            </a:r>
            <a:endParaRPr/>
          </a:p>
          <a:p>
            <a:pPr indent="0" lvl="0" marL="0" rtl="0" algn="l">
              <a:spcBef>
                <a:spcPts val="0"/>
              </a:spcBef>
              <a:spcAft>
                <a:spcPts val="0"/>
              </a:spcAft>
              <a:buNone/>
            </a:pPr>
            <a:r>
              <a:rPr lang="en-IN"/>
              <a:t>When actually implementing there is probably a lot more that needs to done to the audio to process, like segmenting it based on speaker turns. I don’t think it will be as simple as just getting recording the audio for the entire call and then putting it through the processing pipeline. </a:t>
            </a:r>
            <a:endParaRPr/>
          </a:p>
          <a:p>
            <a:pPr indent="0" lvl="0" marL="0" rtl="0" algn="l">
              <a:spcBef>
                <a:spcPts val="0"/>
              </a:spcBef>
              <a:spcAft>
                <a:spcPts val="0"/>
              </a:spcAft>
              <a:buNone/>
            </a:pPr>
            <a:r>
              <a:rPr lang="en-IN"/>
              <a:t>There is also gonna be a need to change how eval is being done, right now </a:t>
            </a:r>
            <a:r>
              <a:rPr lang="en-IN"/>
              <a:t>it's</a:t>
            </a:r>
            <a:r>
              <a:rPr lang="en-IN"/>
              <a:t> just me running some code on my laptop. For </a:t>
            </a:r>
            <a:r>
              <a:rPr lang="en-IN"/>
              <a:t>commercially</a:t>
            </a:r>
            <a:r>
              <a:rPr lang="en-IN"/>
              <a:t> scaled service its gonna need API for each eval model and hardware to run the code on(google colab cloud TPU?). </a:t>
            </a:r>
            <a:endParaRPr/>
          </a:p>
          <a:p>
            <a:pPr indent="0" lvl="0" marL="0" rtl="0" algn="l">
              <a:spcBef>
                <a:spcPts val="0"/>
              </a:spcBef>
              <a:spcAft>
                <a:spcPts val="0"/>
              </a:spcAft>
              <a:buNone/>
            </a:pPr>
            <a:r>
              <a:rPr lang="en-IN"/>
              <a:t> </a:t>
            </a:r>
            <a:endParaRPr/>
          </a:p>
          <a:p>
            <a:pPr indent="0" lvl="0" marL="0" rtl="0" algn="l">
              <a:spcBef>
                <a:spcPts val="0"/>
              </a:spcBef>
              <a:spcAft>
                <a:spcPts val="0"/>
              </a:spcAft>
              <a:buNone/>
            </a:pPr>
            <a:r>
              <a:rPr lang="en-IN"/>
              <a:t>There doesn’t seem to be anything special that really differentiates it. I don’t see anything preventing anyone else using these same metrics and doing </a:t>
            </a:r>
            <a:r>
              <a:rPr lang="en-IN"/>
              <a:t>something</a:t>
            </a:r>
            <a:r>
              <a:rPr lang="en-IN"/>
              <a:t> similar. </a:t>
            </a:r>
            <a:endParaRPr/>
          </a:p>
          <a:p>
            <a:pPr indent="0" lvl="0" marL="0" rtl="0" algn="l">
              <a:spcBef>
                <a:spcPts val="0"/>
              </a:spcBef>
              <a:spcAft>
                <a:spcPts val="0"/>
              </a:spcAft>
              <a:buNone/>
            </a:pPr>
            <a:r>
              <a:rPr lang="en-IN"/>
              <a:t>The one thing I can think of is the specific network aspect, to assess how the network is handling the data, if the delays are partly caused by the network sending information slow or just the translation process taking time. Maybe also some way to measure the voice quality that is actually reaching the translation model, to see if the audio input to the translation model is bad so we shouldn’t expect a good translation.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Another thing is for the sentiment and emotion analysis, the models I’m using don’t appear to </a:t>
            </a:r>
            <a:r>
              <a:rPr lang="en-IN"/>
              <a:t>be that good. I’m looking at other ways to measure other translation aspects but it’s all pretty new and most of things aren’t actually proven. For example a paper from 2026 proposing STEB: A Speech-to-Speech Translation Expressiveness Benchmark for Evaluating Beyond Translation Fidelity. But I think the performance will highly depend on the quality of the LLM annotations for emotion and style.</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For Tmo we probably want to specifically focus on the testing suite, but there is a question of whether the translation quality is actually needed, it still feels like that is more on the side of the translation developers, and tmobile can swap with any service so it's only really a question of choosing, and tmo might not feel a need for separate 3rd party accuracy testing. </a:t>
            </a:r>
            <a:endParaRPr/>
          </a:p>
          <a:p>
            <a:pPr indent="0" lvl="0" marL="0" rtl="0" algn="l">
              <a:spcBef>
                <a:spcPts val="0"/>
              </a:spcBef>
              <a:spcAft>
                <a:spcPts val="0"/>
              </a:spcAft>
              <a:buNone/>
            </a:pPr>
            <a:r>
              <a:rPr lang="en-IN"/>
              <a:t>It would ideally be to have a test for their translation service as a whole, so like how well does the product work in general, not just how good the translations are. Measure delay, any errors with getting the language pairs to work, etc. The problem is then how feasible this actually is. </a:t>
            </a:r>
            <a:endParaRPr/>
          </a:p>
          <a:p>
            <a:pPr indent="0" lvl="0" marL="0" rtl="0" algn="l">
              <a:spcBef>
                <a:spcPts val="0"/>
              </a:spcBef>
              <a:spcAft>
                <a:spcPts val="0"/>
              </a:spcAft>
              <a:buNone/>
            </a:pPr>
            <a:r>
              <a:rPr lang="en-IN"/>
              <a:t>There is also the question of why will tmobile not just hire their own team to do something similar or if they already have people doing something similar.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2026-05-27T04:10:02Z</dcterms:created>
  <dc:creator>Nitin Mohan</dc:creator>
</cp:coreProperties>
</file>